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A4A"/>
                </a:solidFill>
                <a:latin typeface="Arial"/>
              </a:defRPr>
            </a:pPr>
            <a:r>
              <a:rPr sz="1100" b="0" i="0" u="none" strike="noStrike">
                <a:solidFill>
                  <a:srgbClr val="1B2A4A"/>
                </a:solidFill>
                <a:latin typeface="Arial"/>
              </a:rPr>
              <a:t>Revenue (INR Crores)</a:t>
            </a:r>
          </a:p>
        </c:rich>
      </c:tx>
      <c:layout/>
      <c:overlay val="0"/>
    </c:title>
    <c:autoTitleDeleted val="0"/>
    <c:plotArea>
      <c:layout/>
      <c:barChart>
        <c:barDir val="col"/>
        <c:grouping val="clustered"/>
        <c:varyColors val="0"/>
        <c:ser>
          <c:idx val="0"/>
          <c:order val="0"/>
          <c:tx>
            <c:strRef>
              <c:f>Sheet1!$B$1</c:f>
              <c:strCache>
                <c:ptCount val="1"/>
                <c:pt idx="0">
                  <c:v>Revenue (INR Cr)</c:v>
                </c:pt>
              </c:strCache>
            </c:strRef>
          </c:tx>
          <c:spPr>
            <a:solidFill>
              <a:srgbClr val="1B2A4A"/>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B2A4A"/>
              </a:solidFill>
              <a:effectLst/>
            </c:spPr>
          </c:dPt>
          <c:dPt>
            <c:idx val="1"/>
            <c:invertIfNegative val="0"/>
            <c:bubble3D val="0"/>
            <c:spPr>
              <a:solidFill>
                <a:srgbClr val="64748B"/>
              </a:solidFill>
              <a:effectLst/>
            </c:spPr>
          </c:dPt>
          <c:dPt>
            <c:idx val="2"/>
            <c:invertIfNegative val="0"/>
            <c:bubble3D val="0"/>
            <c:spPr>
              <a:solidFill>
                <a:srgbClr val="1B2A4A"/>
              </a:solidFill>
              <a:effectLst/>
            </c:spPr>
          </c:dPt>
          <c:dPt>
            <c:idx val="3"/>
            <c:invertIfNegative val="0"/>
            <c:bubble3D val="0"/>
            <c:spPr>
              <a:solidFill>
                <a:srgbClr val="2C3E6B"/>
              </a:solidFill>
              <a:effectLst/>
            </c:spPr>
          </c:dPt>
          <c:dPt>
            <c:idx val="4"/>
            <c:invertIfNegative val="0"/>
            <c:bubble3D val="0"/>
            <c:spPr>
              <a:solidFill>
                <a:srgbClr val="C0392B"/>
              </a:solidFill>
              <a:effectLst/>
            </c:spPr>
          </c:dPt>
          <c:cat>
            <c:multiLvlStrRef>
              <c:f>Sheet1!$A$2:$A$6</c:f>
              <c:multiLvlStrCache>
                <c:ptCount val="5"/>
                <c:lvl>
                  <c:pt idx="0">
                    <c:v>FY2020</c:v>
                  </c:pt>
                  <c:pt idx="1">
                    <c:v>FY2021</c:v>
                  </c:pt>
                  <c:pt idx="2">
                    <c:v>FY2022</c:v>
                  </c:pt>
                  <c:pt idx="3">
                    <c:v>FY2023</c:v>
                  </c:pt>
                  <c:pt idx="4">
                    <c:v>FY2024</c:v>
                  </c:pt>
                </c:lvl>
              </c:multiLvlStrCache>
            </c:multiLvlStrRef>
          </c:cat>
          <c:val>
            <c:numRef>
              <c:f>Sheet1!$B$2:$B$6</c:f>
              <c:numCache>
                <c:formatCode>General</c:formatCode>
                <c:ptCount val="5"/>
                <c:pt idx="0">
                  <c:v>261068</c:v>
                </c:pt>
                <c:pt idx="1">
                  <c:v>249795</c:v>
                </c:pt>
                <c:pt idx="2">
                  <c:v>278454</c:v>
                </c:pt>
                <c:pt idx="3">
                  <c:v>345967</c:v>
                </c:pt>
                <c:pt idx="4">
                  <c:v>434016</c:v>
                </c:pt>
              </c:numCache>
            </c:numRef>
          </c:val>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A4A"/>
                </a:solidFill>
                <a:latin typeface="Arial"/>
              </a:defRPr>
            </a:pPr>
            <a:r>
              <a:rPr sz="1100" b="0" i="0" u="none" strike="noStrike">
                <a:solidFill>
                  <a:srgbClr val="1B2A4A"/>
                </a:solidFill>
                <a:latin typeface="Arial"/>
              </a:rPr>
              <a:t>Net Income (INR Crores)</a:t>
            </a:r>
          </a:p>
        </c:rich>
      </c:tx>
      <c:layout/>
      <c:overlay val="0"/>
    </c:title>
    <c:autoTitleDeleted val="0"/>
    <c:plotArea>
      <c:layout/>
      <c:barChart>
        <c:barDir val="col"/>
        <c:grouping val="clustered"/>
        <c:varyColors val="0"/>
        <c:ser>
          <c:idx val="0"/>
          <c:order val="0"/>
          <c:tx>
            <c:strRef>
              <c:f>Sheet1!$B$1</c:f>
              <c:strCache>
                <c:ptCount val="1"/>
                <c:pt idx="0">
                  <c:v>Net Income (INR Cr)</c:v>
                </c:pt>
              </c:strCache>
            </c:strRef>
          </c:tx>
          <c:spPr>
            <a:solidFill>
              <a:srgbClr val="C0392B"/>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C0392B"/>
              </a:solidFill>
              <a:effectLst/>
            </c:spPr>
          </c:dPt>
          <c:dPt>
            <c:idx val="1"/>
            <c:invertIfNegative val="0"/>
            <c:bubble3D val="0"/>
            <c:spPr>
              <a:solidFill>
                <a:srgbClr val="C0392B"/>
              </a:solidFill>
              <a:effectLst/>
            </c:spPr>
          </c:dPt>
          <c:dPt>
            <c:idx val="2"/>
            <c:invertIfNegative val="0"/>
            <c:bubble3D val="0"/>
            <c:spPr>
              <a:solidFill>
                <a:srgbClr val="D97706"/>
              </a:solidFill>
              <a:effectLst/>
            </c:spPr>
          </c:dPt>
          <c:dPt>
            <c:idx val="3"/>
            <c:invertIfNegative val="0"/>
            <c:bubble3D val="0"/>
            <c:spPr>
              <a:solidFill>
                <a:srgbClr val="16A34A"/>
              </a:solidFill>
              <a:effectLst/>
            </c:spPr>
          </c:dPt>
          <c:dPt>
            <c:idx val="4"/>
            <c:invertIfNegative val="0"/>
            <c:bubble3D val="0"/>
            <c:spPr>
              <a:solidFill>
                <a:srgbClr val="16A34A"/>
              </a:solidFill>
              <a:effectLst/>
            </c:spPr>
          </c:dPt>
          <c:cat>
            <c:multiLvlStrRef>
              <c:f>Sheet1!$A$2:$A$6</c:f>
              <c:multiLvlStrCache>
                <c:ptCount val="5"/>
                <c:lvl>
                  <c:pt idx="0">
                    <c:v>FY2020</c:v>
                  </c:pt>
                  <c:pt idx="1">
                    <c:v>FY2021</c:v>
                  </c:pt>
                  <c:pt idx="2">
                    <c:v>FY2022</c:v>
                  </c:pt>
                  <c:pt idx="3">
                    <c:v>FY2023</c:v>
                  </c:pt>
                  <c:pt idx="4">
                    <c:v>FY2024</c:v>
                  </c:pt>
                </c:lvl>
              </c:multiLvlStrCache>
            </c:multiLvlStrRef>
          </c:cat>
          <c:val>
            <c:numRef>
              <c:f>Sheet1!$B$2:$B$6</c:f>
              <c:numCache>
                <c:formatCode>General</c:formatCode>
                <c:ptCount val="5"/>
                <c:pt idx="0">
                  <c:v>-13395</c:v>
                </c:pt>
                <c:pt idx="1">
                  <c:v>-13448</c:v>
                </c:pt>
                <c:pt idx="2">
                  <c:v>-1108</c:v>
                </c:pt>
                <c:pt idx="3">
                  <c:v>31807</c:v>
                </c:pt>
                <c:pt idx="4">
                  <c:v>28149</c:v>
                </c:pt>
              </c:numCache>
            </c:numRef>
          </c:val>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C0392B"/>
          </a:solidFill>
          <a:ln w="12700">
            <a:solidFill>
              <a:srgbClr val="C0392B"/>
            </a:solidFill>
            <a:prstDash val="solid"/>
          </a:ln>
        </p:spPr>
      </p:sp>
      <p:sp>
        <p:nvSpPr>
          <p:cNvPr id="3" name="Shape 1"/>
          <p:cNvSpPr/>
          <p:nvPr/>
        </p:nvSpPr>
        <p:spPr>
          <a:xfrm>
            <a:off x="0" y="4389120"/>
            <a:ext cx="9144000" cy="754380"/>
          </a:xfrm>
          <a:prstGeom prst="rect">
            <a:avLst/>
          </a:prstGeom>
          <a:solidFill>
            <a:srgbClr val="13203A"/>
          </a:solidFill>
          <a:ln w="12700">
            <a:solidFill>
              <a:srgbClr val="13203A"/>
            </a:solidFill>
            <a:prstDash val="solid"/>
          </a:ln>
        </p:spPr>
      </p:sp>
      <p:sp>
        <p:nvSpPr>
          <p:cNvPr id="4" name="Text 2"/>
          <p:cNvSpPr/>
          <p:nvPr/>
        </p:nvSpPr>
        <p:spPr>
          <a:xfrm>
            <a:off x="365760" y="685800"/>
            <a:ext cx="8412480" cy="640080"/>
          </a:xfrm>
          <a:prstGeom prst="rect">
            <a:avLst/>
          </a:prstGeom>
          <a:noFill/>
          <a:ln/>
        </p:spPr>
        <p:txBody>
          <a:bodyPr wrap="square" rtlCol="0" anchor="ctr"/>
          <a:lstStyle/>
          <a:p>
            <a:pPr indent="0" marL="0">
              <a:buNone/>
            </a:pPr>
            <a:r>
              <a:rPr lang="en-US" sz="3600" b="1" spc="300" kern="0" dirty="0">
                <a:solidFill>
                  <a:srgbClr val="FFFFFF"/>
                </a:solidFill>
                <a:latin typeface="Calibri" pitchFamily="34" charset="0"/>
                <a:ea typeface="Calibri" pitchFamily="34" charset="-122"/>
                <a:cs typeface="Calibri" pitchFamily="34" charset="-120"/>
              </a:rPr>
              <a:t>TATA MOTORS LIMITED</a:t>
            </a:r>
            <a:endParaRPr lang="en-US" sz="3600" dirty="0"/>
          </a:p>
        </p:txBody>
      </p:sp>
      <p:sp>
        <p:nvSpPr>
          <p:cNvPr id="5" name="Text 3"/>
          <p:cNvSpPr/>
          <p:nvPr/>
        </p:nvSpPr>
        <p:spPr>
          <a:xfrm>
            <a:off x="365760" y="1417320"/>
            <a:ext cx="8412480" cy="347472"/>
          </a:xfrm>
          <a:prstGeom prst="rect">
            <a:avLst/>
          </a:prstGeom>
          <a:noFill/>
          <a:ln/>
        </p:spPr>
        <p:txBody>
          <a:bodyPr wrap="square" rtlCol="0" anchor="ctr"/>
          <a:lstStyle/>
          <a:p>
            <a:pPr indent="0" marL="0">
              <a:buNone/>
            </a:pPr>
            <a:r>
              <a:rPr lang="en-US" sz="1400" i="1" dirty="0">
                <a:solidFill>
                  <a:srgbClr val="AEC6E8"/>
                </a:solidFill>
                <a:latin typeface="Calibri" pitchFamily="34" charset="0"/>
                <a:ea typeface="Calibri" pitchFamily="34" charset="-122"/>
                <a:cs typeface="Calibri" pitchFamily="34" charset="-120"/>
              </a:rPr>
              <a:t>Two-Method Equity Valuation: DCF + Comparable Company Analysis</a:t>
            </a:r>
            <a:endParaRPr lang="en-US" sz="1400" dirty="0"/>
          </a:p>
        </p:txBody>
      </p:sp>
      <p:sp>
        <p:nvSpPr>
          <p:cNvPr id="6" name="Shape 4"/>
          <p:cNvSpPr/>
          <p:nvPr/>
        </p:nvSpPr>
        <p:spPr>
          <a:xfrm>
            <a:off x="365760" y="1874520"/>
            <a:ext cx="5486400" cy="36576"/>
          </a:xfrm>
          <a:prstGeom prst="rect">
            <a:avLst/>
          </a:prstGeom>
          <a:solidFill>
            <a:srgbClr val="C0392B"/>
          </a:solidFill>
          <a:ln w="12700">
            <a:solidFill>
              <a:srgbClr val="C0392B"/>
            </a:solidFill>
            <a:prstDash val="solid"/>
          </a:ln>
        </p:spPr>
      </p:sp>
      <p:sp>
        <p:nvSpPr>
          <p:cNvPr id="7" name="Shape 5"/>
          <p:cNvSpPr/>
          <p:nvPr/>
        </p:nvSpPr>
        <p:spPr>
          <a:xfrm>
            <a:off x="365760" y="2011680"/>
            <a:ext cx="2651760" cy="1920240"/>
          </a:xfrm>
          <a:prstGeom prst="rect">
            <a:avLst/>
          </a:prstGeom>
          <a:solidFill>
            <a:srgbClr val="2C3E6B"/>
          </a:solidFill>
          <a:ln w="12700">
            <a:solidFill>
              <a:srgbClr val="3D5A8A"/>
            </a:solidFill>
            <a:prstDash val="solid"/>
          </a:ln>
          <a:effectLst>
            <a:outerShdw sx="100000" sy="100000" kx="0" ky="0" algn="bl" rotWithShape="0" blurRad="50800" dist="25400" dir="8100000">
              <a:srgbClr val="000000">
                <a:alpha val="10000"/>
              </a:srgbClr>
            </a:outerShdw>
          </a:effectLst>
        </p:spPr>
      </p:sp>
      <p:sp>
        <p:nvSpPr>
          <p:cNvPr id="8" name="Text 6"/>
          <p:cNvSpPr/>
          <p:nvPr/>
        </p:nvSpPr>
        <p:spPr>
          <a:xfrm>
            <a:off x="365760" y="2066544"/>
            <a:ext cx="2651760" cy="256032"/>
          </a:xfrm>
          <a:prstGeom prst="rect">
            <a:avLst/>
          </a:prstGeom>
          <a:noFill/>
          <a:ln/>
        </p:spPr>
        <p:txBody>
          <a:bodyPr wrap="square" rtlCol="0" anchor="ctr"/>
          <a:lstStyle/>
          <a:p>
            <a:pPr algn="ctr" indent="0" marL="0">
              <a:buNone/>
            </a:pPr>
            <a:r>
              <a:rPr lang="en-US" sz="900" dirty="0">
                <a:solidFill>
                  <a:srgbClr val="AEC6E8"/>
                </a:solidFill>
                <a:latin typeface="Calibri" pitchFamily="34" charset="0"/>
                <a:ea typeface="Calibri" pitchFamily="34" charset="-122"/>
                <a:cs typeface="Calibri" pitchFamily="34" charset="-120"/>
              </a:rPr>
              <a:t>Method 1</a:t>
            </a:r>
            <a:endParaRPr lang="en-US" sz="900" dirty="0"/>
          </a:p>
        </p:txBody>
      </p:sp>
      <p:sp>
        <p:nvSpPr>
          <p:cNvPr id="9" name="Text 7"/>
          <p:cNvSpPr/>
          <p:nvPr/>
        </p:nvSpPr>
        <p:spPr>
          <a:xfrm>
            <a:off x="365760" y="2304288"/>
            <a:ext cx="265176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DCF Valuation</a:t>
            </a:r>
            <a:endParaRPr lang="en-US" sz="1200" dirty="0"/>
          </a:p>
        </p:txBody>
      </p:sp>
      <p:sp>
        <p:nvSpPr>
          <p:cNvPr id="10" name="Text 8"/>
          <p:cNvSpPr/>
          <p:nvPr/>
        </p:nvSpPr>
        <p:spPr>
          <a:xfrm>
            <a:off x="365760" y="2651760"/>
            <a:ext cx="2651760" cy="384048"/>
          </a:xfrm>
          <a:prstGeom prst="rect">
            <a:avLst/>
          </a:prstGeom>
          <a:noFill/>
          <a:ln/>
        </p:spPr>
        <p:txBody>
          <a:bodyPr wrap="square" rtlCol="0" anchor="ctr"/>
          <a:lstStyle/>
          <a:p>
            <a:pPr algn="ctr" indent="0" marL="0">
              <a:buNone/>
            </a:pPr>
            <a:r>
              <a:rPr lang="en-US" sz="1300" b="1" dirty="0">
                <a:solidFill>
                  <a:srgbClr val="FFDD00"/>
                </a:solidFill>
                <a:latin typeface="Calibri" pitchFamily="34" charset="0"/>
                <a:ea typeface="Calibri" pitchFamily="34" charset="-122"/>
                <a:cs typeface="Calibri" pitchFamily="34" charset="-120"/>
              </a:rPr>
              <a:t>INR 330 / share</a:t>
            </a:r>
            <a:endParaRPr lang="en-US" sz="1300" dirty="0"/>
          </a:p>
        </p:txBody>
      </p:sp>
      <p:sp>
        <p:nvSpPr>
          <p:cNvPr id="11" name="Text 9"/>
          <p:cNvSpPr/>
          <p:nvPr/>
        </p:nvSpPr>
        <p:spPr>
          <a:xfrm>
            <a:off x="365760" y="3072384"/>
            <a:ext cx="2651760" cy="640080"/>
          </a:xfrm>
          <a:prstGeom prst="rect">
            <a:avLst/>
          </a:prstGeom>
          <a:noFill/>
          <a:ln/>
        </p:spPr>
        <p:txBody>
          <a:bodyPr wrap="square" rtlCol="0" anchor="ctr"/>
          <a:lstStyle/>
          <a:p>
            <a:pPr algn="ctr" indent="0" marL="0">
              <a:buNone/>
            </a:pPr>
            <a:r>
              <a:rPr lang="en-US" sz="1100" dirty="0">
                <a:solidFill>
                  <a:srgbClr val="AEC6E8"/>
                </a:solidFill>
                <a:latin typeface="Calibri" pitchFamily="34" charset="0"/>
                <a:ea typeface="Calibri" pitchFamily="34" charset="-122"/>
                <a:cs typeface="Calibri" pitchFamily="34" charset="-120"/>
              </a:rPr>
              <a:t>SELL</a:t>
            </a:r>
            <a:endParaRPr lang="en-US" sz="1100" dirty="0"/>
          </a:p>
        </p:txBody>
      </p:sp>
      <p:sp>
        <p:nvSpPr>
          <p:cNvPr id="12" name="Shape 10"/>
          <p:cNvSpPr/>
          <p:nvPr/>
        </p:nvSpPr>
        <p:spPr>
          <a:xfrm>
            <a:off x="3200400" y="2011680"/>
            <a:ext cx="2651760" cy="1920240"/>
          </a:xfrm>
          <a:prstGeom prst="rect">
            <a:avLst/>
          </a:prstGeom>
          <a:solidFill>
            <a:srgbClr val="2C3E6B"/>
          </a:solidFill>
          <a:ln w="12700">
            <a:solidFill>
              <a:srgbClr val="3D5A8A"/>
            </a:solidFill>
            <a:prstDash val="solid"/>
          </a:ln>
          <a:effectLst>
            <a:outerShdw sx="100000" sy="100000" kx="0" ky="0" algn="bl" rotWithShape="0" blurRad="50800" dist="25400" dir="8100000">
              <a:srgbClr val="000000">
                <a:alpha val="10000"/>
              </a:srgbClr>
            </a:outerShdw>
          </a:effectLst>
        </p:spPr>
      </p:sp>
      <p:sp>
        <p:nvSpPr>
          <p:cNvPr id="13" name="Text 11"/>
          <p:cNvSpPr/>
          <p:nvPr/>
        </p:nvSpPr>
        <p:spPr>
          <a:xfrm>
            <a:off x="3200400" y="2066544"/>
            <a:ext cx="2651760" cy="256032"/>
          </a:xfrm>
          <a:prstGeom prst="rect">
            <a:avLst/>
          </a:prstGeom>
          <a:noFill/>
          <a:ln/>
        </p:spPr>
        <p:txBody>
          <a:bodyPr wrap="square" rtlCol="0" anchor="ctr"/>
          <a:lstStyle/>
          <a:p>
            <a:pPr algn="ctr" indent="0" marL="0">
              <a:buNone/>
            </a:pPr>
            <a:r>
              <a:rPr lang="en-US" sz="900" dirty="0">
                <a:solidFill>
                  <a:srgbClr val="AEC6E8"/>
                </a:solidFill>
                <a:latin typeface="Calibri" pitchFamily="34" charset="0"/>
                <a:ea typeface="Calibri" pitchFamily="34" charset="-122"/>
                <a:cs typeface="Calibri" pitchFamily="34" charset="-120"/>
              </a:rPr>
              <a:t>Method 2</a:t>
            </a:r>
            <a:endParaRPr lang="en-US" sz="900" dirty="0"/>
          </a:p>
        </p:txBody>
      </p:sp>
      <p:sp>
        <p:nvSpPr>
          <p:cNvPr id="14" name="Text 12"/>
          <p:cNvSpPr/>
          <p:nvPr/>
        </p:nvSpPr>
        <p:spPr>
          <a:xfrm>
            <a:off x="3200400" y="2304288"/>
            <a:ext cx="265176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Comparable (P/E)</a:t>
            </a:r>
            <a:endParaRPr lang="en-US" sz="1200" dirty="0"/>
          </a:p>
        </p:txBody>
      </p:sp>
      <p:sp>
        <p:nvSpPr>
          <p:cNvPr id="15" name="Text 13"/>
          <p:cNvSpPr/>
          <p:nvPr/>
        </p:nvSpPr>
        <p:spPr>
          <a:xfrm>
            <a:off x="3200400" y="2651760"/>
            <a:ext cx="2651760" cy="384048"/>
          </a:xfrm>
          <a:prstGeom prst="rect">
            <a:avLst/>
          </a:prstGeom>
          <a:noFill/>
          <a:ln/>
        </p:spPr>
        <p:txBody>
          <a:bodyPr wrap="square" rtlCol="0" anchor="ctr"/>
          <a:lstStyle/>
          <a:p>
            <a:pPr algn="ctr" indent="0" marL="0">
              <a:buNone/>
            </a:pPr>
            <a:r>
              <a:rPr lang="en-US" sz="1300" b="1" dirty="0">
                <a:solidFill>
                  <a:srgbClr val="FFDD00"/>
                </a:solidFill>
                <a:latin typeface="Calibri" pitchFamily="34" charset="0"/>
                <a:ea typeface="Calibri" pitchFamily="34" charset="-122"/>
                <a:cs typeface="Calibri" pitchFamily="34" charset="-120"/>
              </a:rPr>
              <a:t>INR 46.49 / share</a:t>
            </a:r>
            <a:endParaRPr lang="en-US" sz="1300" dirty="0"/>
          </a:p>
        </p:txBody>
      </p:sp>
      <p:sp>
        <p:nvSpPr>
          <p:cNvPr id="16" name="Text 14"/>
          <p:cNvSpPr/>
          <p:nvPr/>
        </p:nvSpPr>
        <p:spPr>
          <a:xfrm>
            <a:off x="3200400" y="3072384"/>
            <a:ext cx="2651760" cy="640080"/>
          </a:xfrm>
          <a:prstGeom prst="rect">
            <a:avLst/>
          </a:prstGeom>
          <a:noFill/>
          <a:ln/>
        </p:spPr>
        <p:txBody>
          <a:bodyPr wrap="square" rtlCol="0" anchor="ctr"/>
          <a:lstStyle/>
          <a:p>
            <a:pPr algn="ctr" indent="0" marL="0">
              <a:buNone/>
            </a:pPr>
            <a:r>
              <a:rPr lang="en-US" sz="1100" dirty="0">
                <a:solidFill>
                  <a:srgbClr val="AEC6E8"/>
                </a:solidFill>
                <a:latin typeface="Calibri" pitchFamily="34" charset="0"/>
                <a:ea typeface="Calibri" pitchFamily="34" charset="-122"/>
                <a:cs typeface="Calibri" pitchFamily="34" charset="-120"/>
              </a:rPr>
              <a:t>OVERVALUED</a:t>
            </a:r>
            <a:endParaRPr lang="en-US" sz="1100" dirty="0"/>
          </a:p>
        </p:txBody>
      </p:sp>
      <p:sp>
        <p:nvSpPr>
          <p:cNvPr id="17" name="Shape 15"/>
          <p:cNvSpPr/>
          <p:nvPr/>
        </p:nvSpPr>
        <p:spPr>
          <a:xfrm>
            <a:off x="6035040" y="2011680"/>
            <a:ext cx="2651760" cy="1920240"/>
          </a:xfrm>
          <a:prstGeom prst="rect">
            <a:avLst/>
          </a:prstGeom>
          <a:solidFill>
            <a:srgbClr val="C0392B"/>
          </a:solidFill>
          <a:ln w="12700">
            <a:solidFill>
              <a:srgbClr val="3D5A8A"/>
            </a:solidFill>
            <a:prstDash val="solid"/>
          </a:ln>
          <a:effectLst>
            <a:outerShdw sx="100000" sy="100000" kx="0" ky="0" algn="bl" rotWithShape="0" blurRad="50800" dist="25400" dir="8100000">
              <a:srgbClr val="000000">
                <a:alpha val="10000"/>
              </a:srgbClr>
            </a:outerShdw>
          </a:effectLst>
        </p:spPr>
      </p:sp>
      <p:sp>
        <p:nvSpPr>
          <p:cNvPr id="18" name="Text 16"/>
          <p:cNvSpPr/>
          <p:nvPr/>
        </p:nvSpPr>
        <p:spPr>
          <a:xfrm>
            <a:off x="6035040" y="2066544"/>
            <a:ext cx="2651760" cy="256032"/>
          </a:xfrm>
          <a:prstGeom prst="rect">
            <a:avLst/>
          </a:prstGeom>
          <a:noFill/>
          <a:ln/>
        </p:spPr>
        <p:txBody>
          <a:bodyPr wrap="square" rtlCol="0" anchor="ctr"/>
          <a:lstStyle/>
          <a:p>
            <a:pPr algn="ctr" indent="0" marL="0">
              <a:buNone/>
            </a:pPr>
            <a:r>
              <a:rPr lang="en-US" sz="900" dirty="0">
                <a:solidFill>
                  <a:srgbClr val="AEC6E8"/>
                </a:solidFill>
                <a:latin typeface="Calibri" pitchFamily="34" charset="0"/>
                <a:ea typeface="Calibri" pitchFamily="34" charset="-122"/>
                <a:cs typeface="Calibri" pitchFamily="34" charset="-120"/>
              </a:rPr>
              <a:t>Market Price</a:t>
            </a:r>
            <a:endParaRPr lang="en-US" sz="900" dirty="0"/>
          </a:p>
        </p:txBody>
      </p:sp>
      <p:sp>
        <p:nvSpPr>
          <p:cNvPr id="19" name="Text 17"/>
          <p:cNvSpPr/>
          <p:nvPr/>
        </p:nvSpPr>
        <p:spPr>
          <a:xfrm>
            <a:off x="6035040" y="2304288"/>
            <a:ext cx="265176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Time of Analysis</a:t>
            </a:r>
            <a:endParaRPr lang="en-US" sz="1200" dirty="0"/>
          </a:p>
        </p:txBody>
      </p:sp>
      <p:sp>
        <p:nvSpPr>
          <p:cNvPr id="20" name="Text 18"/>
          <p:cNvSpPr/>
          <p:nvPr/>
        </p:nvSpPr>
        <p:spPr>
          <a:xfrm>
            <a:off x="6035040" y="2651760"/>
            <a:ext cx="2651760" cy="384048"/>
          </a:xfrm>
          <a:prstGeom prst="rect">
            <a:avLst/>
          </a:prstGeom>
          <a:noFill/>
          <a:ln/>
        </p:spPr>
        <p:txBody>
          <a:bodyPr wrap="square" rtlCol="0" anchor="ctr"/>
          <a:lstStyle/>
          <a:p>
            <a:pPr algn="ctr" indent="0" marL="0">
              <a:buNone/>
            </a:pPr>
            <a:r>
              <a:rPr lang="en-US" sz="1300" b="1" dirty="0">
                <a:solidFill>
                  <a:srgbClr val="FFDD00"/>
                </a:solidFill>
                <a:latin typeface="Calibri" pitchFamily="34" charset="0"/>
                <a:ea typeface="Calibri" pitchFamily="34" charset="-122"/>
                <a:cs typeface="Calibri" pitchFamily="34" charset="-120"/>
              </a:rPr>
              <a:t>INR 382 – 490</a:t>
            </a:r>
            <a:endParaRPr lang="en-US" sz="1300" dirty="0"/>
          </a:p>
        </p:txBody>
      </p:sp>
      <p:sp>
        <p:nvSpPr>
          <p:cNvPr id="21" name="Text 19"/>
          <p:cNvSpPr/>
          <p:nvPr/>
        </p:nvSpPr>
        <p:spPr>
          <a:xfrm>
            <a:off x="6035040" y="3072384"/>
            <a:ext cx="2651760" cy="640080"/>
          </a:xfrm>
          <a:prstGeom prst="rect">
            <a:avLst/>
          </a:prstGeom>
          <a:noFill/>
          <a:ln/>
        </p:spPr>
        <p:txBody>
          <a:bodyPr wrap="square" rtlCol="0" anchor="ctr"/>
          <a:lstStyle/>
          <a:p>
            <a:pPr algn="ctr" indent="0" marL="0">
              <a:buNone/>
            </a:pPr>
            <a:r>
              <a:rPr lang="en-US" sz="1100" dirty="0">
                <a:solidFill>
                  <a:srgbClr val="AEC6E8"/>
                </a:solidFill>
                <a:latin typeface="Calibri" pitchFamily="34" charset="0"/>
                <a:ea typeface="Calibri" pitchFamily="34" charset="-122"/>
                <a:cs typeface="Calibri" pitchFamily="34" charset="-120"/>
              </a:rPr>
              <a:t>↓ Both methods agree</a:t>
            </a:r>
            <a:endParaRPr lang="en-US" sz="1100" dirty="0"/>
          </a:p>
        </p:txBody>
      </p:sp>
      <p:sp>
        <p:nvSpPr>
          <p:cNvPr id="22" name="Text 20"/>
          <p:cNvSpPr/>
          <p:nvPr/>
        </p:nvSpPr>
        <p:spPr>
          <a:xfrm>
            <a:off x="365760" y="4453128"/>
            <a:ext cx="8412480" cy="274320"/>
          </a:xfrm>
          <a:prstGeom prst="rect">
            <a:avLst/>
          </a:prstGeom>
          <a:noFill/>
          <a:ln/>
        </p:spPr>
        <p:txBody>
          <a:bodyPr wrap="square" rtlCol="0" anchor="ctr"/>
          <a:lstStyle/>
          <a:p>
            <a:pPr indent="0" marL="0">
              <a:buNone/>
            </a:pPr>
            <a:r>
              <a:rPr lang="en-US" sz="1000" dirty="0">
                <a:solidFill>
                  <a:srgbClr val="AEC6E8"/>
                </a:solidFill>
                <a:latin typeface="Calibri" pitchFamily="34" charset="0"/>
                <a:ea typeface="Calibri" pitchFamily="34" charset="-122"/>
                <a:cs typeface="Calibri" pitchFamily="34" charset="-120"/>
              </a:rPr>
              <a:t>Prepared by: </a:t>
            </a:r>
            <a:pPr indent="0" marL="0">
              <a:buNone/>
            </a:pPr>
            <a:r>
              <a:rPr lang="en-US" sz="1000" b="1" dirty="0">
                <a:solidFill>
                  <a:srgbClr val="FFFFFF"/>
                </a:solidFill>
                <a:latin typeface="Calibri" pitchFamily="34" charset="0"/>
                <a:ea typeface="Calibri" pitchFamily="34" charset="-122"/>
                <a:cs typeface="Calibri" pitchFamily="34" charset="-120"/>
              </a:rPr>
              <a:t>Yash Bagul</a:t>
            </a:r>
            <a:pPr indent="0" marL="0">
              <a:buNone/>
            </a:pPr>
            <a:r>
              <a:rPr lang="en-US" sz="1000" dirty="0">
                <a:solidFill>
                  <a:srgbClr val="AEC6E8"/>
                </a:solidFill>
                <a:latin typeface="Calibri" pitchFamily="34" charset="0"/>
                <a:ea typeface="Calibri" pitchFamily="34" charset="-122"/>
                <a:cs typeface="Calibri" pitchFamily="34" charset="-120"/>
              </a:rPr>
              <a:t>  |  MBA Finance (In Progress)  |  Self-Initiated Research Project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Text 1"/>
          <p:cNvSpPr/>
          <p:nvPr/>
        </p:nvSpPr>
        <p:spPr>
          <a:xfrm>
            <a:off x="320040" y="0"/>
            <a:ext cx="8046720" cy="6583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COMPANY OVERVIEW — TATA MOTORS LIMITED</a:t>
            </a:r>
            <a:endParaRPr lang="en-US" sz="1600" dirty="0"/>
          </a:p>
        </p:txBody>
      </p:sp>
      <p:sp>
        <p:nvSpPr>
          <p:cNvPr id="4" name="Text 2"/>
          <p:cNvSpPr/>
          <p:nvPr/>
        </p:nvSpPr>
        <p:spPr>
          <a:xfrm>
            <a:off x="8046720" y="0"/>
            <a:ext cx="914400" cy="658368"/>
          </a:xfrm>
          <a:prstGeom prst="rect">
            <a:avLst/>
          </a:prstGeom>
          <a:noFill/>
          <a:ln/>
        </p:spPr>
        <p:txBody>
          <a:bodyPr wrap="square" rtlCol="0" anchor="ctr"/>
          <a:lstStyle/>
          <a:p>
            <a:pPr algn="r" indent="0" marL="0">
              <a:buNone/>
            </a:pPr>
            <a:r>
              <a:rPr lang="en-US" sz="900" dirty="0">
                <a:solidFill>
                  <a:srgbClr val="AEC6E8"/>
                </a:solidFill>
                <a:latin typeface="Calibri" pitchFamily="34" charset="0"/>
                <a:ea typeface="Calibri" pitchFamily="34" charset="-122"/>
                <a:cs typeface="Calibri" pitchFamily="34" charset="-120"/>
              </a:rPr>
              <a:t>2 / 9</a:t>
            </a:r>
            <a:endParaRPr lang="en-US" sz="900" dirty="0"/>
          </a:p>
        </p:txBody>
      </p:sp>
      <p:sp>
        <p:nvSpPr>
          <p:cNvPr id="5" name="Shape 3"/>
          <p:cNvSpPr/>
          <p:nvPr/>
        </p:nvSpPr>
        <p:spPr>
          <a:xfrm>
            <a:off x="256032" y="777240"/>
            <a:ext cx="4114800" cy="402336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0000"/>
              </a:srgbClr>
            </a:outerShdw>
          </a:effectLst>
        </p:spPr>
      </p:sp>
      <p:sp>
        <p:nvSpPr>
          <p:cNvPr id="6" name="Shape 4"/>
          <p:cNvSpPr/>
          <p:nvPr/>
        </p:nvSpPr>
        <p:spPr>
          <a:xfrm>
            <a:off x="256032" y="777240"/>
            <a:ext cx="4114800" cy="402336"/>
          </a:xfrm>
          <a:prstGeom prst="rect">
            <a:avLst/>
          </a:prstGeom>
          <a:solidFill>
            <a:srgbClr val="1B2A4A"/>
          </a:solidFill>
          <a:ln w="12700">
            <a:solidFill>
              <a:srgbClr val="1B2A4A"/>
            </a:solidFill>
            <a:prstDash val="solid"/>
          </a:ln>
        </p:spPr>
      </p:sp>
      <p:sp>
        <p:nvSpPr>
          <p:cNvPr id="7" name="Text 5"/>
          <p:cNvSpPr/>
          <p:nvPr/>
        </p:nvSpPr>
        <p:spPr>
          <a:xfrm>
            <a:off x="320040" y="777240"/>
            <a:ext cx="3986784" cy="40233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About the Company</a:t>
            </a:r>
            <a:endParaRPr lang="en-US" sz="1200" dirty="0"/>
          </a:p>
        </p:txBody>
      </p:sp>
      <p:sp>
        <p:nvSpPr>
          <p:cNvPr id="8" name="Text 6"/>
          <p:cNvSpPr/>
          <p:nvPr/>
        </p:nvSpPr>
        <p:spPr>
          <a:xfrm>
            <a:off x="365760" y="1234440"/>
            <a:ext cx="3858768" cy="3456432"/>
          </a:xfrm>
          <a:prstGeom prst="rect">
            <a:avLst/>
          </a:prstGeom>
          <a:noFill/>
          <a:ln/>
        </p:spPr>
        <p:txBody>
          <a:bodyPr wrap="square" rtlCol="0" anchor="ctr"/>
          <a:lstStyle/>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Part of the Tata Group — India's largest conglomerate</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Makes passenger vehicles, commercial vehicles and EVs</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Owns Jaguar Land Rover (JLR) — acquired in 2008 for $2.3B</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JLR contributes ~70–75% of consolidated revenue</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Listed on NSE &amp; BSE  |  Ticker: TATAMOTORS</a:t>
            </a:r>
            <a:endParaRPr lang="en-US" sz="1050" dirty="0"/>
          </a:p>
          <a:p>
            <a:pPr marL="342900" indent="-342900">
              <a:spcAft>
                <a:spcPts val="600"/>
              </a:spcAft>
              <a:buSzPct val="100000"/>
              <a:buChar char="•"/>
            </a:pPr>
            <a:r>
              <a:rPr lang="en-US" sz="1050" dirty="0">
                <a:solidFill>
                  <a:srgbClr val="1E293B"/>
                </a:solidFill>
                <a:latin typeface="Calibri" pitchFamily="34" charset="0"/>
                <a:ea typeface="Calibri" pitchFamily="34" charset="-122"/>
                <a:cs typeface="Calibri" pitchFamily="34" charset="-120"/>
              </a:rPr>
              <a:t>Returned to profit in FY2023 after losses in FY2020–22 due to JLR chip shortage issues</a:t>
            </a:r>
            <a:endParaRPr lang="en-US" sz="1050" dirty="0"/>
          </a:p>
        </p:txBody>
      </p:sp>
      <p:sp>
        <p:nvSpPr>
          <p:cNvPr id="9" name="Shape 7"/>
          <p:cNvSpPr/>
          <p:nvPr/>
        </p:nvSpPr>
        <p:spPr>
          <a:xfrm>
            <a:off x="4663440" y="777240"/>
            <a:ext cx="4206240" cy="402336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0000"/>
              </a:srgbClr>
            </a:outerShdw>
          </a:effectLst>
        </p:spPr>
      </p:sp>
      <p:sp>
        <p:nvSpPr>
          <p:cNvPr id="10" name="Shape 8"/>
          <p:cNvSpPr/>
          <p:nvPr/>
        </p:nvSpPr>
        <p:spPr>
          <a:xfrm>
            <a:off x="4663440" y="777240"/>
            <a:ext cx="4206240" cy="402336"/>
          </a:xfrm>
          <a:prstGeom prst="rect">
            <a:avLst/>
          </a:prstGeom>
          <a:solidFill>
            <a:srgbClr val="C0392B"/>
          </a:solidFill>
          <a:ln w="12700">
            <a:solidFill>
              <a:srgbClr val="C0392B"/>
            </a:solidFill>
            <a:prstDash val="solid"/>
          </a:ln>
        </p:spPr>
      </p:sp>
      <p:sp>
        <p:nvSpPr>
          <p:cNvPr id="11" name="Text 9"/>
          <p:cNvSpPr/>
          <p:nvPr/>
        </p:nvSpPr>
        <p:spPr>
          <a:xfrm>
            <a:off x="4718304" y="777240"/>
            <a:ext cx="4096512"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5-Year Financial Snapshot  (INR Crores)</a:t>
            </a:r>
            <a:endParaRPr lang="en-US" sz="1100" dirty="0"/>
          </a:p>
        </p:txBody>
      </p:sp>
      <p:sp>
        <p:nvSpPr>
          <p:cNvPr id="12" name="Shape 10"/>
          <p:cNvSpPr/>
          <p:nvPr/>
        </p:nvSpPr>
        <p:spPr>
          <a:xfrm>
            <a:off x="4681728" y="1234440"/>
            <a:ext cx="1188720" cy="475488"/>
          </a:xfrm>
          <a:prstGeom prst="rect">
            <a:avLst/>
          </a:prstGeom>
          <a:solidFill>
            <a:srgbClr val="2C3E6B"/>
          </a:solidFill>
          <a:ln w="12700">
            <a:solidFill>
              <a:srgbClr val="E2E8F0"/>
            </a:solidFill>
            <a:prstDash val="solid"/>
          </a:ln>
        </p:spPr>
      </p:sp>
      <p:sp>
        <p:nvSpPr>
          <p:cNvPr id="13" name="Text 11"/>
          <p:cNvSpPr/>
          <p:nvPr/>
        </p:nvSpPr>
        <p:spPr>
          <a:xfrm>
            <a:off x="4718304" y="1234440"/>
            <a:ext cx="1115568" cy="475488"/>
          </a:xfrm>
          <a:prstGeom prst="rect">
            <a:avLst/>
          </a:prstGeom>
          <a:noFill/>
          <a:ln/>
        </p:spPr>
        <p:txBody>
          <a:bodyPr wrap="square"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Metric</a:t>
            </a:r>
            <a:endParaRPr lang="en-US" sz="950" dirty="0"/>
          </a:p>
        </p:txBody>
      </p:sp>
      <p:sp>
        <p:nvSpPr>
          <p:cNvPr id="14" name="Shape 12"/>
          <p:cNvSpPr/>
          <p:nvPr/>
        </p:nvSpPr>
        <p:spPr>
          <a:xfrm>
            <a:off x="5925312" y="1234440"/>
            <a:ext cx="731520" cy="475488"/>
          </a:xfrm>
          <a:prstGeom prst="rect">
            <a:avLst/>
          </a:prstGeom>
          <a:solidFill>
            <a:srgbClr val="2C3E6B"/>
          </a:solidFill>
          <a:ln w="12700">
            <a:solidFill>
              <a:srgbClr val="E2E8F0"/>
            </a:solidFill>
            <a:prstDash val="solid"/>
          </a:ln>
        </p:spPr>
      </p:sp>
      <p:sp>
        <p:nvSpPr>
          <p:cNvPr id="15" name="Text 13"/>
          <p:cNvSpPr/>
          <p:nvPr/>
        </p:nvSpPr>
        <p:spPr>
          <a:xfrm>
            <a:off x="5961888" y="1234440"/>
            <a:ext cx="658368" cy="47548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FY20</a:t>
            </a:r>
            <a:endParaRPr lang="en-US" sz="950" dirty="0"/>
          </a:p>
        </p:txBody>
      </p:sp>
      <p:sp>
        <p:nvSpPr>
          <p:cNvPr id="16" name="Shape 14"/>
          <p:cNvSpPr/>
          <p:nvPr/>
        </p:nvSpPr>
        <p:spPr>
          <a:xfrm>
            <a:off x="6675120" y="1234440"/>
            <a:ext cx="731520" cy="475488"/>
          </a:xfrm>
          <a:prstGeom prst="rect">
            <a:avLst/>
          </a:prstGeom>
          <a:solidFill>
            <a:srgbClr val="2C3E6B"/>
          </a:solidFill>
          <a:ln w="12700">
            <a:solidFill>
              <a:srgbClr val="E2E8F0"/>
            </a:solidFill>
            <a:prstDash val="solid"/>
          </a:ln>
        </p:spPr>
      </p:sp>
      <p:sp>
        <p:nvSpPr>
          <p:cNvPr id="17" name="Text 15"/>
          <p:cNvSpPr/>
          <p:nvPr/>
        </p:nvSpPr>
        <p:spPr>
          <a:xfrm>
            <a:off x="6711696" y="1234440"/>
            <a:ext cx="658368" cy="47548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FY22</a:t>
            </a:r>
            <a:endParaRPr lang="en-US" sz="950" dirty="0"/>
          </a:p>
        </p:txBody>
      </p:sp>
      <p:sp>
        <p:nvSpPr>
          <p:cNvPr id="18" name="Shape 16"/>
          <p:cNvSpPr/>
          <p:nvPr/>
        </p:nvSpPr>
        <p:spPr>
          <a:xfrm>
            <a:off x="7424928" y="1234440"/>
            <a:ext cx="731520" cy="475488"/>
          </a:xfrm>
          <a:prstGeom prst="rect">
            <a:avLst/>
          </a:prstGeom>
          <a:solidFill>
            <a:srgbClr val="2C3E6B"/>
          </a:solidFill>
          <a:ln w="12700">
            <a:solidFill>
              <a:srgbClr val="E2E8F0"/>
            </a:solidFill>
            <a:prstDash val="solid"/>
          </a:ln>
        </p:spPr>
      </p:sp>
      <p:sp>
        <p:nvSpPr>
          <p:cNvPr id="19" name="Text 17"/>
          <p:cNvSpPr/>
          <p:nvPr/>
        </p:nvSpPr>
        <p:spPr>
          <a:xfrm>
            <a:off x="7461504" y="1234440"/>
            <a:ext cx="658368" cy="47548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FY23</a:t>
            </a:r>
            <a:endParaRPr lang="en-US" sz="950" dirty="0"/>
          </a:p>
        </p:txBody>
      </p:sp>
      <p:sp>
        <p:nvSpPr>
          <p:cNvPr id="20" name="Shape 18"/>
          <p:cNvSpPr/>
          <p:nvPr/>
        </p:nvSpPr>
        <p:spPr>
          <a:xfrm>
            <a:off x="8174736" y="1234440"/>
            <a:ext cx="731520" cy="475488"/>
          </a:xfrm>
          <a:prstGeom prst="rect">
            <a:avLst/>
          </a:prstGeom>
          <a:solidFill>
            <a:srgbClr val="2C3E6B"/>
          </a:solidFill>
          <a:ln w="12700">
            <a:solidFill>
              <a:srgbClr val="E2E8F0"/>
            </a:solidFill>
            <a:prstDash val="solid"/>
          </a:ln>
        </p:spPr>
      </p:sp>
      <p:sp>
        <p:nvSpPr>
          <p:cNvPr id="21" name="Text 19"/>
          <p:cNvSpPr/>
          <p:nvPr/>
        </p:nvSpPr>
        <p:spPr>
          <a:xfrm>
            <a:off x="8211312" y="1234440"/>
            <a:ext cx="658368" cy="475488"/>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FY24</a:t>
            </a:r>
            <a:endParaRPr lang="en-US" sz="950" dirty="0"/>
          </a:p>
        </p:txBody>
      </p:sp>
      <p:sp>
        <p:nvSpPr>
          <p:cNvPr id="22" name="Shape 20"/>
          <p:cNvSpPr/>
          <p:nvPr/>
        </p:nvSpPr>
        <p:spPr>
          <a:xfrm>
            <a:off x="4681728" y="1728216"/>
            <a:ext cx="1188720" cy="475488"/>
          </a:xfrm>
          <a:prstGeom prst="rect">
            <a:avLst/>
          </a:prstGeom>
          <a:solidFill>
            <a:srgbClr val="FFF0F0"/>
          </a:solidFill>
          <a:ln w="12700">
            <a:solidFill>
              <a:srgbClr val="E2E8F0"/>
            </a:solidFill>
            <a:prstDash val="solid"/>
          </a:ln>
        </p:spPr>
      </p:sp>
      <p:sp>
        <p:nvSpPr>
          <p:cNvPr id="23" name="Text 21"/>
          <p:cNvSpPr/>
          <p:nvPr/>
        </p:nvSpPr>
        <p:spPr>
          <a:xfrm>
            <a:off x="4718304" y="1728216"/>
            <a:ext cx="1115568" cy="475488"/>
          </a:xfrm>
          <a:prstGeom prst="rect">
            <a:avLst/>
          </a:prstGeom>
          <a:noFill/>
          <a:ln/>
        </p:spPr>
        <p:txBody>
          <a:bodyPr wrap="square" rtlCol="0" anchor="ctr"/>
          <a:lstStyle/>
          <a:p>
            <a:pPr algn="l" indent="0" marL="0">
              <a:buNone/>
            </a:pPr>
            <a:r>
              <a:rPr lang="en-US" sz="950" dirty="0">
                <a:solidFill>
                  <a:srgbClr val="1E293B"/>
                </a:solidFill>
                <a:latin typeface="Calibri" pitchFamily="34" charset="0"/>
                <a:ea typeface="Calibri" pitchFamily="34" charset="-122"/>
                <a:cs typeface="Calibri" pitchFamily="34" charset="-120"/>
              </a:rPr>
              <a:t>Revenue</a:t>
            </a:r>
            <a:endParaRPr lang="en-US" sz="950" dirty="0"/>
          </a:p>
        </p:txBody>
      </p:sp>
      <p:sp>
        <p:nvSpPr>
          <p:cNvPr id="24" name="Shape 22"/>
          <p:cNvSpPr/>
          <p:nvPr/>
        </p:nvSpPr>
        <p:spPr>
          <a:xfrm>
            <a:off x="5925312" y="1728216"/>
            <a:ext cx="731520" cy="475488"/>
          </a:xfrm>
          <a:prstGeom prst="rect">
            <a:avLst/>
          </a:prstGeom>
          <a:solidFill>
            <a:srgbClr val="FFF0F0"/>
          </a:solidFill>
          <a:ln w="12700">
            <a:solidFill>
              <a:srgbClr val="E2E8F0"/>
            </a:solidFill>
            <a:prstDash val="solid"/>
          </a:ln>
        </p:spPr>
      </p:sp>
      <p:sp>
        <p:nvSpPr>
          <p:cNvPr id="25" name="Text 23"/>
          <p:cNvSpPr/>
          <p:nvPr/>
        </p:nvSpPr>
        <p:spPr>
          <a:xfrm>
            <a:off x="5961888" y="1728216"/>
            <a:ext cx="658368" cy="475488"/>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2,61,068</a:t>
            </a:r>
            <a:endParaRPr lang="en-US" sz="950" dirty="0"/>
          </a:p>
        </p:txBody>
      </p:sp>
      <p:sp>
        <p:nvSpPr>
          <p:cNvPr id="26" name="Shape 24"/>
          <p:cNvSpPr/>
          <p:nvPr/>
        </p:nvSpPr>
        <p:spPr>
          <a:xfrm>
            <a:off x="6675120" y="1728216"/>
            <a:ext cx="731520" cy="475488"/>
          </a:xfrm>
          <a:prstGeom prst="rect">
            <a:avLst/>
          </a:prstGeom>
          <a:solidFill>
            <a:srgbClr val="FFF0F0"/>
          </a:solidFill>
          <a:ln w="12700">
            <a:solidFill>
              <a:srgbClr val="E2E8F0"/>
            </a:solidFill>
            <a:prstDash val="solid"/>
          </a:ln>
        </p:spPr>
      </p:sp>
      <p:sp>
        <p:nvSpPr>
          <p:cNvPr id="27" name="Text 25"/>
          <p:cNvSpPr/>
          <p:nvPr/>
        </p:nvSpPr>
        <p:spPr>
          <a:xfrm>
            <a:off x="6711696" y="1728216"/>
            <a:ext cx="658368" cy="475488"/>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2,78,454</a:t>
            </a:r>
            <a:endParaRPr lang="en-US" sz="950" dirty="0"/>
          </a:p>
        </p:txBody>
      </p:sp>
      <p:sp>
        <p:nvSpPr>
          <p:cNvPr id="28" name="Shape 26"/>
          <p:cNvSpPr/>
          <p:nvPr/>
        </p:nvSpPr>
        <p:spPr>
          <a:xfrm>
            <a:off x="7424928" y="1728216"/>
            <a:ext cx="731520" cy="475488"/>
          </a:xfrm>
          <a:prstGeom prst="rect">
            <a:avLst/>
          </a:prstGeom>
          <a:solidFill>
            <a:srgbClr val="FFF0F0"/>
          </a:solidFill>
          <a:ln w="12700">
            <a:solidFill>
              <a:srgbClr val="E2E8F0"/>
            </a:solidFill>
            <a:prstDash val="solid"/>
          </a:ln>
        </p:spPr>
      </p:sp>
      <p:sp>
        <p:nvSpPr>
          <p:cNvPr id="29" name="Text 27"/>
          <p:cNvSpPr/>
          <p:nvPr/>
        </p:nvSpPr>
        <p:spPr>
          <a:xfrm>
            <a:off x="7461504" y="1728216"/>
            <a:ext cx="658368" cy="475488"/>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3,45,967</a:t>
            </a:r>
            <a:endParaRPr lang="en-US" sz="950" dirty="0"/>
          </a:p>
        </p:txBody>
      </p:sp>
      <p:sp>
        <p:nvSpPr>
          <p:cNvPr id="30" name="Shape 28"/>
          <p:cNvSpPr/>
          <p:nvPr/>
        </p:nvSpPr>
        <p:spPr>
          <a:xfrm>
            <a:off x="8174736" y="1728216"/>
            <a:ext cx="731520" cy="475488"/>
          </a:xfrm>
          <a:prstGeom prst="rect">
            <a:avLst/>
          </a:prstGeom>
          <a:solidFill>
            <a:srgbClr val="FFF0F0"/>
          </a:solidFill>
          <a:ln w="12700">
            <a:solidFill>
              <a:srgbClr val="E2E8F0"/>
            </a:solidFill>
            <a:prstDash val="solid"/>
          </a:ln>
        </p:spPr>
      </p:sp>
      <p:sp>
        <p:nvSpPr>
          <p:cNvPr id="31" name="Text 29"/>
          <p:cNvSpPr/>
          <p:nvPr/>
        </p:nvSpPr>
        <p:spPr>
          <a:xfrm>
            <a:off x="8211312" y="1728216"/>
            <a:ext cx="658368" cy="475488"/>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4,34,016</a:t>
            </a:r>
            <a:endParaRPr lang="en-US" sz="950" dirty="0"/>
          </a:p>
        </p:txBody>
      </p:sp>
      <p:sp>
        <p:nvSpPr>
          <p:cNvPr id="32" name="Shape 30"/>
          <p:cNvSpPr/>
          <p:nvPr/>
        </p:nvSpPr>
        <p:spPr>
          <a:xfrm>
            <a:off x="4681728" y="2221992"/>
            <a:ext cx="1188720" cy="475488"/>
          </a:xfrm>
          <a:prstGeom prst="rect">
            <a:avLst/>
          </a:prstGeom>
          <a:solidFill>
            <a:srgbClr val="FFFFFF"/>
          </a:solidFill>
          <a:ln w="12700">
            <a:solidFill>
              <a:srgbClr val="E2E8F0"/>
            </a:solidFill>
            <a:prstDash val="solid"/>
          </a:ln>
        </p:spPr>
      </p:sp>
      <p:sp>
        <p:nvSpPr>
          <p:cNvPr id="33" name="Text 31"/>
          <p:cNvSpPr/>
          <p:nvPr/>
        </p:nvSpPr>
        <p:spPr>
          <a:xfrm>
            <a:off x="4718304" y="2221992"/>
            <a:ext cx="1115568" cy="475488"/>
          </a:xfrm>
          <a:prstGeom prst="rect">
            <a:avLst/>
          </a:prstGeom>
          <a:noFill/>
          <a:ln/>
        </p:spPr>
        <p:txBody>
          <a:bodyPr wrap="square" rtlCol="0" anchor="ctr"/>
          <a:lstStyle/>
          <a:p>
            <a:pPr algn="l" indent="0" marL="0">
              <a:buNone/>
            </a:pPr>
            <a:r>
              <a:rPr lang="en-US" sz="950" dirty="0">
                <a:solidFill>
                  <a:srgbClr val="1E293B"/>
                </a:solidFill>
                <a:latin typeface="Calibri" pitchFamily="34" charset="0"/>
                <a:ea typeface="Calibri" pitchFamily="34" charset="-122"/>
                <a:cs typeface="Calibri" pitchFamily="34" charset="-120"/>
              </a:rPr>
              <a:t>EBIT</a:t>
            </a:r>
            <a:endParaRPr lang="en-US" sz="950" dirty="0"/>
          </a:p>
        </p:txBody>
      </p:sp>
      <p:sp>
        <p:nvSpPr>
          <p:cNvPr id="34" name="Shape 32"/>
          <p:cNvSpPr/>
          <p:nvPr/>
        </p:nvSpPr>
        <p:spPr>
          <a:xfrm>
            <a:off x="5925312" y="2221992"/>
            <a:ext cx="731520" cy="475488"/>
          </a:xfrm>
          <a:prstGeom prst="rect">
            <a:avLst/>
          </a:prstGeom>
          <a:solidFill>
            <a:srgbClr val="FFFFFF"/>
          </a:solidFill>
          <a:ln w="12700">
            <a:solidFill>
              <a:srgbClr val="E2E8F0"/>
            </a:solidFill>
            <a:prstDash val="solid"/>
          </a:ln>
        </p:spPr>
      </p:sp>
      <p:sp>
        <p:nvSpPr>
          <p:cNvPr id="35" name="Text 33"/>
          <p:cNvSpPr/>
          <p:nvPr/>
        </p:nvSpPr>
        <p:spPr>
          <a:xfrm>
            <a:off x="5961888" y="2221992"/>
            <a:ext cx="658368" cy="475488"/>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23,914</a:t>
            </a:r>
            <a:endParaRPr lang="en-US" sz="950" dirty="0"/>
          </a:p>
        </p:txBody>
      </p:sp>
      <p:sp>
        <p:nvSpPr>
          <p:cNvPr id="36" name="Shape 34"/>
          <p:cNvSpPr/>
          <p:nvPr/>
        </p:nvSpPr>
        <p:spPr>
          <a:xfrm>
            <a:off x="6675120" y="2221992"/>
            <a:ext cx="731520" cy="475488"/>
          </a:xfrm>
          <a:prstGeom prst="rect">
            <a:avLst/>
          </a:prstGeom>
          <a:solidFill>
            <a:srgbClr val="FFFFFF"/>
          </a:solidFill>
          <a:ln w="12700">
            <a:solidFill>
              <a:srgbClr val="E2E8F0"/>
            </a:solidFill>
            <a:prstDash val="solid"/>
          </a:ln>
        </p:spPr>
      </p:sp>
      <p:sp>
        <p:nvSpPr>
          <p:cNvPr id="37" name="Text 35"/>
          <p:cNvSpPr/>
          <p:nvPr/>
        </p:nvSpPr>
        <p:spPr>
          <a:xfrm>
            <a:off x="6711696" y="2221992"/>
            <a:ext cx="658368" cy="475488"/>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36,147</a:t>
            </a:r>
            <a:endParaRPr lang="en-US" sz="950" dirty="0"/>
          </a:p>
        </p:txBody>
      </p:sp>
      <p:sp>
        <p:nvSpPr>
          <p:cNvPr id="38" name="Shape 36"/>
          <p:cNvSpPr/>
          <p:nvPr/>
        </p:nvSpPr>
        <p:spPr>
          <a:xfrm>
            <a:off x="7424928" y="2221992"/>
            <a:ext cx="731520" cy="475488"/>
          </a:xfrm>
          <a:prstGeom prst="rect">
            <a:avLst/>
          </a:prstGeom>
          <a:solidFill>
            <a:srgbClr val="FFFFFF"/>
          </a:solidFill>
          <a:ln w="12700">
            <a:solidFill>
              <a:srgbClr val="E2E8F0"/>
            </a:solidFill>
            <a:prstDash val="solid"/>
          </a:ln>
        </p:spPr>
      </p:sp>
      <p:sp>
        <p:nvSpPr>
          <p:cNvPr id="39" name="Text 37"/>
          <p:cNvSpPr/>
          <p:nvPr/>
        </p:nvSpPr>
        <p:spPr>
          <a:xfrm>
            <a:off x="7461504" y="2221992"/>
            <a:ext cx="658368" cy="475488"/>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42,492</a:t>
            </a:r>
            <a:endParaRPr lang="en-US" sz="950" dirty="0"/>
          </a:p>
        </p:txBody>
      </p:sp>
      <p:sp>
        <p:nvSpPr>
          <p:cNvPr id="40" name="Shape 38"/>
          <p:cNvSpPr/>
          <p:nvPr/>
        </p:nvSpPr>
        <p:spPr>
          <a:xfrm>
            <a:off x="8174736" y="2221992"/>
            <a:ext cx="731520" cy="475488"/>
          </a:xfrm>
          <a:prstGeom prst="rect">
            <a:avLst/>
          </a:prstGeom>
          <a:solidFill>
            <a:srgbClr val="FFFFFF"/>
          </a:solidFill>
          <a:ln w="12700">
            <a:solidFill>
              <a:srgbClr val="E2E8F0"/>
            </a:solidFill>
            <a:prstDash val="solid"/>
          </a:ln>
        </p:spPr>
      </p:sp>
      <p:sp>
        <p:nvSpPr>
          <p:cNvPr id="41" name="Text 39"/>
          <p:cNvSpPr/>
          <p:nvPr/>
        </p:nvSpPr>
        <p:spPr>
          <a:xfrm>
            <a:off x="8211312" y="2221992"/>
            <a:ext cx="658368" cy="475488"/>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68,831</a:t>
            </a:r>
            <a:endParaRPr lang="en-US" sz="950" dirty="0"/>
          </a:p>
        </p:txBody>
      </p:sp>
      <p:sp>
        <p:nvSpPr>
          <p:cNvPr id="42" name="Shape 40"/>
          <p:cNvSpPr/>
          <p:nvPr/>
        </p:nvSpPr>
        <p:spPr>
          <a:xfrm>
            <a:off x="4681728" y="2715768"/>
            <a:ext cx="1188720" cy="475488"/>
          </a:xfrm>
          <a:prstGeom prst="rect">
            <a:avLst/>
          </a:prstGeom>
          <a:solidFill>
            <a:srgbClr val="FFF0F0"/>
          </a:solidFill>
          <a:ln w="12700">
            <a:solidFill>
              <a:srgbClr val="E2E8F0"/>
            </a:solidFill>
            <a:prstDash val="solid"/>
          </a:ln>
        </p:spPr>
      </p:sp>
      <p:sp>
        <p:nvSpPr>
          <p:cNvPr id="43" name="Text 41"/>
          <p:cNvSpPr/>
          <p:nvPr/>
        </p:nvSpPr>
        <p:spPr>
          <a:xfrm>
            <a:off x="4718304" y="2715768"/>
            <a:ext cx="1115568" cy="475488"/>
          </a:xfrm>
          <a:prstGeom prst="rect">
            <a:avLst/>
          </a:prstGeom>
          <a:noFill/>
          <a:ln/>
        </p:spPr>
        <p:txBody>
          <a:bodyPr wrap="square" rtlCol="0" anchor="ctr"/>
          <a:lstStyle/>
          <a:p>
            <a:pPr algn="l" indent="0" marL="0">
              <a:buNone/>
            </a:pPr>
            <a:r>
              <a:rPr lang="en-US" sz="950" dirty="0">
                <a:solidFill>
                  <a:srgbClr val="1E293B"/>
                </a:solidFill>
                <a:latin typeface="Calibri" pitchFamily="34" charset="0"/>
                <a:ea typeface="Calibri" pitchFamily="34" charset="-122"/>
                <a:cs typeface="Calibri" pitchFamily="34" charset="-120"/>
              </a:rPr>
              <a:t>EBIT %</a:t>
            </a:r>
            <a:endParaRPr lang="en-US" sz="950" dirty="0"/>
          </a:p>
        </p:txBody>
      </p:sp>
      <p:sp>
        <p:nvSpPr>
          <p:cNvPr id="44" name="Shape 42"/>
          <p:cNvSpPr/>
          <p:nvPr/>
        </p:nvSpPr>
        <p:spPr>
          <a:xfrm>
            <a:off x="5925312" y="2715768"/>
            <a:ext cx="731520" cy="475488"/>
          </a:xfrm>
          <a:prstGeom prst="rect">
            <a:avLst/>
          </a:prstGeom>
          <a:solidFill>
            <a:srgbClr val="FFF0F0"/>
          </a:solidFill>
          <a:ln w="12700">
            <a:solidFill>
              <a:srgbClr val="E2E8F0"/>
            </a:solidFill>
            <a:prstDash val="solid"/>
          </a:ln>
        </p:spPr>
      </p:sp>
      <p:sp>
        <p:nvSpPr>
          <p:cNvPr id="45" name="Text 43"/>
          <p:cNvSpPr/>
          <p:nvPr/>
        </p:nvSpPr>
        <p:spPr>
          <a:xfrm>
            <a:off x="5961888" y="2715768"/>
            <a:ext cx="658368" cy="475488"/>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9.2%</a:t>
            </a:r>
            <a:endParaRPr lang="en-US" sz="950" dirty="0"/>
          </a:p>
        </p:txBody>
      </p:sp>
      <p:sp>
        <p:nvSpPr>
          <p:cNvPr id="46" name="Shape 44"/>
          <p:cNvSpPr/>
          <p:nvPr/>
        </p:nvSpPr>
        <p:spPr>
          <a:xfrm>
            <a:off x="6675120" y="2715768"/>
            <a:ext cx="731520" cy="475488"/>
          </a:xfrm>
          <a:prstGeom prst="rect">
            <a:avLst/>
          </a:prstGeom>
          <a:solidFill>
            <a:srgbClr val="FFF0F0"/>
          </a:solidFill>
          <a:ln w="12700">
            <a:solidFill>
              <a:srgbClr val="E2E8F0"/>
            </a:solidFill>
            <a:prstDash val="solid"/>
          </a:ln>
        </p:spPr>
      </p:sp>
      <p:sp>
        <p:nvSpPr>
          <p:cNvPr id="47" name="Text 45"/>
          <p:cNvSpPr/>
          <p:nvPr/>
        </p:nvSpPr>
        <p:spPr>
          <a:xfrm>
            <a:off x="6711696" y="2715768"/>
            <a:ext cx="658368" cy="475488"/>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13.0%</a:t>
            </a:r>
            <a:endParaRPr lang="en-US" sz="950" dirty="0"/>
          </a:p>
        </p:txBody>
      </p:sp>
      <p:sp>
        <p:nvSpPr>
          <p:cNvPr id="48" name="Shape 46"/>
          <p:cNvSpPr/>
          <p:nvPr/>
        </p:nvSpPr>
        <p:spPr>
          <a:xfrm>
            <a:off x="7424928" y="2715768"/>
            <a:ext cx="731520" cy="475488"/>
          </a:xfrm>
          <a:prstGeom prst="rect">
            <a:avLst/>
          </a:prstGeom>
          <a:solidFill>
            <a:srgbClr val="FFF0F0"/>
          </a:solidFill>
          <a:ln w="12700">
            <a:solidFill>
              <a:srgbClr val="E2E8F0"/>
            </a:solidFill>
            <a:prstDash val="solid"/>
          </a:ln>
        </p:spPr>
      </p:sp>
      <p:sp>
        <p:nvSpPr>
          <p:cNvPr id="49" name="Text 47"/>
          <p:cNvSpPr/>
          <p:nvPr/>
        </p:nvSpPr>
        <p:spPr>
          <a:xfrm>
            <a:off x="7461504" y="2715768"/>
            <a:ext cx="658368" cy="475488"/>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12.3%</a:t>
            </a:r>
            <a:endParaRPr lang="en-US" sz="950" dirty="0"/>
          </a:p>
        </p:txBody>
      </p:sp>
      <p:sp>
        <p:nvSpPr>
          <p:cNvPr id="50" name="Shape 48"/>
          <p:cNvSpPr/>
          <p:nvPr/>
        </p:nvSpPr>
        <p:spPr>
          <a:xfrm>
            <a:off x="8174736" y="2715768"/>
            <a:ext cx="731520" cy="475488"/>
          </a:xfrm>
          <a:prstGeom prst="rect">
            <a:avLst/>
          </a:prstGeom>
          <a:solidFill>
            <a:srgbClr val="FFF0F0"/>
          </a:solidFill>
          <a:ln w="12700">
            <a:solidFill>
              <a:srgbClr val="E2E8F0"/>
            </a:solidFill>
            <a:prstDash val="solid"/>
          </a:ln>
        </p:spPr>
      </p:sp>
      <p:sp>
        <p:nvSpPr>
          <p:cNvPr id="51" name="Text 49"/>
          <p:cNvSpPr/>
          <p:nvPr/>
        </p:nvSpPr>
        <p:spPr>
          <a:xfrm>
            <a:off x="8211312" y="2715768"/>
            <a:ext cx="658368" cy="475488"/>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15.9%</a:t>
            </a:r>
            <a:endParaRPr lang="en-US" sz="950" dirty="0"/>
          </a:p>
        </p:txBody>
      </p:sp>
      <p:sp>
        <p:nvSpPr>
          <p:cNvPr id="52" name="Shape 50"/>
          <p:cNvSpPr/>
          <p:nvPr/>
        </p:nvSpPr>
        <p:spPr>
          <a:xfrm>
            <a:off x="4681728" y="3209544"/>
            <a:ext cx="1188720" cy="475488"/>
          </a:xfrm>
          <a:prstGeom prst="rect">
            <a:avLst/>
          </a:prstGeom>
          <a:solidFill>
            <a:srgbClr val="FFFFFF"/>
          </a:solidFill>
          <a:ln w="12700">
            <a:solidFill>
              <a:srgbClr val="E2E8F0"/>
            </a:solidFill>
            <a:prstDash val="solid"/>
          </a:ln>
        </p:spPr>
      </p:sp>
      <p:sp>
        <p:nvSpPr>
          <p:cNvPr id="53" name="Text 51"/>
          <p:cNvSpPr/>
          <p:nvPr/>
        </p:nvSpPr>
        <p:spPr>
          <a:xfrm>
            <a:off x="4718304" y="3209544"/>
            <a:ext cx="1115568" cy="475488"/>
          </a:xfrm>
          <a:prstGeom prst="rect">
            <a:avLst/>
          </a:prstGeom>
          <a:noFill/>
          <a:ln/>
        </p:spPr>
        <p:txBody>
          <a:bodyPr wrap="square" rtlCol="0" anchor="ctr"/>
          <a:lstStyle/>
          <a:p>
            <a:pPr algn="l" indent="0" marL="0">
              <a:buNone/>
            </a:pPr>
            <a:r>
              <a:rPr lang="en-US" sz="950" dirty="0">
                <a:solidFill>
                  <a:srgbClr val="1E293B"/>
                </a:solidFill>
                <a:latin typeface="Calibri" pitchFamily="34" charset="0"/>
                <a:ea typeface="Calibri" pitchFamily="34" charset="-122"/>
                <a:cs typeface="Calibri" pitchFamily="34" charset="-120"/>
              </a:rPr>
              <a:t>Net Income</a:t>
            </a:r>
            <a:endParaRPr lang="en-US" sz="950" dirty="0"/>
          </a:p>
        </p:txBody>
      </p:sp>
      <p:sp>
        <p:nvSpPr>
          <p:cNvPr id="54" name="Shape 52"/>
          <p:cNvSpPr/>
          <p:nvPr/>
        </p:nvSpPr>
        <p:spPr>
          <a:xfrm>
            <a:off x="5925312" y="3209544"/>
            <a:ext cx="731520" cy="475488"/>
          </a:xfrm>
          <a:prstGeom prst="rect">
            <a:avLst/>
          </a:prstGeom>
          <a:solidFill>
            <a:srgbClr val="FFFFFF"/>
          </a:solidFill>
          <a:ln w="12700">
            <a:solidFill>
              <a:srgbClr val="E2E8F0"/>
            </a:solidFill>
            <a:prstDash val="solid"/>
          </a:ln>
        </p:spPr>
      </p:sp>
      <p:sp>
        <p:nvSpPr>
          <p:cNvPr id="55" name="Text 53"/>
          <p:cNvSpPr/>
          <p:nvPr/>
        </p:nvSpPr>
        <p:spPr>
          <a:xfrm>
            <a:off x="5961888" y="3209544"/>
            <a:ext cx="658368" cy="475488"/>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(13,395)</a:t>
            </a:r>
            <a:endParaRPr lang="en-US" sz="950" dirty="0"/>
          </a:p>
        </p:txBody>
      </p:sp>
      <p:sp>
        <p:nvSpPr>
          <p:cNvPr id="56" name="Shape 54"/>
          <p:cNvSpPr/>
          <p:nvPr/>
        </p:nvSpPr>
        <p:spPr>
          <a:xfrm>
            <a:off x="6675120" y="3209544"/>
            <a:ext cx="731520" cy="475488"/>
          </a:xfrm>
          <a:prstGeom prst="rect">
            <a:avLst/>
          </a:prstGeom>
          <a:solidFill>
            <a:srgbClr val="FFFFFF"/>
          </a:solidFill>
          <a:ln w="12700">
            <a:solidFill>
              <a:srgbClr val="E2E8F0"/>
            </a:solidFill>
            <a:prstDash val="solid"/>
          </a:ln>
        </p:spPr>
      </p:sp>
      <p:sp>
        <p:nvSpPr>
          <p:cNvPr id="57" name="Text 55"/>
          <p:cNvSpPr/>
          <p:nvPr/>
        </p:nvSpPr>
        <p:spPr>
          <a:xfrm>
            <a:off x="6711696" y="3209544"/>
            <a:ext cx="658368" cy="475488"/>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(1,108)</a:t>
            </a:r>
            <a:endParaRPr lang="en-US" sz="950" dirty="0"/>
          </a:p>
        </p:txBody>
      </p:sp>
      <p:sp>
        <p:nvSpPr>
          <p:cNvPr id="58" name="Shape 56"/>
          <p:cNvSpPr/>
          <p:nvPr/>
        </p:nvSpPr>
        <p:spPr>
          <a:xfrm>
            <a:off x="7424928" y="3209544"/>
            <a:ext cx="731520" cy="475488"/>
          </a:xfrm>
          <a:prstGeom prst="rect">
            <a:avLst/>
          </a:prstGeom>
          <a:solidFill>
            <a:srgbClr val="FFFFFF"/>
          </a:solidFill>
          <a:ln w="12700">
            <a:solidFill>
              <a:srgbClr val="E2E8F0"/>
            </a:solidFill>
            <a:prstDash val="solid"/>
          </a:ln>
        </p:spPr>
      </p:sp>
      <p:sp>
        <p:nvSpPr>
          <p:cNvPr id="59" name="Text 57"/>
          <p:cNvSpPr/>
          <p:nvPr/>
        </p:nvSpPr>
        <p:spPr>
          <a:xfrm>
            <a:off x="7461504" y="3209544"/>
            <a:ext cx="658368" cy="475488"/>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31,807</a:t>
            </a:r>
            <a:endParaRPr lang="en-US" sz="950" dirty="0"/>
          </a:p>
        </p:txBody>
      </p:sp>
      <p:sp>
        <p:nvSpPr>
          <p:cNvPr id="60" name="Shape 58"/>
          <p:cNvSpPr/>
          <p:nvPr/>
        </p:nvSpPr>
        <p:spPr>
          <a:xfrm>
            <a:off x="8174736" y="3209544"/>
            <a:ext cx="731520" cy="475488"/>
          </a:xfrm>
          <a:prstGeom prst="rect">
            <a:avLst/>
          </a:prstGeom>
          <a:solidFill>
            <a:srgbClr val="FFFFFF"/>
          </a:solidFill>
          <a:ln w="12700">
            <a:solidFill>
              <a:srgbClr val="E2E8F0"/>
            </a:solidFill>
            <a:prstDash val="solid"/>
          </a:ln>
        </p:spPr>
      </p:sp>
      <p:sp>
        <p:nvSpPr>
          <p:cNvPr id="61" name="Text 59"/>
          <p:cNvSpPr/>
          <p:nvPr/>
        </p:nvSpPr>
        <p:spPr>
          <a:xfrm>
            <a:off x="8211312" y="3209544"/>
            <a:ext cx="658368" cy="475488"/>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28,149</a:t>
            </a:r>
            <a:endParaRPr lang="en-US" sz="950" dirty="0"/>
          </a:p>
        </p:txBody>
      </p:sp>
      <p:sp>
        <p:nvSpPr>
          <p:cNvPr id="62" name="Shape 60"/>
          <p:cNvSpPr/>
          <p:nvPr/>
        </p:nvSpPr>
        <p:spPr>
          <a:xfrm>
            <a:off x="4681728" y="3703320"/>
            <a:ext cx="1188720" cy="475488"/>
          </a:xfrm>
          <a:prstGeom prst="rect">
            <a:avLst/>
          </a:prstGeom>
          <a:solidFill>
            <a:srgbClr val="FFF0F0"/>
          </a:solidFill>
          <a:ln w="12700">
            <a:solidFill>
              <a:srgbClr val="E2E8F0"/>
            </a:solidFill>
            <a:prstDash val="solid"/>
          </a:ln>
        </p:spPr>
      </p:sp>
      <p:sp>
        <p:nvSpPr>
          <p:cNvPr id="63" name="Text 61"/>
          <p:cNvSpPr/>
          <p:nvPr/>
        </p:nvSpPr>
        <p:spPr>
          <a:xfrm>
            <a:off x="4718304" y="3703320"/>
            <a:ext cx="1115568" cy="475488"/>
          </a:xfrm>
          <a:prstGeom prst="rect">
            <a:avLst/>
          </a:prstGeom>
          <a:noFill/>
          <a:ln/>
        </p:spPr>
        <p:txBody>
          <a:bodyPr wrap="square" rtlCol="0" anchor="ctr"/>
          <a:lstStyle/>
          <a:p>
            <a:pPr algn="l" indent="0" marL="0">
              <a:buNone/>
            </a:pPr>
            <a:r>
              <a:rPr lang="en-US" sz="950" dirty="0">
                <a:solidFill>
                  <a:srgbClr val="1E293B"/>
                </a:solidFill>
                <a:latin typeface="Calibri" pitchFamily="34" charset="0"/>
                <a:ea typeface="Calibri" pitchFamily="34" charset="-122"/>
                <a:cs typeface="Calibri" pitchFamily="34" charset="-120"/>
              </a:rPr>
              <a:t>Rev Growth</a:t>
            </a:r>
            <a:endParaRPr lang="en-US" sz="950" dirty="0"/>
          </a:p>
        </p:txBody>
      </p:sp>
      <p:sp>
        <p:nvSpPr>
          <p:cNvPr id="64" name="Shape 62"/>
          <p:cNvSpPr/>
          <p:nvPr/>
        </p:nvSpPr>
        <p:spPr>
          <a:xfrm>
            <a:off x="5925312" y="3703320"/>
            <a:ext cx="731520" cy="475488"/>
          </a:xfrm>
          <a:prstGeom prst="rect">
            <a:avLst/>
          </a:prstGeom>
          <a:solidFill>
            <a:srgbClr val="FFF0F0"/>
          </a:solidFill>
          <a:ln w="12700">
            <a:solidFill>
              <a:srgbClr val="E2E8F0"/>
            </a:solidFill>
            <a:prstDash val="solid"/>
          </a:ln>
        </p:spPr>
      </p:sp>
      <p:sp>
        <p:nvSpPr>
          <p:cNvPr id="65" name="Text 63"/>
          <p:cNvSpPr/>
          <p:nvPr/>
        </p:nvSpPr>
        <p:spPr>
          <a:xfrm>
            <a:off x="5961888" y="3703320"/>
            <a:ext cx="658368" cy="475488"/>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a:t>
            </a:r>
            <a:endParaRPr lang="en-US" sz="950" dirty="0"/>
          </a:p>
        </p:txBody>
      </p:sp>
      <p:sp>
        <p:nvSpPr>
          <p:cNvPr id="66" name="Shape 64"/>
          <p:cNvSpPr/>
          <p:nvPr/>
        </p:nvSpPr>
        <p:spPr>
          <a:xfrm>
            <a:off x="6675120" y="3703320"/>
            <a:ext cx="731520" cy="475488"/>
          </a:xfrm>
          <a:prstGeom prst="rect">
            <a:avLst/>
          </a:prstGeom>
          <a:solidFill>
            <a:srgbClr val="FFF0F0"/>
          </a:solidFill>
          <a:ln w="12700">
            <a:solidFill>
              <a:srgbClr val="E2E8F0"/>
            </a:solidFill>
            <a:prstDash val="solid"/>
          </a:ln>
        </p:spPr>
      </p:sp>
      <p:sp>
        <p:nvSpPr>
          <p:cNvPr id="67" name="Text 65"/>
          <p:cNvSpPr/>
          <p:nvPr/>
        </p:nvSpPr>
        <p:spPr>
          <a:xfrm>
            <a:off x="6711696" y="3703320"/>
            <a:ext cx="658368" cy="475488"/>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11.5%</a:t>
            </a:r>
            <a:endParaRPr lang="en-US" sz="950" dirty="0"/>
          </a:p>
        </p:txBody>
      </p:sp>
      <p:sp>
        <p:nvSpPr>
          <p:cNvPr id="68" name="Shape 66"/>
          <p:cNvSpPr/>
          <p:nvPr/>
        </p:nvSpPr>
        <p:spPr>
          <a:xfrm>
            <a:off x="7424928" y="3703320"/>
            <a:ext cx="731520" cy="475488"/>
          </a:xfrm>
          <a:prstGeom prst="rect">
            <a:avLst/>
          </a:prstGeom>
          <a:solidFill>
            <a:srgbClr val="FFF0F0"/>
          </a:solidFill>
          <a:ln w="12700">
            <a:solidFill>
              <a:srgbClr val="E2E8F0"/>
            </a:solidFill>
            <a:prstDash val="solid"/>
          </a:ln>
        </p:spPr>
      </p:sp>
      <p:sp>
        <p:nvSpPr>
          <p:cNvPr id="69" name="Text 67"/>
          <p:cNvSpPr/>
          <p:nvPr/>
        </p:nvSpPr>
        <p:spPr>
          <a:xfrm>
            <a:off x="7461504" y="3703320"/>
            <a:ext cx="658368" cy="475488"/>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24.2%</a:t>
            </a:r>
            <a:endParaRPr lang="en-US" sz="950" dirty="0"/>
          </a:p>
        </p:txBody>
      </p:sp>
      <p:sp>
        <p:nvSpPr>
          <p:cNvPr id="70" name="Shape 68"/>
          <p:cNvSpPr/>
          <p:nvPr/>
        </p:nvSpPr>
        <p:spPr>
          <a:xfrm>
            <a:off x="8174736" y="3703320"/>
            <a:ext cx="731520" cy="475488"/>
          </a:xfrm>
          <a:prstGeom prst="rect">
            <a:avLst/>
          </a:prstGeom>
          <a:solidFill>
            <a:srgbClr val="FFF0F0"/>
          </a:solidFill>
          <a:ln w="12700">
            <a:solidFill>
              <a:srgbClr val="E2E8F0"/>
            </a:solidFill>
            <a:prstDash val="solid"/>
          </a:ln>
        </p:spPr>
      </p:sp>
      <p:sp>
        <p:nvSpPr>
          <p:cNvPr id="71" name="Text 69"/>
          <p:cNvSpPr/>
          <p:nvPr/>
        </p:nvSpPr>
        <p:spPr>
          <a:xfrm>
            <a:off x="8211312" y="3703320"/>
            <a:ext cx="658368" cy="475488"/>
          </a:xfrm>
          <a:prstGeom prst="rect">
            <a:avLst/>
          </a:prstGeom>
          <a:noFill/>
          <a:ln/>
        </p:spPr>
        <p:txBody>
          <a:bodyPr wrap="square"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25.5%</a:t>
            </a:r>
            <a:endParaRPr lang="en-US" sz="950" dirty="0"/>
          </a:p>
        </p:txBody>
      </p:sp>
      <p:sp>
        <p:nvSpPr>
          <p:cNvPr id="72" name="Text 70"/>
          <p:cNvSpPr/>
          <p:nvPr/>
        </p:nvSpPr>
        <p:spPr>
          <a:xfrm>
            <a:off x="4663440" y="4572000"/>
            <a:ext cx="4206240" cy="201168"/>
          </a:xfrm>
          <a:prstGeom prst="rect">
            <a:avLst/>
          </a:prstGeom>
          <a:noFill/>
          <a:ln/>
        </p:spPr>
        <p:txBody>
          <a:bodyPr wrap="square"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FY21 excluded for clarity — outlier year due to COVID shutdown</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Text 1"/>
          <p:cNvSpPr/>
          <p:nvPr/>
        </p:nvSpPr>
        <p:spPr>
          <a:xfrm>
            <a:off x="320040" y="0"/>
            <a:ext cx="8046720" cy="6583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HISTORICAL FINANCIAL PERFORMANCE  |  FY2020–FY2024</a:t>
            </a:r>
            <a:endParaRPr lang="en-US" sz="1600" dirty="0"/>
          </a:p>
        </p:txBody>
      </p:sp>
      <p:sp>
        <p:nvSpPr>
          <p:cNvPr id="4" name="Text 2"/>
          <p:cNvSpPr/>
          <p:nvPr/>
        </p:nvSpPr>
        <p:spPr>
          <a:xfrm>
            <a:off x="8046720" y="0"/>
            <a:ext cx="914400" cy="658368"/>
          </a:xfrm>
          <a:prstGeom prst="rect">
            <a:avLst/>
          </a:prstGeom>
          <a:noFill/>
          <a:ln/>
        </p:spPr>
        <p:txBody>
          <a:bodyPr wrap="square" rtlCol="0" anchor="ctr"/>
          <a:lstStyle/>
          <a:p>
            <a:pPr algn="r" indent="0" marL="0">
              <a:buNone/>
            </a:pPr>
            <a:r>
              <a:rPr lang="en-US" sz="900" dirty="0">
                <a:solidFill>
                  <a:srgbClr val="AEC6E8"/>
                </a:solidFill>
                <a:latin typeface="Calibri" pitchFamily="34" charset="0"/>
                <a:ea typeface="Calibri" pitchFamily="34" charset="-122"/>
                <a:cs typeface="Calibri" pitchFamily="34" charset="-120"/>
              </a:rPr>
              <a:t>3 / 9</a:t>
            </a:r>
            <a:endParaRPr lang="en-US" sz="900" dirty="0"/>
          </a:p>
        </p:txBody>
      </p:sp>
      <p:graphicFrame>
        <p:nvGraphicFramePr>
          <p:cNvPr id="5" name="Chart 0" descr=""/>
          <p:cNvGraphicFramePr/>
          <p:nvPr/>
        </p:nvGraphicFramePr>
        <p:xfrm>
          <a:off x="256032" y="777240"/>
          <a:ext cx="4206240" cy="28346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663440" y="777240"/>
          <a:ext cx="4206240" cy="283464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256032" y="3703320"/>
            <a:ext cx="8631936" cy="685800"/>
          </a:xfrm>
          <a:prstGeom prst="rect">
            <a:avLst/>
          </a:prstGeom>
          <a:solidFill>
            <a:srgbClr val="EFF6FF"/>
          </a:solidFill>
          <a:ln w="12700">
            <a:solidFill>
              <a:srgbClr val="BFDBFE"/>
            </a:solidFill>
            <a:prstDash val="solid"/>
          </a:ln>
        </p:spPr>
      </p:sp>
      <p:sp>
        <p:nvSpPr>
          <p:cNvPr id="8" name="Text 4"/>
          <p:cNvSpPr/>
          <p:nvPr/>
        </p:nvSpPr>
        <p:spPr>
          <a:xfrm>
            <a:off x="347472" y="3730752"/>
            <a:ext cx="8449056" cy="621792"/>
          </a:xfrm>
          <a:prstGeom prst="rect">
            <a:avLst/>
          </a:prstGeom>
          <a:noFill/>
          <a:ln/>
        </p:spPr>
        <p:txBody>
          <a:bodyPr wrap="square" rtlCol="0" anchor="ctr"/>
          <a:lstStyle/>
          <a:p>
            <a:pPr indent="0" marL="0">
              <a:buNone/>
            </a:pPr>
            <a:r>
              <a:rPr lang="en-US" sz="1000" b="1" dirty="0">
                <a:solidFill>
                  <a:srgbClr val="1B2A4A"/>
                </a:solidFill>
                <a:latin typeface="Calibri" pitchFamily="34" charset="0"/>
                <a:ea typeface="Calibri" pitchFamily="34" charset="-122"/>
                <a:cs typeface="Calibri" pitchFamily="34" charset="-120"/>
              </a:rPr>
              <a:t>What the data shows: </a:t>
            </a:r>
            <a:pPr indent="0" marL="0">
              <a:buNone/>
            </a:pPr>
            <a:r>
              <a:rPr lang="en-US" sz="1000" dirty="0">
                <a:solidFill>
                  <a:srgbClr val="1E293B"/>
                </a:solidFill>
                <a:latin typeface="Calibri" pitchFamily="34" charset="0"/>
                <a:ea typeface="Calibri" pitchFamily="34" charset="-122"/>
                <a:cs typeface="Calibri" pitchFamily="34" charset="-120"/>
              </a:rPr>
              <a:t>Revenue grew at a 5-year CAGR of ~13.6% despite COVID disruption. The company bled losses for 3 years straight — FY2020 through FY2022 — mostly because JLR was hit badly by the global chip shortage. FY2023 was the turnaround year, and FY2024 revenue is the highest in company history. This context matters for the valuation — the EPS used in the comparable analysis is still low relative to where earnings are heading, which is exactly why the P/E ratio was distorted.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Text 1"/>
          <p:cNvSpPr/>
          <p:nvPr/>
        </p:nvSpPr>
        <p:spPr>
          <a:xfrm>
            <a:off x="320040" y="0"/>
            <a:ext cx="8046720" cy="6583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METHOD 1: DCF — ASSUMPTIONS &amp; RATIONALE</a:t>
            </a:r>
            <a:endParaRPr lang="en-US" sz="1600" dirty="0"/>
          </a:p>
        </p:txBody>
      </p:sp>
      <p:sp>
        <p:nvSpPr>
          <p:cNvPr id="4" name="Text 2"/>
          <p:cNvSpPr/>
          <p:nvPr/>
        </p:nvSpPr>
        <p:spPr>
          <a:xfrm>
            <a:off x="8046720" y="0"/>
            <a:ext cx="914400" cy="658368"/>
          </a:xfrm>
          <a:prstGeom prst="rect">
            <a:avLst/>
          </a:prstGeom>
          <a:noFill/>
          <a:ln/>
        </p:spPr>
        <p:txBody>
          <a:bodyPr wrap="square" rtlCol="0" anchor="ctr"/>
          <a:lstStyle/>
          <a:p>
            <a:pPr algn="r" indent="0" marL="0">
              <a:buNone/>
            </a:pPr>
            <a:r>
              <a:rPr lang="en-US" sz="900" dirty="0">
                <a:solidFill>
                  <a:srgbClr val="AEC6E8"/>
                </a:solidFill>
                <a:latin typeface="Calibri" pitchFamily="34" charset="0"/>
                <a:ea typeface="Calibri" pitchFamily="34" charset="-122"/>
                <a:cs typeface="Calibri" pitchFamily="34" charset="-120"/>
              </a:rPr>
              <a:t>4 / 9</a:t>
            </a:r>
            <a:endParaRPr lang="en-US" sz="900" dirty="0"/>
          </a:p>
        </p:txBody>
      </p:sp>
      <p:sp>
        <p:nvSpPr>
          <p:cNvPr id="5" name="Shape 3"/>
          <p:cNvSpPr/>
          <p:nvPr/>
        </p:nvSpPr>
        <p:spPr>
          <a:xfrm>
            <a:off x="256032" y="749808"/>
            <a:ext cx="8631936" cy="292608"/>
          </a:xfrm>
          <a:prstGeom prst="rect">
            <a:avLst/>
          </a:prstGeom>
          <a:solidFill>
            <a:srgbClr val="EFF6FF"/>
          </a:solidFill>
          <a:ln w="12700">
            <a:solidFill>
              <a:srgbClr val="BFDBFE"/>
            </a:solidFill>
            <a:prstDash val="solid"/>
          </a:ln>
        </p:spPr>
      </p:sp>
      <p:sp>
        <p:nvSpPr>
          <p:cNvPr id="6" name="Text 4"/>
          <p:cNvSpPr/>
          <p:nvPr/>
        </p:nvSpPr>
        <p:spPr>
          <a:xfrm>
            <a:off x="347472" y="768096"/>
            <a:ext cx="8449056" cy="256032"/>
          </a:xfrm>
          <a:prstGeom prst="rect">
            <a:avLst/>
          </a:prstGeom>
          <a:noFill/>
          <a:ln/>
        </p:spPr>
        <p:txBody>
          <a:bodyPr wrap="square" rtlCol="0" anchor="ctr"/>
          <a:lstStyle/>
          <a:p>
            <a:pPr indent="0" marL="0">
              <a:buNone/>
            </a:pPr>
            <a:r>
              <a:rPr lang="en-US" sz="1000" i="1" dirty="0">
                <a:solidFill>
                  <a:srgbClr val="1B2A4A"/>
                </a:solidFill>
                <a:latin typeface="Calibri" pitchFamily="34" charset="0"/>
                <a:ea typeface="Calibri" pitchFamily="34" charset="-122"/>
                <a:cs typeface="Calibri" pitchFamily="34" charset="-120"/>
              </a:rPr>
              <a:t>I kept assumptions conservative throughout — no bullish case, just what the historical data reasonably supports.</a:t>
            </a:r>
            <a:endParaRPr lang="en-US" sz="1000" dirty="0"/>
          </a:p>
        </p:txBody>
      </p:sp>
      <p:sp>
        <p:nvSpPr>
          <p:cNvPr id="7" name="Shape 5"/>
          <p:cNvSpPr/>
          <p:nvPr/>
        </p:nvSpPr>
        <p:spPr>
          <a:xfrm>
            <a:off x="256032" y="1078992"/>
            <a:ext cx="2468880" cy="347472"/>
          </a:xfrm>
          <a:prstGeom prst="rect">
            <a:avLst/>
          </a:prstGeom>
          <a:solidFill>
            <a:srgbClr val="1B2A4A"/>
          </a:solidFill>
          <a:ln w="12700">
            <a:solidFill>
              <a:srgbClr val="1B2A4A"/>
            </a:solidFill>
            <a:prstDash val="solid"/>
          </a:ln>
        </p:spPr>
      </p:sp>
      <p:sp>
        <p:nvSpPr>
          <p:cNvPr id="8" name="Text 6"/>
          <p:cNvSpPr/>
          <p:nvPr/>
        </p:nvSpPr>
        <p:spPr>
          <a:xfrm>
            <a:off x="256032" y="1078992"/>
            <a:ext cx="2468880" cy="34747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Assumption</a:t>
            </a:r>
            <a:endParaRPr lang="en-US" sz="1050" dirty="0"/>
          </a:p>
        </p:txBody>
      </p:sp>
      <p:sp>
        <p:nvSpPr>
          <p:cNvPr id="9" name="Shape 7"/>
          <p:cNvSpPr/>
          <p:nvPr/>
        </p:nvSpPr>
        <p:spPr>
          <a:xfrm>
            <a:off x="2761488" y="1078992"/>
            <a:ext cx="1005840" cy="347472"/>
          </a:xfrm>
          <a:prstGeom prst="rect">
            <a:avLst/>
          </a:prstGeom>
          <a:solidFill>
            <a:srgbClr val="1B2A4A"/>
          </a:solidFill>
          <a:ln w="12700">
            <a:solidFill>
              <a:srgbClr val="1B2A4A"/>
            </a:solidFill>
            <a:prstDash val="solid"/>
          </a:ln>
        </p:spPr>
      </p:sp>
      <p:sp>
        <p:nvSpPr>
          <p:cNvPr id="10" name="Text 8"/>
          <p:cNvSpPr/>
          <p:nvPr/>
        </p:nvSpPr>
        <p:spPr>
          <a:xfrm>
            <a:off x="2761488" y="1078992"/>
            <a:ext cx="1005840" cy="34747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FY2025F</a:t>
            </a:r>
            <a:endParaRPr lang="en-US" sz="1050" dirty="0"/>
          </a:p>
        </p:txBody>
      </p:sp>
      <p:sp>
        <p:nvSpPr>
          <p:cNvPr id="11" name="Shape 9"/>
          <p:cNvSpPr/>
          <p:nvPr/>
        </p:nvSpPr>
        <p:spPr>
          <a:xfrm>
            <a:off x="3803904" y="1078992"/>
            <a:ext cx="1005840" cy="347472"/>
          </a:xfrm>
          <a:prstGeom prst="rect">
            <a:avLst/>
          </a:prstGeom>
          <a:solidFill>
            <a:srgbClr val="1B2A4A"/>
          </a:solidFill>
          <a:ln w="12700">
            <a:solidFill>
              <a:srgbClr val="1B2A4A"/>
            </a:solidFill>
            <a:prstDash val="solid"/>
          </a:ln>
        </p:spPr>
      </p:sp>
      <p:sp>
        <p:nvSpPr>
          <p:cNvPr id="12" name="Text 10"/>
          <p:cNvSpPr/>
          <p:nvPr/>
        </p:nvSpPr>
        <p:spPr>
          <a:xfrm>
            <a:off x="3803904" y="1078992"/>
            <a:ext cx="1005840" cy="34747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FY2026F</a:t>
            </a:r>
            <a:endParaRPr lang="en-US" sz="1050" dirty="0"/>
          </a:p>
        </p:txBody>
      </p:sp>
      <p:sp>
        <p:nvSpPr>
          <p:cNvPr id="13" name="Shape 11"/>
          <p:cNvSpPr/>
          <p:nvPr/>
        </p:nvSpPr>
        <p:spPr>
          <a:xfrm>
            <a:off x="4846320" y="1078992"/>
            <a:ext cx="1005840" cy="347472"/>
          </a:xfrm>
          <a:prstGeom prst="rect">
            <a:avLst/>
          </a:prstGeom>
          <a:solidFill>
            <a:srgbClr val="1B2A4A"/>
          </a:solidFill>
          <a:ln w="12700">
            <a:solidFill>
              <a:srgbClr val="1B2A4A"/>
            </a:solidFill>
            <a:prstDash val="solid"/>
          </a:ln>
        </p:spPr>
      </p:sp>
      <p:sp>
        <p:nvSpPr>
          <p:cNvPr id="14" name="Text 12"/>
          <p:cNvSpPr/>
          <p:nvPr/>
        </p:nvSpPr>
        <p:spPr>
          <a:xfrm>
            <a:off x="4846320" y="1078992"/>
            <a:ext cx="1005840" cy="34747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FY2027F</a:t>
            </a:r>
            <a:endParaRPr lang="en-US" sz="1050" dirty="0"/>
          </a:p>
        </p:txBody>
      </p:sp>
      <p:sp>
        <p:nvSpPr>
          <p:cNvPr id="15" name="Shape 13"/>
          <p:cNvSpPr/>
          <p:nvPr/>
        </p:nvSpPr>
        <p:spPr>
          <a:xfrm>
            <a:off x="5888736" y="1078992"/>
            <a:ext cx="2999232" cy="347472"/>
          </a:xfrm>
          <a:prstGeom prst="rect">
            <a:avLst/>
          </a:prstGeom>
          <a:solidFill>
            <a:srgbClr val="1B2A4A"/>
          </a:solidFill>
          <a:ln w="12700">
            <a:solidFill>
              <a:srgbClr val="1B2A4A"/>
            </a:solidFill>
            <a:prstDash val="solid"/>
          </a:ln>
        </p:spPr>
      </p:sp>
      <p:sp>
        <p:nvSpPr>
          <p:cNvPr id="16" name="Text 14"/>
          <p:cNvSpPr/>
          <p:nvPr/>
        </p:nvSpPr>
        <p:spPr>
          <a:xfrm>
            <a:off x="5888736" y="1078992"/>
            <a:ext cx="2999232" cy="347472"/>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My Reasoning</a:t>
            </a:r>
            <a:endParaRPr lang="en-US" sz="1050" dirty="0"/>
          </a:p>
        </p:txBody>
      </p:sp>
      <p:sp>
        <p:nvSpPr>
          <p:cNvPr id="17" name="Shape 15"/>
          <p:cNvSpPr/>
          <p:nvPr/>
        </p:nvSpPr>
        <p:spPr>
          <a:xfrm>
            <a:off x="256032" y="1463040"/>
            <a:ext cx="2468880" cy="493776"/>
          </a:xfrm>
          <a:prstGeom prst="rect">
            <a:avLst/>
          </a:prstGeom>
          <a:solidFill>
            <a:srgbClr val="FFFFFF"/>
          </a:solidFill>
          <a:ln w="12700">
            <a:solidFill>
              <a:srgbClr val="E2E8F0"/>
            </a:solidFill>
            <a:prstDash val="solid"/>
          </a:ln>
        </p:spPr>
      </p:sp>
      <p:sp>
        <p:nvSpPr>
          <p:cNvPr id="18" name="Text 16"/>
          <p:cNvSpPr/>
          <p:nvPr/>
        </p:nvSpPr>
        <p:spPr>
          <a:xfrm>
            <a:off x="310896" y="1463040"/>
            <a:ext cx="2359152" cy="493776"/>
          </a:xfrm>
          <a:prstGeom prst="rect">
            <a:avLst/>
          </a:prstGeom>
          <a:noFill/>
          <a:ln/>
        </p:spPr>
        <p:txBody>
          <a:bodyPr wrap="square" lIns="50800" tIns="50800" rIns="50800" bIns="5080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Revenue Growth</a:t>
            </a:r>
            <a:endParaRPr lang="en-US" sz="1050" dirty="0"/>
          </a:p>
        </p:txBody>
      </p:sp>
      <p:sp>
        <p:nvSpPr>
          <p:cNvPr id="19" name="Shape 17"/>
          <p:cNvSpPr/>
          <p:nvPr/>
        </p:nvSpPr>
        <p:spPr>
          <a:xfrm>
            <a:off x="2761488" y="1463040"/>
            <a:ext cx="1005840" cy="493776"/>
          </a:xfrm>
          <a:prstGeom prst="rect">
            <a:avLst/>
          </a:prstGeom>
          <a:solidFill>
            <a:srgbClr val="FFFFFF"/>
          </a:solidFill>
          <a:ln w="12700">
            <a:solidFill>
              <a:srgbClr val="E2E8F0"/>
            </a:solidFill>
            <a:prstDash val="solid"/>
          </a:ln>
        </p:spPr>
      </p:sp>
      <p:sp>
        <p:nvSpPr>
          <p:cNvPr id="20" name="Text 18"/>
          <p:cNvSpPr/>
          <p:nvPr/>
        </p:nvSpPr>
        <p:spPr>
          <a:xfrm>
            <a:off x="2761488" y="1463040"/>
            <a:ext cx="1005840" cy="493776"/>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10.4%</a:t>
            </a:r>
            <a:endParaRPr lang="en-US" sz="1100" dirty="0"/>
          </a:p>
        </p:txBody>
      </p:sp>
      <p:sp>
        <p:nvSpPr>
          <p:cNvPr id="21" name="Shape 19"/>
          <p:cNvSpPr/>
          <p:nvPr/>
        </p:nvSpPr>
        <p:spPr>
          <a:xfrm>
            <a:off x="3803904" y="1463040"/>
            <a:ext cx="1005840" cy="493776"/>
          </a:xfrm>
          <a:prstGeom prst="rect">
            <a:avLst/>
          </a:prstGeom>
          <a:solidFill>
            <a:srgbClr val="FFFFFF"/>
          </a:solidFill>
          <a:ln w="12700">
            <a:solidFill>
              <a:srgbClr val="E2E8F0"/>
            </a:solidFill>
            <a:prstDash val="solid"/>
          </a:ln>
        </p:spPr>
      </p:sp>
      <p:sp>
        <p:nvSpPr>
          <p:cNvPr id="22" name="Text 20"/>
          <p:cNvSpPr/>
          <p:nvPr/>
        </p:nvSpPr>
        <p:spPr>
          <a:xfrm>
            <a:off x="3803904" y="1463040"/>
            <a:ext cx="1005840" cy="493776"/>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10.4%</a:t>
            </a:r>
            <a:endParaRPr lang="en-US" sz="1100" dirty="0"/>
          </a:p>
        </p:txBody>
      </p:sp>
      <p:sp>
        <p:nvSpPr>
          <p:cNvPr id="23" name="Shape 21"/>
          <p:cNvSpPr/>
          <p:nvPr/>
        </p:nvSpPr>
        <p:spPr>
          <a:xfrm>
            <a:off x="4846320" y="1463040"/>
            <a:ext cx="1005840" cy="493776"/>
          </a:xfrm>
          <a:prstGeom prst="rect">
            <a:avLst/>
          </a:prstGeom>
          <a:solidFill>
            <a:srgbClr val="FFFFFF"/>
          </a:solidFill>
          <a:ln w="12700">
            <a:solidFill>
              <a:srgbClr val="E2E8F0"/>
            </a:solidFill>
            <a:prstDash val="solid"/>
          </a:ln>
        </p:spPr>
      </p:sp>
      <p:sp>
        <p:nvSpPr>
          <p:cNvPr id="24" name="Text 22"/>
          <p:cNvSpPr/>
          <p:nvPr/>
        </p:nvSpPr>
        <p:spPr>
          <a:xfrm>
            <a:off x="4846320" y="1463040"/>
            <a:ext cx="1005840" cy="493776"/>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10.4%</a:t>
            </a:r>
            <a:endParaRPr lang="en-US" sz="1100" dirty="0"/>
          </a:p>
        </p:txBody>
      </p:sp>
      <p:sp>
        <p:nvSpPr>
          <p:cNvPr id="25" name="Shape 23"/>
          <p:cNvSpPr/>
          <p:nvPr/>
        </p:nvSpPr>
        <p:spPr>
          <a:xfrm>
            <a:off x="5888736" y="1463040"/>
            <a:ext cx="2999232" cy="493776"/>
          </a:xfrm>
          <a:prstGeom prst="rect">
            <a:avLst/>
          </a:prstGeom>
          <a:solidFill>
            <a:srgbClr val="FFFFFF"/>
          </a:solidFill>
          <a:ln w="12700">
            <a:solidFill>
              <a:srgbClr val="E2E8F0"/>
            </a:solidFill>
            <a:prstDash val="solid"/>
          </a:ln>
        </p:spPr>
      </p:sp>
      <p:sp>
        <p:nvSpPr>
          <p:cNvPr id="26" name="Text 24"/>
          <p:cNvSpPr/>
          <p:nvPr/>
        </p:nvSpPr>
        <p:spPr>
          <a:xfrm>
            <a:off x="5943600" y="1463040"/>
            <a:ext cx="2907792" cy="493776"/>
          </a:xfrm>
          <a:prstGeom prst="rect">
            <a:avLst/>
          </a:prstGeom>
          <a:noFill/>
          <a:ln/>
        </p:spPr>
        <p:txBody>
          <a:bodyPr wrap="square" lIns="50800" tIns="50800" rIns="50800" bIns="50800" rtlCol="0" anchor="ctr"/>
          <a:lstStyle/>
          <a:p>
            <a:pPr indent="0" marL="0">
              <a:buNone/>
            </a:pPr>
            <a:r>
              <a:rPr lang="en-US" sz="950" dirty="0">
                <a:solidFill>
                  <a:srgbClr val="64748B"/>
                </a:solidFill>
                <a:latin typeface="Calibri" pitchFamily="34" charset="0"/>
                <a:ea typeface="Calibri" pitchFamily="34" charset="-122"/>
                <a:cs typeface="Calibri" pitchFamily="34" charset="-120"/>
              </a:rPr>
              <a:t>Used the 4-year historical average — felt safer than picking a number and did not want to assume growth would accelerate from here</a:t>
            </a:r>
            <a:endParaRPr lang="en-US" sz="950" dirty="0"/>
          </a:p>
        </p:txBody>
      </p:sp>
      <p:sp>
        <p:nvSpPr>
          <p:cNvPr id="27" name="Shape 25"/>
          <p:cNvSpPr/>
          <p:nvPr/>
        </p:nvSpPr>
        <p:spPr>
          <a:xfrm>
            <a:off x="256032" y="1975104"/>
            <a:ext cx="2468880" cy="493776"/>
          </a:xfrm>
          <a:prstGeom prst="rect">
            <a:avLst/>
          </a:prstGeom>
          <a:solidFill>
            <a:srgbClr val="F0F4FF"/>
          </a:solidFill>
          <a:ln w="12700">
            <a:solidFill>
              <a:srgbClr val="E2E8F0"/>
            </a:solidFill>
            <a:prstDash val="solid"/>
          </a:ln>
        </p:spPr>
      </p:sp>
      <p:sp>
        <p:nvSpPr>
          <p:cNvPr id="28" name="Text 26"/>
          <p:cNvSpPr/>
          <p:nvPr/>
        </p:nvSpPr>
        <p:spPr>
          <a:xfrm>
            <a:off x="310896" y="1975104"/>
            <a:ext cx="2359152" cy="493776"/>
          </a:xfrm>
          <a:prstGeom prst="rect">
            <a:avLst/>
          </a:prstGeom>
          <a:noFill/>
          <a:ln/>
        </p:spPr>
        <p:txBody>
          <a:bodyPr wrap="square" lIns="50800" tIns="50800" rIns="50800" bIns="5080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EBIT Margin</a:t>
            </a:r>
            <a:endParaRPr lang="en-US" sz="1050" dirty="0"/>
          </a:p>
        </p:txBody>
      </p:sp>
      <p:sp>
        <p:nvSpPr>
          <p:cNvPr id="29" name="Shape 27"/>
          <p:cNvSpPr/>
          <p:nvPr/>
        </p:nvSpPr>
        <p:spPr>
          <a:xfrm>
            <a:off x="2761488" y="1975104"/>
            <a:ext cx="1005840" cy="493776"/>
          </a:xfrm>
          <a:prstGeom prst="rect">
            <a:avLst/>
          </a:prstGeom>
          <a:solidFill>
            <a:srgbClr val="F0F4FF"/>
          </a:solidFill>
          <a:ln w="12700">
            <a:solidFill>
              <a:srgbClr val="E2E8F0"/>
            </a:solidFill>
            <a:prstDash val="solid"/>
          </a:ln>
        </p:spPr>
      </p:sp>
      <p:sp>
        <p:nvSpPr>
          <p:cNvPr id="30" name="Text 28"/>
          <p:cNvSpPr/>
          <p:nvPr/>
        </p:nvSpPr>
        <p:spPr>
          <a:xfrm>
            <a:off x="2761488" y="1975104"/>
            <a:ext cx="1005840" cy="493776"/>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15.9% → 13.9%</a:t>
            </a:r>
            <a:endParaRPr lang="en-US" sz="1100" dirty="0"/>
          </a:p>
        </p:txBody>
      </p:sp>
      <p:sp>
        <p:nvSpPr>
          <p:cNvPr id="31" name="Shape 29"/>
          <p:cNvSpPr/>
          <p:nvPr/>
        </p:nvSpPr>
        <p:spPr>
          <a:xfrm>
            <a:off x="3803904" y="1975104"/>
            <a:ext cx="1005840" cy="493776"/>
          </a:xfrm>
          <a:prstGeom prst="rect">
            <a:avLst/>
          </a:prstGeom>
          <a:solidFill>
            <a:srgbClr val="F0F4FF"/>
          </a:solidFill>
          <a:ln w="12700">
            <a:solidFill>
              <a:srgbClr val="E2E8F0"/>
            </a:solidFill>
            <a:prstDash val="solid"/>
          </a:ln>
        </p:spPr>
      </p:sp>
      <p:sp>
        <p:nvSpPr>
          <p:cNvPr id="32" name="Text 30"/>
          <p:cNvSpPr/>
          <p:nvPr/>
        </p:nvSpPr>
        <p:spPr>
          <a:xfrm>
            <a:off x="3803904" y="1975104"/>
            <a:ext cx="1005840" cy="493776"/>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13.9%</a:t>
            </a:r>
            <a:endParaRPr lang="en-US" sz="1100" dirty="0"/>
          </a:p>
        </p:txBody>
      </p:sp>
      <p:sp>
        <p:nvSpPr>
          <p:cNvPr id="33" name="Shape 31"/>
          <p:cNvSpPr/>
          <p:nvPr/>
        </p:nvSpPr>
        <p:spPr>
          <a:xfrm>
            <a:off x="4846320" y="1975104"/>
            <a:ext cx="1005840" cy="493776"/>
          </a:xfrm>
          <a:prstGeom prst="rect">
            <a:avLst/>
          </a:prstGeom>
          <a:solidFill>
            <a:srgbClr val="F0F4FF"/>
          </a:solidFill>
          <a:ln w="12700">
            <a:solidFill>
              <a:srgbClr val="E2E8F0"/>
            </a:solidFill>
            <a:prstDash val="solid"/>
          </a:ln>
        </p:spPr>
      </p:sp>
      <p:sp>
        <p:nvSpPr>
          <p:cNvPr id="34" name="Text 32"/>
          <p:cNvSpPr/>
          <p:nvPr/>
        </p:nvSpPr>
        <p:spPr>
          <a:xfrm>
            <a:off x="4846320" y="1975104"/>
            <a:ext cx="1005840" cy="493776"/>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13.9%</a:t>
            </a:r>
            <a:endParaRPr lang="en-US" sz="1100" dirty="0"/>
          </a:p>
        </p:txBody>
      </p:sp>
      <p:sp>
        <p:nvSpPr>
          <p:cNvPr id="35" name="Shape 33"/>
          <p:cNvSpPr/>
          <p:nvPr/>
        </p:nvSpPr>
        <p:spPr>
          <a:xfrm>
            <a:off x="5888736" y="1975104"/>
            <a:ext cx="2999232" cy="493776"/>
          </a:xfrm>
          <a:prstGeom prst="rect">
            <a:avLst/>
          </a:prstGeom>
          <a:solidFill>
            <a:srgbClr val="F0F4FF"/>
          </a:solidFill>
          <a:ln w="12700">
            <a:solidFill>
              <a:srgbClr val="E2E8F0"/>
            </a:solidFill>
            <a:prstDash val="solid"/>
          </a:ln>
        </p:spPr>
      </p:sp>
      <p:sp>
        <p:nvSpPr>
          <p:cNvPr id="36" name="Text 34"/>
          <p:cNvSpPr/>
          <p:nvPr/>
        </p:nvSpPr>
        <p:spPr>
          <a:xfrm>
            <a:off x="5943600" y="1975104"/>
            <a:ext cx="2907792" cy="493776"/>
          </a:xfrm>
          <a:prstGeom prst="rect">
            <a:avLst/>
          </a:prstGeom>
          <a:noFill/>
          <a:ln/>
        </p:spPr>
        <p:txBody>
          <a:bodyPr wrap="square" lIns="50800" tIns="50800" rIns="50800" bIns="50800" rtlCol="0" anchor="ctr"/>
          <a:lstStyle/>
          <a:p>
            <a:pPr indent="0" marL="0">
              <a:buNone/>
            </a:pPr>
            <a:r>
              <a:rPr lang="en-US" sz="950" dirty="0">
                <a:solidFill>
                  <a:srgbClr val="64748B"/>
                </a:solidFill>
                <a:latin typeface="Calibri" pitchFamily="34" charset="0"/>
                <a:ea typeface="Calibri" pitchFamily="34" charset="-122"/>
                <a:cs typeface="Calibri" pitchFamily="34" charset="-120"/>
              </a:rPr>
              <a:t>FY24 margin looked elevated compared to earlier years so I pulled it down slightly — JLR margins tend to be cyclical</a:t>
            </a:r>
            <a:endParaRPr lang="en-US" sz="950" dirty="0"/>
          </a:p>
        </p:txBody>
      </p:sp>
      <p:sp>
        <p:nvSpPr>
          <p:cNvPr id="37" name="Shape 35"/>
          <p:cNvSpPr/>
          <p:nvPr/>
        </p:nvSpPr>
        <p:spPr>
          <a:xfrm>
            <a:off x="256032" y="2487168"/>
            <a:ext cx="2468880" cy="493776"/>
          </a:xfrm>
          <a:prstGeom prst="rect">
            <a:avLst/>
          </a:prstGeom>
          <a:solidFill>
            <a:srgbClr val="FFFFFF"/>
          </a:solidFill>
          <a:ln w="12700">
            <a:solidFill>
              <a:srgbClr val="E2E8F0"/>
            </a:solidFill>
            <a:prstDash val="solid"/>
          </a:ln>
        </p:spPr>
      </p:sp>
      <p:sp>
        <p:nvSpPr>
          <p:cNvPr id="38" name="Text 36"/>
          <p:cNvSpPr/>
          <p:nvPr/>
        </p:nvSpPr>
        <p:spPr>
          <a:xfrm>
            <a:off x="310896" y="2487168"/>
            <a:ext cx="2359152" cy="493776"/>
          </a:xfrm>
          <a:prstGeom prst="rect">
            <a:avLst/>
          </a:prstGeom>
          <a:noFill/>
          <a:ln/>
        </p:spPr>
        <p:txBody>
          <a:bodyPr wrap="square" lIns="50800" tIns="50800" rIns="50800" bIns="5080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Depreciation</a:t>
            </a:r>
            <a:endParaRPr lang="en-US" sz="1050" dirty="0"/>
          </a:p>
        </p:txBody>
      </p:sp>
      <p:sp>
        <p:nvSpPr>
          <p:cNvPr id="39" name="Shape 37"/>
          <p:cNvSpPr/>
          <p:nvPr/>
        </p:nvSpPr>
        <p:spPr>
          <a:xfrm>
            <a:off x="2761488" y="2487168"/>
            <a:ext cx="1005840" cy="493776"/>
          </a:xfrm>
          <a:prstGeom prst="rect">
            <a:avLst/>
          </a:prstGeom>
          <a:solidFill>
            <a:srgbClr val="FFFFFF"/>
          </a:solidFill>
          <a:ln w="12700">
            <a:solidFill>
              <a:srgbClr val="E2E8F0"/>
            </a:solidFill>
            <a:prstDash val="solid"/>
          </a:ln>
        </p:spPr>
      </p:sp>
      <p:sp>
        <p:nvSpPr>
          <p:cNvPr id="40" name="Text 38"/>
          <p:cNvSpPr/>
          <p:nvPr/>
        </p:nvSpPr>
        <p:spPr>
          <a:xfrm>
            <a:off x="2761488" y="2487168"/>
            <a:ext cx="1005840" cy="493776"/>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6% of rev</a:t>
            </a:r>
            <a:endParaRPr lang="en-US" sz="1100" dirty="0"/>
          </a:p>
        </p:txBody>
      </p:sp>
      <p:sp>
        <p:nvSpPr>
          <p:cNvPr id="41" name="Shape 39"/>
          <p:cNvSpPr/>
          <p:nvPr/>
        </p:nvSpPr>
        <p:spPr>
          <a:xfrm>
            <a:off x="3803904" y="2487168"/>
            <a:ext cx="1005840" cy="493776"/>
          </a:xfrm>
          <a:prstGeom prst="rect">
            <a:avLst/>
          </a:prstGeom>
          <a:solidFill>
            <a:srgbClr val="FFFFFF"/>
          </a:solidFill>
          <a:ln w="12700">
            <a:solidFill>
              <a:srgbClr val="E2E8F0"/>
            </a:solidFill>
            <a:prstDash val="solid"/>
          </a:ln>
        </p:spPr>
      </p:sp>
      <p:sp>
        <p:nvSpPr>
          <p:cNvPr id="42" name="Text 40"/>
          <p:cNvSpPr/>
          <p:nvPr/>
        </p:nvSpPr>
        <p:spPr>
          <a:xfrm>
            <a:off x="3803904" y="2487168"/>
            <a:ext cx="1005840" cy="493776"/>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6% of rev</a:t>
            </a:r>
            <a:endParaRPr lang="en-US" sz="1100" dirty="0"/>
          </a:p>
        </p:txBody>
      </p:sp>
      <p:sp>
        <p:nvSpPr>
          <p:cNvPr id="43" name="Shape 41"/>
          <p:cNvSpPr/>
          <p:nvPr/>
        </p:nvSpPr>
        <p:spPr>
          <a:xfrm>
            <a:off x="4846320" y="2487168"/>
            <a:ext cx="1005840" cy="493776"/>
          </a:xfrm>
          <a:prstGeom prst="rect">
            <a:avLst/>
          </a:prstGeom>
          <a:solidFill>
            <a:srgbClr val="FFFFFF"/>
          </a:solidFill>
          <a:ln w="12700">
            <a:solidFill>
              <a:srgbClr val="E2E8F0"/>
            </a:solidFill>
            <a:prstDash val="solid"/>
          </a:ln>
        </p:spPr>
      </p:sp>
      <p:sp>
        <p:nvSpPr>
          <p:cNvPr id="44" name="Text 42"/>
          <p:cNvSpPr/>
          <p:nvPr/>
        </p:nvSpPr>
        <p:spPr>
          <a:xfrm>
            <a:off x="4846320" y="2487168"/>
            <a:ext cx="1005840" cy="493776"/>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6% of rev</a:t>
            </a:r>
            <a:endParaRPr lang="en-US" sz="1100" dirty="0"/>
          </a:p>
        </p:txBody>
      </p:sp>
      <p:sp>
        <p:nvSpPr>
          <p:cNvPr id="45" name="Shape 43"/>
          <p:cNvSpPr/>
          <p:nvPr/>
        </p:nvSpPr>
        <p:spPr>
          <a:xfrm>
            <a:off x="5888736" y="2487168"/>
            <a:ext cx="2999232" cy="493776"/>
          </a:xfrm>
          <a:prstGeom prst="rect">
            <a:avLst/>
          </a:prstGeom>
          <a:solidFill>
            <a:srgbClr val="FFFFFF"/>
          </a:solidFill>
          <a:ln w="12700">
            <a:solidFill>
              <a:srgbClr val="E2E8F0"/>
            </a:solidFill>
            <a:prstDash val="solid"/>
          </a:ln>
        </p:spPr>
      </p:sp>
      <p:sp>
        <p:nvSpPr>
          <p:cNvPr id="46" name="Text 44"/>
          <p:cNvSpPr/>
          <p:nvPr/>
        </p:nvSpPr>
        <p:spPr>
          <a:xfrm>
            <a:off x="5943600" y="2487168"/>
            <a:ext cx="2907792" cy="493776"/>
          </a:xfrm>
          <a:prstGeom prst="rect">
            <a:avLst/>
          </a:prstGeom>
          <a:noFill/>
          <a:ln/>
        </p:spPr>
        <p:txBody>
          <a:bodyPr wrap="square" lIns="50800" tIns="50800" rIns="50800" bIns="50800" rtlCol="0" anchor="ctr"/>
          <a:lstStyle/>
          <a:p>
            <a:pPr indent="0" marL="0">
              <a:buNone/>
            </a:pPr>
            <a:r>
              <a:rPr lang="en-US" sz="950" dirty="0">
                <a:solidFill>
                  <a:srgbClr val="64748B"/>
                </a:solidFill>
                <a:latin typeface="Calibri" pitchFamily="34" charset="0"/>
                <a:ea typeface="Calibri" pitchFamily="34" charset="-122"/>
                <a:cs typeface="Calibri" pitchFamily="34" charset="-120"/>
              </a:rPr>
              <a:t>Roughly consistent with FY23 actuals; did not have a strong reason to change it</a:t>
            </a:r>
            <a:endParaRPr lang="en-US" sz="950" dirty="0"/>
          </a:p>
        </p:txBody>
      </p:sp>
      <p:sp>
        <p:nvSpPr>
          <p:cNvPr id="47" name="Shape 45"/>
          <p:cNvSpPr/>
          <p:nvPr/>
        </p:nvSpPr>
        <p:spPr>
          <a:xfrm>
            <a:off x="256032" y="2999232"/>
            <a:ext cx="2468880" cy="493776"/>
          </a:xfrm>
          <a:prstGeom prst="rect">
            <a:avLst/>
          </a:prstGeom>
          <a:solidFill>
            <a:srgbClr val="F0F4FF"/>
          </a:solidFill>
          <a:ln w="12700">
            <a:solidFill>
              <a:srgbClr val="E2E8F0"/>
            </a:solidFill>
            <a:prstDash val="solid"/>
          </a:ln>
        </p:spPr>
      </p:sp>
      <p:sp>
        <p:nvSpPr>
          <p:cNvPr id="48" name="Text 46"/>
          <p:cNvSpPr/>
          <p:nvPr/>
        </p:nvSpPr>
        <p:spPr>
          <a:xfrm>
            <a:off x="310896" y="2999232"/>
            <a:ext cx="2359152" cy="493776"/>
          </a:xfrm>
          <a:prstGeom prst="rect">
            <a:avLst/>
          </a:prstGeom>
          <a:noFill/>
          <a:ln/>
        </p:spPr>
        <p:txBody>
          <a:bodyPr wrap="square" lIns="50800" tIns="50800" rIns="50800" bIns="5080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Capex</a:t>
            </a:r>
            <a:endParaRPr lang="en-US" sz="1050" dirty="0"/>
          </a:p>
        </p:txBody>
      </p:sp>
      <p:sp>
        <p:nvSpPr>
          <p:cNvPr id="49" name="Shape 47"/>
          <p:cNvSpPr/>
          <p:nvPr/>
        </p:nvSpPr>
        <p:spPr>
          <a:xfrm>
            <a:off x="2761488" y="2999232"/>
            <a:ext cx="1005840" cy="493776"/>
          </a:xfrm>
          <a:prstGeom prst="rect">
            <a:avLst/>
          </a:prstGeom>
          <a:solidFill>
            <a:srgbClr val="F0F4FF"/>
          </a:solidFill>
          <a:ln w="12700">
            <a:solidFill>
              <a:srgbClr val="E2E8F0"/>
            </a:solidFill>
            <a:prstDash val="solid"/>
          </a:ln>
        </p:spPr>
      </p:sp>
      <p:sp>
        <p:nvSpPr>
          <p:cNvPr id="50" name="Text 48"/>
          <p:cNvSpPr/>
          <p:nvPr/>
        </p:nvSpPr>
        <p:spPr>
          <a:xfrm>
            <a:off x="2761488" y="2999232"/>
            <a:ext cx="1005840" cy="493776"/>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8.8% of rev</a:t>
            </a:r>
            <a:endParaRPr lang="en-US" sz="1100" dirty="0"/>
          </a:p>
        </p:txBody>
      </p:sp>
      <p:sp>
        <p:nvSpPr>
          <p:cNvPr id="51" name="Shape 49"/>
          <p:cNvSpPr/>
          <p:nvPr/>
        </p:nvSpPr>
        <p:spPr>
          <a:xfrm>
            <a:off x="3803904" y="2999232"/>
            <a:ext cx="1005840" cy="493776"/>
          </a:xfrm>
          <a:prstGeom prst="rect">
            <a:avLst/>
          </a:prstGeom>
          <a:solidFill>
            <a:srgbClr val="F0F4FF"/>
          </a:solidFill>
          <a:ln w="12700">
            <a:solidFill>
              <a:srgbClr val="E2E8F0"/>
            </a:solidFill>
            <a:prstDash val="solid"/>
          </a:ln>
        </p:spPr>
      </p:sp>
      <p:sp>
        <p:nvSpPr>
          <p:cNvPr id="52" name="Text 50"/>
          <p:cNvSpPr/>
          <p:nvPr/>
        </p:nvSpPr>
        <p:spPr>
          <a:xfrm>
            <a:off x="3803904" y="2999232"/>
            <a:ext cx="1005840" cy="493776"/>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8.8% of rev</a:t>
            </a:r>
            <a:endParaRPr lang="en-US" sz="1100" dirty="0"/>
          </a:p>
        </p:txBody>
      </p:sp>
      <p:sp>
        <p:nvSpPr>
          <p:cNvPr id="53" name="Shape 51"/>
          <p:cNvSpPr/>
          <p:nvPr/>
        </p:nvSpPr>
        <p:spPr>
          <a:xfrm>
            <a:off x="4846320" y="2999232"/>
            <a:ext cx="1005840" cy="493776"/>
          </a:xfrm>
          <a:prstGeom prst="rect">
            <a:avLst/>
          </a:prstGeom>
          <a:solidFill>
            <a:srgbClr val="F0F4FF"/>
          </a:solidFill>
          <a:ln w="12700">
            <a:solidFill>
              <a:srgbClr val="E2E8F0"/>
            </a:solidFill>
            <a:prstDash val="solid"/>
          </a:ln>
        </p:spPr>
      </p:sp>
      <p:sp>
        <p:nvSpPr>
          <p:cNvPr id="54" name="Text 52"/>
          <p:cNvSpPr/>
          <p:nvPr/>
        </p:nvSpPr>
        <p:spPr>
          <a:xfrm>
            <a:off x="4846320" y="2999232"/>
            <a:ext cx="1005840" cy="493776"/>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8.8% of rev</a:t>
            </a:r>
            <a:endParaRPr lang="en-US" sz="1100" dirty="0"/>
          </a:p>
        </p:txBody>
      </p:sp>
      <p:sp>
        <p:nvSpPr>
          <p:cNvPr id="55" name="Shape 53"/>
          <p:cNvSpPr/>
          <p:nvPr/>
        </p:nvSpPr>
        <p:spPr>
          <a:xfrm>
            <a:off x="5888736" y="2999232"/>
            <a:ext cx="2999232" cy="493776"/>
          </a:xfrm>
          <a:prstGeom prst="rect">
            <a:avLst/>
          </a:prstGeom>
          <a:solidFill>
            <a:srgbClr val="F0F4FF"/>
          </a:solidFill>
          <a:ln w="12700">
            <a:solidFill>
              <a:srgbClr val="E2E8F0"/>
            </a:solidFill>
            <a:prstDash val="solid"/>
          </a:ln>
        </p:spPr>
      </p:sp>
      <p:sp>
        <p:nvSpPr>
          <p:cNvPr id="56" name="Text 54"/>
          <p:cNvSpPr/>
          <p:nvPr/>
        </p:nvSpPr>
        <p:spPr>
          <a:xfrm>
            <a:off x="5943600" y="2999232"/>
            <a:ext cx="2907792" cy="493776"/>
          </a:xfrm>
          <a:prstGeom prst="rect">
            <a:avLst/>
          </a:prstGeom>
          <a:noFill/>
          <a:ln/>
        </p:spPr>
        <p:txBody>
          <a:bodyPr wrap="square" lIns="50800" tIns="50800" rIns="50800" bIns="5080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Averaged FY20–24 capex/revenue — auto is capex-heavy and this was always going to be a big drag on FCF</a:t>
            </a:r>
            <a:endParaRPr lang="en-US" sz="950" dirty="0"/>
          </a:p>
        </p:txBody>
      </p:sp>
      <p:sp>
        <p:nvSpPr>
          <p:cNvPr id="57" name="Shape 55"/>
          <p:cNvSpPr/>
          <p:nvPr/>
        </p:nvSpPr>
        <p:spPr>
          <a:xfrm>
            <a:off x="256032" y="3511296"/>
            <a:ext cx="2468880" cy="493776"/>
          </a:xfrm>
          <a:prstGeom prst="rect">
            <a:avLst/>
          </a:prstGeom>
          <a:solidFill>
            <a:srgbClr val="FFFFFF"/>
          </a:solidFill>
          <a:ln w="12700">
            <a:solidFill>
              <a:srgbClr val="E2E8F0"/>
            </a:solidFill>
            <a:prstDash val="solid"/>
          </a:ln>
        </p:spPr>
      </p:sp>
      <p:sp>
        <p:nvSpPr>
          <p:cNvPr id="58" name="Text 56"/>
          <p:cNvSpPr/>
          <p:nvPr/>
        </p:nvSpPr>
        <p:spPr>
          <a:xfrm>
            <a:off x="310896" y="3511296"/>
            <a:ext cx="2359152" cy="493776"/>
          </a:xfrm>
          <a:prstGeom prst="rect">
            <a:avLst/>
          </a:prstGeom>
          <a:noFill/>
          <a:ln/>
        </p:spPr>
        <p:txBody>
          <a:bodyPr wrap="square" lIns="50800" tIns="50800" rIns="50800" bIns="5080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WACC</a:t>
            </a:r>
            <a:endParaRPr lang="en-US" sz="1050" dirty="0"/>
          </a:p>
        </p:txBody>
      </p:sp>
      <p:sp>
        <p:nvSpPr>
          <p:cNvPr id="59" name="Shape 57"/>
          <p:cNvSpPr/>
          <p:nvPr/>
        </p:nvSpPr>
        <p:spPr>
          <a:xfrm>
            <a:off x="2761488" y="3511296"/>
            <a:ext cx="1005840" cy="493776"/>
          </a:xfrm>
          <a:prstGeom prst="rect">
            <a:avLst/>
          </a:prstGeom>
          <a:solidFill>
            <a:srgbClr val="FFFFFF"/>
          </a:solidFill>
          <a:ln w="12700">
            <a:solidFill>
              <a:srgbClr val="E2E8F0"/>
            </a:solidFill>
            <a:prstDash val="solid"/>
          </a:ln>
        </p:spPr>
      </p:sp>
      <p:sp>
        <p:nvSpPr>
          <p:cNvPr id="60" name="Text 58"/>
          <p:cNvSpPr/>
          <p:nvPr/>
        </p:nvSpPr>
        <p:spPr>
          <a:xfrm>
            <a:off x="2761488" y="3511296"/>
            <a:ext cx="1005840" cy="493776"/>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10%</a:t>
            </a:r>
            <a:endParaRPr lang="en-US" sz="1100" dirty="0"/>
          </a:p>
        </p:txBody>
      </p:sp>
      <p:sp>
        <p:nvSpPr>
          <p:cNvPr id="61" name="Shape 59"/>
          <p:cNvSpPr/>
          <p:nvPr/>
        </p:nvSpPr>
        <p:spPr>
          <a:xfrm>
            <a:off x="3803904" y="3511296"/>
            <a:ext cx="1005840" cy="493776"/>
          </a:xfrm>
          <a:prstGeom prst="rect">
            <a:avLst/>
          </a:prstGeom>
          <a:solidFill>
            <a:srgbClr val="FFFFFF"/>
          </a:solidFill>
          <a:ln w="12700">
            <a:solidFill>
              <a:srgbClr val="E2E8F0"/>
            </a:solidFill>
            <a:prstDash val="solid"/>
          </a:ln>
        </p:spPr>
      </p:sp>
      <p:sp>
        <p:nvSpPr>
          <p:cNvPr id="62" name="Text 60"/>
          <p:cNvSpPr/>
          <p:nvPr/>
        </p:nvSpPr>
        <p:spPr>
          <a:xfrm>
            <a:off x="3803904" y="3511296"/>
            <a:ext cx="1005840" cy="493776"/>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10%</a:t>
            </a:r>
            <a:endParaRPr lang="en-US" sz="1100" dirty="0"/>
          </a:p>
        </p:txBody>
      </p:sp>
      <p:sp>
        <p:nvSpPr>
          <p:cNvPr id="63" name="Shape 61"/>
          <p:cNvSpPr/>
          <p:nvPr/>
        </p:nvSpPr>
        <p:spPr>
          <a:xfrm>
            <a:off x="4846320" y="3511296"/>
            <a:ext cx="1005840" cy="493776"/>
          </a:xfrm>
          <a:prstGeom prst="rect">
            <a:avLst/>
          </a:prstGeom>
          <a:solidFill>
            <a:srgbClr val="FFFFFF"/>
          </a:solidFill>
          <a:ln w="12700">
            <a:solidFill>
              <a:srgbClr val="E2E8F0"/>
            </a:solidFill>
            <a:prstDash val="solid"/>
          </a:ln>
        </p:spPr>
      </p:sp>
      <p:sp>
        <p:nvSpPr>
          <p:cNvPr id="64" name="Text 62"/>
          <p:cNvSpPr/>
          <p:nvPr/>
        </p:nvSpPr>
        <p:spPr>
          <a:xfrm>
            <a:off x="4846320" y="3511296"/>
            <a:ext cx="1005840" cy="493776"/>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10%</a:t>
            </a:r>
            <a:endParaRPr lang="en-US" sz="1100" dirty="0"/>
          </a:p>
        </p:txBody>
      </p:sp>
      <p:sp>
        <p:nvSpPr>
          <p:cNvPr id="65" name="Shape 63"/>
          <p:cNvSpPr/>
          <p:nvPr/>
        </p:nvSpPr>
        <p:spPr>
          <a:xfrm>
            <a:off x="5888736" y="3511296"/>
            <a:ext cx="2999232" cy="493776"/>
          </a:xfrm>
          <a:prstGeom prst="rect">
            <a:avLst/>
          </a:prstGeom>
          <a:solidFill>
            <a:srgbClr val="FFFFFF"/>
          </a:solidFill>
          <a:ln w="12700">
            <a:solidFill>
              <a:srgbClr val="E2E8F0"/>
            </a:solidFill>
            <a:prstDash val="solid"/>
          </a:ln>
        </p:spPr>
      </p:sp>
      <p:sp>
        <p:nvSpPr>
          <p:cNvPr id="66" name="Text 64"/>
          <p:cNvSpPr/>
          <p:nvPr/>
        </p:nvSpPr>
        <p:spPr>
          <a:xfrm>
            <a:off x="5943600" y="3511296"/>
            <a:ext cx="2907792" cy="493776"/>
          </a:xfrm>
          <a:prstGeom prst="rect">
            <a:avLst/>
          </a:prstGeom>
          <a:noFill/>
          <a:ln/>
        </p:spPr>
        <p:txBody>
          <a:bodyPr wrap="square" lIns="50800" tIns="50800" rIns="50800" bIns="50800" rtlCol="0" anchor="ctr"/>
          <a:lstStyle/>
          <a:p>
            <a:pPr indent="0" marL="0">
              <a:buNone/>
            </a:pPr>
            <a:r>
              <a:rPr lang="en-US" sz="950" dirty="0">
                <a:solidFill>
                  <a:srgbClr val="64748B"/>
                </a:solidFill>
                <a:latin typeface="Calibri" pitchFamily="34" charset="0"/>
                <a:ea typeface="Calibri" pitchFamily="34" charset="-122"/>
                <a:cs typeface="Calibri" pitchFamily="34" charset="-120"/>
              </a:rPr>
              <a:t>Used 10% for a cyclical Indian auto company; kept it simple without building a full CAPM from scratch</a:t>
            </a:r>
            <a:endParaRPr lang="en-US" sz="950" dirty="0"/>
          </a:p>
        </p:txBody>
      </p:sp>
      <p:sp>
        <p:nvSpPr>
          <p:cNvPr id="67" name="Shape 65"/>
          <p:cNvSpPr/>
          <p:nvPr/>
        </p:nvSpPr>
        <p:spPr>
          <a:xfrm>
            <a:off x="256032" y="4023360"/>
            <a:ext cx="2468880" cy="493776"/>
          </a:xfrm>
          <a:prstGeom prst="rect">
            <a:avLst/>
          </a:prstGeom>
          <a:solidFill>
            <a:srgbClr val="F0F4FF"/>
          </a:solidFill>
          <a:ln w="12700">
            <a:solidFill>
              <a:srgbClr val="E2E8F0"/>
            </a:solidFill>
            <a:prstDash val="solid"/>
          </a:ln>
        </p:spPr>
      </p:sp>
      <p:sp>
        <p:nvSpPr>
          <p:cNvPr id="68" name="Text 66"/>
          <p:cNvSpPr/>
          <p:nvPr/>
        </p:nvSpPr>
        <p:spPr>
          <a:xfrm>
            <a:off x="310896" y="4023360"/>
            <a:ext cx="2359152" cy="493776"/>
          </a:xfrm>
          <a:prstGeom prst="rect">
            <a:avLst/>
          </a:prstGeom>
          <a:noFill/>
          <a:ln/>
        </p:spPr>
        <p:txBody>
          <a:bodyPr wrap="square" lIns="50800" tIns="50800" rIns="50800" bIns="5080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Terminal Growth</a:t>
            </a:r>
            <a:endParaRPr lang="en-US" sz="1050" dirty="0"/>
          </a:p>
        </p:txBody>
      </p:sp>
      <p:sp>
        <p:nvSpPr>
          <p:cNvPr id="69" name="Shape 67"/>
          <p:cNvSpPr/>
          <p:nvPr/>
        </p:nvSpPr>
        <p:spPr>
          <a:xfrm>
            <a:off x="2761488" y="4023360"/>
            <a:ext cx="1005840" cy="493776"/>
          </a:xfrm>
          <a:prstGeom prst="rect">
            <a:avLst/>
          </a:prstGeom>
          <a:solidFill>
            <a:srgbClr val="F0F4FF"/>
          </a:solidFill>
          <a:ln w="12700">
            <a:solidFill>
              <a:srgbClr val="E2E8F0"/>
            </a:solidFill>
            <a:prstDash val="solid"/>
          </a:ln>
        </p:spPr>
      </p:sp>
      <p:sp>
        <p:nvSpPr>
          <p:cNvPr id="70" name="Text 68"/>
          <p:cNvSpPr/>
          <p:nvPr/>
        </p:nvSpPr>
        <p:spPr>
          <a:xfrm>
            <a:off x="2761488" y="4023360"/>
            <a:ext cx="1005840" cy="493776"/>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a:t>
            </a:r>
            <a:endParaRPr lang="en-US" sz="1100" dirty="0"/>
          </a:p>
        </p:txBody>
      </p:sp>
      <p:sp>
        <p:nvSpPr>
          <p:cNvPr id="71" name="Shape 69"/>
          <p:cNvSpPr/>
          <p:nvPr/>
        </p:nvSpPr>
        <p:spPr>
          <a:xfrm>
            <a:off x="3803904" y="4023360"/>
            <a:ext cx="1005840" cy="493776"/>
          </a:xfrm>
          <a:prstGeom prst="rect">
            <a:avLst/>
          </a:prstGeom>
          <a:solidFill>
            <a:srgbClr val="F0F4FF"/>
          </a:solidFill>
          <a:ln w="12700">
            <a:solidFill>
              <a:srgbClr val="E2E8F0"/>
            </a:solidFill>
            <a:prstDash val="solid"/>
          </a:ln>
        </p:spPr>
      </p:sp>
      <p:sp>
        <p:nvSpPr>
          <p:cNvPr id="72" name="Text 70"/>
          <p:cNvSpPr/>
          <p:nvPr/>
        </p:nvSpPr>
        <p:spPr>
          <a:xfrm>
            <a:off x="3803904" y="4023360"/>
            <a:ext cx="1005840" cy="493776"/>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a:t>
            </a:r>
            <a:endParaRPr lang="en-US" sz="1100" dirty="0"/>
          </a:p>
        </p:txBody>
      </p:sp>
      <p:sp>
        <p:nvSpPr>
          <p:cNvPr id="73" name="Shape 71"/>
          <p:cNvSpPr/>
          <p:nvPr/>
        </p:nvSpPr>
        <p:spPr>
          <a:xfrm>
            <a:off x="4846320" y="4023360"/>
            <a:ext cx="1005840" cy="493776"/>
          </a:xfrm>
          <a:prstGeom prst="rect">
            <a:avLst/>
          </a:prstGeom>
          <a:solidFill>
            <a:srgbClr val="F0F4FF"/>
          </a:solidFill>
          <a:ln w="12700">
            <a:solidFill>
              <a:srgbClr val="E2E8F0"/>
            </a:solidFill>
            <a:prstDash val="solid"/>
          </a:ln>
        </p:spPr>
      </p:sp>
      <p:sp>
        <p:nvSpPr>
          <p:cNvPr id="74" name="Text 72"/>
          <p:cNvSpPr/>
          <p:nvPr/>
        </p:nvSpPr>
        <p:spPr>
          <a:xfrm>
            <a:off x="4846320" y="4023360"/>
            <a:ext cx="1005840" cy="493776"/>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4%</a:t>
            </a:r>
            <a:endParaRPr lang="en-US" sz="1100" dirty="0"/>
          </a:p>
        </p:txBody>
      </p:sp>
      <p:sp>
        <p:nvSpPr>
          <p:cNvPr id="75" name="Shape 73"/>
          <p:cNvSpPr/>
          <p:nvPr/>
        </p:nvSpPr>
        <p:spPr>
          <a:xfrm>
            <a:off x="5888736" y="4023360"/>
            <a:ext cx="2999232" cy="493776"/>
          </a:xfrm>
          <a:prstGeom prst="rect">
            <a:avLst/>
          </a:prstGeom>
          <a:solidFill>
            <a:srgbClr val="F0F4FF"/>
          </a:solidFill>
          <a:ln w="12700">
            <a:solidFill>
              <a:srgbClr val="E2E8F0"/>
            </a:solidFill>
            <a:prstDash val="solid"/>
          </a:ln>
        </p:spPr>
      </p:sp>
      <p:sp>
        <p:nvSpPr>
          <p:cNvPr id="76" name="Text 74"/>
          <p:cNvSpPr/>
          <p:nvPr/>
        </p:nvSpPr>
        <p:spPr>
          <a:xfrm>
            <a:off x="5943600" y="4023360"/>
            <a:ext cx="2907792" cy="493776"/>
          </a:xfrm>
          <a:prstGeom prst="rect">
            <a:avLst/>
          </a:prstGeom>
          <a:noFill/>
          <a:ln/>
        </p:spPr>
        <p:txBody>
          <a:bodyPr wrap="square" lIns="50800" tIns="50800" rIns="50800" bIns="50800" rtlCol="0" anchor="ctr"/>
          <a:lstStyle/>
          <a:p>
            <a:pPr indent="0" marL="0">
              <a:buNone/>
            </a:pPr>
            <a:r>
              <a:rPr lang="en-US" sz="950" dirty="0">
                <a:solidFill>
                  <a:srgbClr val="64748B"/>
                </a:solidFill>
                <a:latin typeface="Calibri" pitchFamily="34" charset="0"/>
                <a:ea typeface="Calibri" pitchFamily="34" charset="-122"/>
                <a:cs typeface="Calibri" pitchFamily="34" charset="-120"/>
              </a:rPr>
              <a:t>4% felt reasonable as a long-run assumption — roughly where India's nominal GDP is expected to settle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Text 1"/>
          <p:cNvSpPr/>
          <p:nvPr/>
        </p:nvSpPr>
        <p:spPr>
          <a:xfrm>
            <a:off x="320040" y="0"/>
            <a:ext cx="8046720" cy="6583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METHOD 1: DCF — FREE CASH FLOW PROJECTION  |  INR Crores</a:t>
            </a:r>
            <a:endParaRPr lang="en-US" sz="1600" dirty="0"/>
          </a:p>
        </p:txBody>
      </p:sp>
      <p:sp>
        <p:nvSpPr>
          <p:cNvPr id="4" name="Text 2"/>
          <p:cNvSpPr/>
          <p:nvPr/>
        </p:nvSpPr>
        <p:spPr>
          <a:xfrm>
            <a:off x="8046720" y="0"/>
            <a:ext cx="914400" cy="658368"/>
          </a:xfrm>
          <a:prstGeom prst="rect">
            <a:avLst/>
          </a:prstGeom>
          <a:noFill/>
          <a:ln/>
        </p:spPr>
        <p:txBody>
          <a:bodyPr wrap="square" rtlCol="0" anchor="ctr"/>
          <a:lstStyle/>
          <a:p>
            <a:pPr algn="r" indent="0" marL="0">
              <a:buNone/>
            </a:pPr>
            <a:r>
              <a:rPr lang="en-US" sz="900" dirty="0">
                <a:solidFill>
                  <a:srgbClr val="AEC6E8"/>
                </a:solidFill>
                <a:latin typeface="Calibri" pitchFamily="34" charset="0"/>
                <a:ea typeface="Calibri" pitchFamily="34" charset="-122"/>
                <a:cs typeface="Calibri" pitchFamily="34" charset="-120"/>
              </a:rPr>
              <a:t>5 / 9</a:t>
            </a:r>
            <a:endParaRPr lang="en-US" sz="900" dirty="0"/>
          </a:p>
        </p:txBody>
      </p:sp>
      <p:sp>
        <p:nvSpPr>
          <p:cNvPr id="5" name="Shape 3"/>
          <p:cNvSpPr/>
          <p:nvPr/>
        </p:nvSpPr>
        <p:spPr>
          <a:xfrm>
            <a:off x="256032" y="777240"/>
            <a:ext cx="3017520" cy="365760"/>
          </a:xfrm>
          <a:prstGeom prst="rect">
            <a:avLst/>
          </a:prstGeom>
          <a:solidFill>
            <a:srgbClr val="2C3E6B"/>
          </a:solidFill>
          <a:ln w="12700">
            <a:solidFill>
              <a:srgbClr val="2C3E6B"/>
            </a:solidFill>
            <a:prstDash val="solid"/>
          </a:ln>
        </p:spPr>
      </p:sp>
      <p:sp>
        <p:nvSpPr>
          <p:cNvPr id="6" name="Text 4"/>
          <p:cNvSpPr/>
          <p:nvPr/>
        </p:nvSpPr>
        <p:spPr>
          <a:xfrm>
            <a:off x="256032" y="777240"/>
            <a:ext cx="3017520" cy="365760"/>
          </a:xfrm>
          <a:prstGeom prst="rect">
            <a:avLst/>
          </a:prstGeom>
          <a:noFill/>
          <a:ln/>
        </p:spPr>
        <p:txBody>
          <a:bodyPr wrap="square" lIns="76200" tIns="76200" rIns="76200" bIns="7620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p>
        </p:txBody>
      </p:sp>
      <p:sp>
        <p:nvSpPr>
          <p:cNvPr id="7" name="Shape 5"/>
          <p:cNvSpPr/>
          <p:nvPr/>
        </p:nvSpPr>
        <p:spPr>
          <a:xfrm>
            <a:off x="3310128" y="777240"/>
            <a:ext cx="1828800" cy="365760"/>
          </a:xfrm>
          <a:prstGeom prst="rect">
            <a:avLst/>
          </a:prstGeom>
          <a:solidFill>
            <a:srgbClr val="2C3E6B"/>
          </a:solidFill>
          <a:ln w="12700">
            <a:solidFill>
              <a:srgbClr val="2C3E6B"/>
            </a:solidFill>
            <a:prstDash val="solid"/>
          </a:ln>
        </p:spPr>
      </p:sp>
      <p:sp>
        <p:nvSpPr>
          <p:cNvPr id="8" name="Text 6"/>
          <p:cNvSpPr/>
          <p:nvPr/>
        </p:nvSpPr>
        <p:spPr>
          <a:xfrm>
            <a:off x="3310128" y="777240"/>
            <a:ext cx="18288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FY2025F</a:t>
            </a:r>
            <a:endParaRPr lang="en-US" sz="1100" dirty="0"/>
          </a:p>
        </p:txBody>
      </p:sp>
      <p:sp>
        <p:nvSpPr>
          <p:cNvPr id="9" name="Shape 7"/>
          <p:cNvSpPr/>
          <p:nvPr/>
        </p:nvSpPr>
        <p:spPr>
          <a:xfrm>
            <a:off x="5184648" y="777240"/>
            <a:ext cx="1828800" cy="365760"/>
          </a:xfrm>
          <a:prstGeom prst="rect">
            <a:avLst/>
          </a:prstGeom>
          <a:solidFill>
            <a:srgbClr val="2C3E6B"/>
          </a:solidFill>
          <a:ln w="12700">
            <a:solidFill>
              <a:srgbClr val="2C3E6B"/>
            </a:solidFill>
            <a:prstDash val="solid"/>
          </a:ln>
        </p:spPr>
      </p:sp>
      <p:sp>
        <p:nvSpPr>
          <p:cNvPr id="10" name="Text 8"/>
          <p:cNvSpPr/>
          <p:nvPr/>
        </p:nvSpPr>
        <p:spPr>
          <a:xfrm>
            <a:off x="5184648" y="777240"/>
            <a:ext cx="18288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FY2026F</a:t>
            </a:r>
            <a:endParaRPr lang="en-US" sz="1100" dirty="0"/>
          </a:p>
        </p:txBody>
      </p:sp>
      <p:sp>
        <p:nvSpPr>
          <p:cNvPr id="11" name="Shape 9"/>
          <p:cNvSpPr/>
          <p:nvPr/>
        </p:nvSpPr>
        <p:spPr>
          <a:xfrm>
            <a:off x="7059168" y="777240"/>
            <a:ext cx="1920240" cy="365760"/>
          </a:xfrm>
          <a:prstGeom prst="rect">
            <a:avLst/>
          </a:prstGeom>
          <a:solidFill>
            <a:srgbClr val="2C3E6B"/>
          </a:solidFill>
          <a:ln w="12700">
            <a:solidFill>
              <a:srgbClr val="2C3E6B"/>
            </a:solidFill>
            <a:prstDash val="solid"/>
          </a:ln>
        </p:spPr>
      </p:sp>
      <p:sp>
        <p:nvSpPr>
          <p:cNvPr id="12" name="Text 10"/>
          <p:cNvSpPr/>
          <p:nvPr/>
        </p:nvSpPr>
        <p:spPr>
          <a:xfrm>
            <a:off x="7059168" y="777240"/>
            <a:ext cx="19202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FY2027F</a:t>
            </a:r>
            <a:endParaRPr lang="en-US" sz="1100" dirty="0"/>
          </a:p>
        </p:txBody>
      </p:sp>
      <p:sp>
        <p:nvSpPr>
          <p:cNvPr id="13" name="Shape 11"/>
          <p:cNvSpPr/>
          <p:nvPr/>
        </p:nvSpPr>
        <p:spPr>
          <a:xfrm>
            <a:off x="256032" y="1188720"/>
            <a:ext cx="3017520" cy="329184"/>
          </a:xfrm>
          <a:prstGeom prst="rect">
            <a:avLst/>
          </a:prstGeom>
          <a:solidFill>
            <a:srgbClr val="EFF6FF"/>
          </a:solidFill>
          <a:ln w="12700">
            <a:solidFill>
              <a:srgbClr val="E2E8F0"/>
            </a:solidFill>
            <a:prstDash val="solid"/>
          </a:ln>
        </p:spPr>
      </p:sp>
      <p:sp>
        <p:nvSpPr>
          <p:cNvPr id="14" name="Shape 12"/>
          <p:cNvSpPr/>
          <p:nvPr/>
        </p:nvSpPr>
        <p:spPr>
          <a:xfrm>
            <a:off x="3310128" y="1188720"/>
            <a:ext cx="1828800" cy="329184"/>
          </a:xfrm>
          <a:prstGeom prst="rect">
            <a:avLst/>
          </a:prstGeom>
          <a:solidFill>
            <a:srgbClr val="EFF6FF"/>
          </a:solidFill>
          <a:ln w="12700">
            <a:solidFill>
              <a:srgbClr val="E2E8F0"/>
            </a:solidFill>
            <a:prstDash val="solid"/>
          </a:ln>
        </p:spPr>
      </p:sp>
      <p:sp>
        <p:nvSpPr>
          <p:cNvPr id="15" name="Shape 13"/>
          <p:cNvSpPr/>
          <p:nvPr/>
        </p:nvSpPr>
        <p:spPr>
          <a:xfrm>
            <a:off x="5184648" y="1188720"/>
            <a:ext cx="1828800" cy="329184"/>
          </a:xfrm>
          <a:prstGeom prst="rect">
            <a:avLst/>
          </a:prstGeom>
          <a:solidFill>
            <a:srgbClr val="EFF6FF"/>
          </a:solidFill>
          <a:ln w="12700">
            <a:solidFill>
              <a:srgbClr val="E2E8F0"/>
            </a:solidFill>
            <a:prstDash val="solid"/>
          </a:ln>
        </p:spPr>
      </p:sp>
      <p:sp>
        <p:nvSpPr>
          <p:cNvPr id="16" name="Shape 14"/>
          <p:cNvSpPr/>
          <p:nvPr/>
        </p:nvSpPr>
        <p:spPr>
          <a:xfrm>
            <a:off x="7059168" y="1188720"/>
            <a:ext cx="1920240" cy="329184"/>
          </a:xfrm>
          <a:prstGeom prst="rect">
            <a:avLst/>
          </a:prstGeom>
          <a:solidFill>
            <a:srgbClr val="EFF6FF"/>
          </a:solidFill>
          <a:ln w="12700">
            <a:solidFill>
              <a:srgbClr val="E2E8F0"/>
            </a:solidFill>
            <a:prstDash val="solid"/>
          </a:ln>
        </p:spPr>
      </p:sp>
      <p:sp>
        <p:nvSpPr>
          <p:cNvPr id="17" name="Text 15"/>
          <p:cNvSpPr/>
          <p:nvPr/>
        </p:nvSpPr>
        <p:spPr>
          <a:xfrm>
            <a:off x="310896" y="1188720"/>
            <a:ext cx="2926080" cy="329184"/>
          </a:xfrm>
          <a:prstGeom prst="rect">
            <a:avLst/>
          </a:prstGeom>
          <a:noFill/>
          <a:ln/>
        </p:spPr>
        <p:txBody>
          <a:bodyPr wrap="square"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Revenue</a:t>
            </a:r>
            <a:endParaRPr lang="en-US" sz="1050" dirty="0"/>
          </a:p>
        </p:txBody>
      </p:sp>
      <p:sp>
        <p:nvSpPr>
          <p:cNvPr id="18" name="Text 16"/>
          <p:cNvSpPr/>
          <p:nvPr/>
        </p:nvSpPr>
        <p:spPr>
          <a:xfrm>
            <a:off x="3310128" y="1188720"/>
            <a:ext cx="1828800" cy="329184"/>
          </a:xfrm>
          <a:prstGeom prst="rect">
            <a:avLst/>
          </a:prstGeom>
          <a:noFill/>
          <a:ln/>
        </p:spPr>
        <p:txBody>
          <a:bodyPr wrap="square" rtlCol="0" anchor="ctr"/>
          <a:lstStyle/>
          <a:p>
            <a:pPr algn="ctr" indent="0" marL="0">
              <a:buNone/>
            </a:pPr>
            <a:r>
              <a:rPr lang="en-US" sz="1050" b="1" dirty="0">
                <a:solidFill>
                  <a:srgbClr val="1E293B"/>
                </a:solidFill>
                <a:latin typeface="Calibri" pitchFamily="34" charset="0"/>
                <a:ea typeface="Calibri" pitchFamily="34" charset="-122"/>
                <a:cs typeface="Calibri" pitchFamily="34" charset="-120"/>
              </a:rPr>
              <a:t>4,79,444</a:t>
            </a:r>
            <a:endParaRPr lang="en-US" sz="1050" dirty="0"/>
          </a:p>
        </p:txBody>
      </p:sp>
      <p:sp>
        <p:nvSpPr>
          <p:cNvPr id="19" name="Text 17"/>
          <p:cNvSpPr/>
          <p:nvPr/>
        </p:nvSpPr>
        <p:spPr>
          <a:xfrm>
            <a:off x="5184648" y="1188720"/>
            <a:ext cx="1828800" cy="329184"/>
          </a:xfrm>
          <a:prstGeom prst="rect">
            <a:avLst/>
          </a:prstGeom>
          <a:noFill/>
          <a:ln/>
        </p:spPr>
        <p:txBody>
          <a:bodyPr wrap="square" rtlCol="0" anchor="ctr"/>
          <a:lstStyle/>
          <a:p>
            <a:pPr algn="ctr" indent="0" marL="0">
              <a:buNone/>
            </a:pPr>
            <a:r>
              <a:rPr lang="en-US" sz="1050" b="1" dirty="0">
                <a:solidFill>
                  <a:srgbClr val="1E293B"/>
                </a:solidFill>
                <a:latin typeface="Calibri" pitchFamily="34" charset="0"/>
                <a:ea typeface="Calibri" pitchFamily="34" charset="-122"/>
                <a:cs typeface="Calibri" pitchFamily="34" charset="-120"/>
              </a:rPr>
              <a:t>5,29,626</a:t>
            </a:r>
            <a:endParaRPr lang="en-US" sz="1050" dirty="0"/>
          </a:p>
        </p:txBody>
      </p:sp>
      <p:sp>
        <p:nvSpPr>
          <p:cNvPr id="20" name="Text 18"/>
          <p:cNvSpPr/>
          <p:nvPr/>
        </p:nvSpPr>
        <p:spPr>
          <a:xfrm>
            <a:off x="7059168" y="1188720"/>
            <a:ext cx="1920240" cy="329184"/>
          </a:xfrm>
          <a:prstGeom prst="rect">
            <a:avLst/>
          </a:prstGeom>
          <a:noFill/>
          <a:ln/>
        </p:spPr>
        <p:txBody>
          <a:bodyPr wrap="square" rtlCol="0" anchor="ctr"/>
          <a:lstStyle/>
          <a:p>
            <a:pPr algn="ctr" indent="0" marL="0">
              <a:buNone/>
            </a:pPr>
            <a:r>
              <a:rPr lang="en-US" sz="1050" b="1" dirty="0">
                <a:solidFill>
                  <a:srgbClr val="1E293B"/>
                </a:solidFill>
                <a:latin typeface="Calibri" pitchFamily="34" charset="0"/>
                <a:ea typeface="Calibri" pitchFamily="34" charset="-122"/>
                <a:cs typeface="Calibri" pitchFamily="34" charset="-120"/>
              </a:rPr>
              <a:t>5,85,062</a:t>
            </a:r>
            <a:endParaRPr lang="en-US" sz="1050" dirty="0"/>
          </a:p>
        </p:txBody>
      </p:sp>
      <p:sp>
        <p:nvSpPr>
          <p:cNvPr id="21" name="Shape 19"/>
          <p:cNvSpPr/>
          <p:nvPr/>
        </p:nvSpPr>
        <p:spPr>
          <a:xfrm>
            <a:off x="256032" y="1536192"/>
            <a:ext cx="3017520" cy="329184"/>
          </a:xfrm>
          <a:prstGeom prst="rect">
            <a:avLst/>
          </a:prstGeom>
          <a:solidFill>
            <a:srgbClr val="FFFFFF"/>
          </a:solidFill>
          <a:ln w="12700">
            <a:solidFill>
              <a:srgbClr val="E2E8F0"/>
            </a:solidFill>
            <a:prstDash val="solid"/>
          </a:ln>
        </p:spPr>
      </p:sp>
      <p:sp>
        <p:nvSpPr>
          <p:cNvPr id="22" name="Shape 20"/>
          <p:cNvSpPr/>
          <p:nvPr/>
        </p:nvSpPr>
        <p:spPr>
          <a:xfrm>
            <a:off x="3310128" y="1536192"/>
            <a:ext cx="1828800" cy="329184"/>
          </a:xfrm>
          <a:prstGeom prst="rect">
            <a:avLst/>
          </a:prstGeom>
          <a:solidFill>
            <a:srgbClr val="FFFFFF"/>
          </a:solidFill>
          <a:ln w="12700">
            <a:solidFill>
              <a:srgbClr val="E2E8F0"/>
            </a:solidFill>
            <a:prstDash val="solid"/>
          </a:ln>
        </p:spPr>
      </p:sp>
      <p:sp>
        <p:nvSpPr>
          <p:cNvPr id="23" name="Shape 21"/>
          <p:cNvSpPr/>
          <p:nvPr/>
        </p:nvSpPr>
        <p:spPr>
          <a:xfrm>
            <a:off x="5184648" y="1536192"/>
            <a:ext cx="1828800" cy="329184"/>
          </a:xfrm>
          <a:prstGeom prst="rect">
            <a:avLst/>
          </a:prstGeom>
          <a:solidFill>
            <a:srgbClr val="FFFFFF"/>
          </a:solidFill>
          <a:ln w="12700">
            <a:solidFill>
              <a:srgbClr val="E2E8F0"/>
            </a:solidFill>
            <a:prstDash val="solid"/>
          </a:ln>
        </p:spPr>
      </p:sp>
      <p:sp>
        <p:nvSpPr>
          <p:cNvPr id="24" name="Shape 22"/>
          <p:cNvSpPr/>
          <p:nvPr/>
        </p:nvSpPr>
        <p:spPr>
          <a:xfrm>
            <a:off x="7059168" y="1536192"/>
            <a:ext cx="1920240" cy="329184"/>
          </a:xfrm>
          <a:prstGeom prst="rect">
            <a:avLst/>
          </a:prstGeom>
          <a:solidFill>
            <a:srgbClr val="FFFFFF"/>
          </a:solidFill>
          <a:ln w="12700">
            <a:solidFill>
              <a:srgbClr val="E2E8F0"/>
            </a:solidFill>
            <a:prstDash val="solid"/>
          </a:ln>
        </p:spPr>
      </p:sp>
      <p:sp>
        <p:nvSpPr>
          <p:cNvPr id="25" name="Text 23"/>
          <p:cNvSpPr/>
          <p:nvPr/>
        </p:nvSpPr>
        <p:spPr>
          <a:xfrm>
            <a:off x="310896" y="1536192"/>
            <a:ext cx="2926080" cy="329184"/>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EBIT Margin</a:t>
            </a:r>
            <a:endParaRPr lang="en-US" sz="1050" dirty="0"/>
          </a:p>
        </p:txBody>
      </p:sp>
      <p:sp>
        <p:nvSpPr>
          <p:cNvPr id="26" name="Text 24"/>
          <p:cNvSpPr/>
          <p:nvPr/>
        </p:nvSpPr>
        <p:spPr>
          <a:xfrm>
            <a:off x="3310128" y="1536192"/>
            <a:ext cx="1828800" cy="329184"/>
          </a:xfrm>
          <a:prstGeom prst="rect">
            <a:avLst/>
          </a:prstGeom>
          <a:noFill/>
          <a:ln/>
        </p:spPr>
        <p:txBody>
          <a:bodyPr wrap="square"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13.9%</a:t>
            </a:r>
            <a:endParaRPr lang="en-US" sz="1050" dirty="0"/>
          </a:p>
        </p:txBody>
      </p:sp>
      <p:sp>
        <p:nvSpPr>
          <p:cNvPr id="27" name="Text 25"/>
          <p:cNvSpPr/>
          <p:nvPr/>
        </p:nvSpPr>
        <p:spPr>
          <a:xfrm>
            <a:off x="5184648" y="1536192"/>
            <a:ext cx="1828800" cy="329184"/>
          </a:xfrm>
          <a:prstGeom prst="rect">
            <a:avLst/>
          </a:prstGeom>
          <a:noFill/>
          <a:ln/>
        </p:spPr>
        <p:txBody>
          <a:bodyPr wrap="square"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13.9%</a:t>
            </a:r>
            <a:endParaRPr lang="en-US" sz="1050" dirty="0"/>
          </a:p>
        </p:txBody>
      </p:sp>
      <p:sp>
        <p:nvSpPr>
          <p:cNvPr id="28" name="Text 26"/>
          <p:cNvSpPr/>
          <p:nvPr/>
        </p:nvSpPr>
        <p:spPr>
          <a:xfrm>
            <a:off x="7059168" y="1536192"/>
            <a:ext cx="1920240" cy="329184"/>
          </a:xfrm>
          <a:prstGeom prst="rect">
            <a:avLst/>
          </a:prstGeom>
          <a:noFill/>
          <a:ln/>
        </p:spPr>
        <p:txBody>
          <a:bodyPr wrap="square"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13.9%</a:t>
            </a:r>
            <a:endParaRPr lang="en-US" sz="1050" dirty="0"/>
          </a:p>
        </p:txBody>
      </p:sp>
      <p:sp>
        <p:nvSpPr>
          <p:cNvPr id="29" name="Shape 27"/>
          <p:cNvSpPr/>
          <p:nvPr/>
        </p:nvSpPr>
        <p:spPr>
          <a:xfrm>
            <a:off x="256032" y="1883664"/>
            <a:ext cx="3017520" cy="329184"/>
          </a:xfrm>
          <a:prstGeom prst="rect">
            <a:avLst/>
          </a:prstGeom>
          <a:solidFill>
            <a:srgbClr val="EFF6FF"/>
          </a:solidFill>
          <a:ln w="12700">
            <a:solidFill>
              <a:srgbClr val="E2E8F0"/>
            </a:solidFill>
            <a:prstDash val="solid"/>
          </a:ln>
        </p:spPr>
      </p:sp>
      <p:sp>
        <p:nvSpPr>
          <p:cNvPr id="30" name="Shape 28"/>
          <p:cNvSpPr/>
          <p:nvPr/>
        </p:nvSpPr>
        <p:spPr>
          <a:xfrm>
            <a:off x="3310128" y="1883664"/>
            <a:ext cx="1828800" cy="329184"/>
          </a:xfrm>
          <a:prstGeom prst="rect">
            <a:avLst/>
          </a:prstGeom>
          <a:solidFill>
            <a:srgbClr val="EFF6FF"/>
          </a:solidFill>
          <a:ln w="12700">
            <a:solidFill>
              <a:srgbClr val="E2E8F0"/>
            </a:solidFill>
            <a:prstDash val="solid"/>
          </a:ln>
        </p:spPr>
      </p:sp>
      <p:sp>
        <p:nvSpPr>
          <p:cNvPr id="31" name="Shape 29"/>
          <p:cNvSpPr/>
          <p:nvPr/>
        </p:nvSpPr>
        <p:spPr>
          <a:xfrm>
            <a:off x="5184648" y="1883664"/>
            <a:ext cx="1828800" cy="329184"/>
          </a:xfrm>
          <a:prstGeom prst="rect">
            <a:avLst/>
          </a:prstGeom>
          <a:solidFill>
            <a:srgbClr val="EFF6FF"/>
          </a:solidFill>
          <a:ln w="12700">
            <a:solidFill>
              <a:srgbClr val="E2E8F0"/>
            </a:solidFill>
            <a:prstDash val="solid"/>
          </a:ln>
        </p:spPr>
      </p:sp>
      <p:sp>
        <p:nvSpPr>
          <p:cNvPr id="32" name="Shape 30"/>
          <p:cNvSpPr/>
          <p:nvPr/>
        </p:nvSpPr>
        <p:spPr>
          <a:xfrm>
            <a:off x="7059168" y="1883664"/>
            <a:ext cx="1920240" cy="329184"/>
          </a:xfrm>
          <a:prstGeom prst="rect">
            <a:avLst/>
          </a:prstGeom>
          <a:solidFill>
            <a:srgbClr val="EFF6FF"/>
          </a:solidFill>
          <a:ln w="12700">
            <a:solidFill>
              <a:srgbClr val="E2E8F0"/>
            </a:solidFill>
            <a:prstDash val="solid"/>
          </a:ln>
        </p:spPr>
      </p:sp>
      <p:sp>
        <p:nvSpPr>
          <p:cNvPr id="33" name="Text 31"/>
          <p:cNvSpPr/>
          <p:nvPr/>
        </p:nvSpPr>
        <p:spPr>
          <a:xfrm>
            <a:off x="310896" y="1883664"/>
            <a:ext cx="2926080" cy="329184"/>
          </a:xfrm>
          <a:prstGeom prst="rect">
            <a:avLst/>
          </a:prstGeom>
          <a:noFill/>
          <a:ln/>
        </p:spPr>
        <p:txBody>
          <a:bodyPr wrap="square"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EBIT</a:t>
            </a:r>
            <a:endParaRPr lang="en-US" sz="1050" dirty="0"/>
          </a:p>
        </p:txBody>
      </p:sp>
      <p:sp>
        <p:nvSpPr>
          <p:cNvPr id="34" name="Text 32"/>
          <p:cNvSpPr/>
          <p:nvPr/>
        </p:nvSpPr>
        <p:spPr>
          <a:xfrm>
            <a:off x="3310128" y="1883664"/>
            <a:ext cx="1828800" cy="329184"/>
          </a:xfrm>
          <a:prstGeom prst="rect">
            <a:avLst/>
          </a:prstGeom>
          <a:noFill/>
          <a:ln/>
        </p:spPr>
        <p:txBody>
          <a:bodyPr wrap="square" rtlCol="0" anchor="ctr"/>
          <a:lstStyle/>
          <a:p>
            <a:pPr algn="ctr" indent="0" marL="0">
              <a:buNone/>
            </a:pPr>
            <a:r>
              <a:rPr lang="en-US" sz="1050" b="1" dirty="0">
                <a:solidFill>
                  <a:srgbClr val="1E293B"/>
                </a:solidFill>
                <a:latin typeface="Calibri" pitchFamily="34" charset="0"/>
                <a:ea typeface="Calibri" pitchFamily="34" charset="-122"/>
                <a:cs typeface="Calibri" pitchFamily="34" charset="-120"/>
              </a:rPr>
              <a:t>66,643</a:t>
            </a:r>
            <a:endParaRPr lang="en-US" sz="1050" dirty="0"/>
          </a:p>
        </p:txBody>
      </p:sp>
      <p:sp>
        <p:nvSpPr>
          <p:cNvPr id="35" name="Text 33"/>
          <p:cNvSpPr/>
          <p:nvPr/>
        </p:nvSpPr>
        <p:spPr>
          <a:xfrm>
            <a:off x="5184648" y="1883664"/>
            <a:ext cx="1828800" cy="329184"/>
          </a:xfrm>
          <a:prstGeom prst="rect">
            <a:avLst/>
          </a:prstGeom>
          <a:noFill/>
          <a:ln/>
        </p:spPr>
        <p:txBody>
          <a:bodyPr wrap="square" rtlCol="0" anchor="ctr"/>
          <a:lstStyle/>
          <a:p>
            <a:pPr algn="ctr" indent="0" marL="0">
              <a:buNone/>
            </a:pPr>
            <a:r>
              <a:rPr lang="en-US" sz="1050" b="1" dirty="0">
                <a:solidFill>
                  <a:srgbClr val="1E293B"/>
                </a:solidFill>
                <a:latin typeface="Calibri" pitchFamily="34" charset="0"/>
                <a:ea typeface="Calibri" pitchFamily="34" charset="-122"/>
                <a:cs typeface="Calibri" pitchFamily="34" charset="-120"/>
              </a:rPr>
              <a:t>73,598</a:t>
            </a:r>
            <a:endParaRPr lang="en-US" sz="1050" dirty="0"/>
          </a:p>
        </p:txBody>
      </p:sp>
      <p:sp>
        <p:nvSpPr>
          <p:cNvPr id="36" name="Text 34"/>
          <p:cNvSpPr/>
          <p:nvPr/>
        </p:nvSpPr>
        <p:spPr>
          <a:xfrm>
            <a:off x="7059168" y="1883664"/>
            <a:ext cx="1920240" cy="329184"/>
          </a:xfrm>
          <a:prstGeom prst="rect">
            <a:avLst/>
          </a:prstGeom>
          <a:noFill/>
          <a:ln/>
        </p:spPr>
        <p:txBody>
          <a:bodyPr wrap="square" rtlCol="0" anchor="ctr"/>
          <a:lstStyle/>
          <a:p>
            <a:pPr algn="ctr" indent="0" marL="0">
              <a:buNone/>
            </a:pPr>
            <a:r>
              <a:rPr lang="en-US" sz="1050" b="1" dirty="0">
                <a:solidFill>
                  <a:srgbClr val="1E293B"/>
                </a:solidFill>
                <a:latin typeface="Calibri" pitchFamily="34" charset="0"/>
                <a:ea typeface="Calibri" pitchFamily="34" charset="-122"/>
                <a:cs typeface="Calibri" pitchFamily="34" charset="-120"/>
              </a:rPr>
              <a:t>81,323</a:t>
            </a:r>
            <a:endParaRPr lang="en-US" sz="1050" dirty="0"/>
          </a:p>
        </p:txBody>
      </p:sp>
      <p:sp>
        <p:nvSpPr>
          <p:cNvPr id="37" name="Shape 35"/>
          <p:cNvSpPr/>
          <p:nvPr/>
        </p:nvSpPr>
        <p:spPr>
          <a:xfrm>
            <a:off x="256032" y="2231136"/>
            <a:ext cx="3017520" cy="329184"/>
          </a:xfrm>
          <a:prstGeom prst="rect">
            <a:avLst/>
          </a:prstGeom>
          <a:solidFill>
            <a:srgbClr val="FFFFFF"/>
          </a:solidFill>
          <a:ln w="12700">
            <a:solidFill>
              <a:srgbClr val="E2E8F0"/>
            </a:solidFill>
            <a:prstDash val="solid"/>
          </a:ln>
        </p:spPr>
      </p:sp>
      <p:sp>
        <p:nvSpPr>
          <p:cNvPr id="38" name="Shape 36"/>
          <p:cNvSpPr/>
          <p:nvPr/>
        </p:nvSpPr>
        <p:spPr>
          <a:xfrm>
            <a:off x="3310128" y="2231136"/>
            <a:ext cx="1828800" cy="329184"/>
          </a:xfrm>
          <a:prstGeom prst="rect">
            <a:avLst/>
          </a:prstGeom>
          <a:solidFill>
            <a:srgbClr val="FFFFFF"/>
          </a:solidFill>
          <a:ln w="12700">
            <a:solidFill>
              <a:srgbClr val="E2E8F0"/>
            </a:solidFill>
            <a:prstDash val="solid"/>
          </a:ln>
        </p:spPr>
      </p:sp>
      <p:sp>
        <p:nvSpPr>
          <p:cNvPr id="39" name="Shape 37"/>
          <p:cNvSpPr/>
          <p:nvPr/>
        </p:nvSpPr>
        <p:spPr>
          <a:xfrm>
            <a:off x="5184648" y="2231136"/>
            <a:ext cx="1828800" cy="329184"/>
          </a:xfrm>
          <a:prstGeom prst="rect">
            <a:avLst/>
          </a:prstGeom>
          <a:solidFill>
            <a:srgbClr val="FFFFFF"/>
          </a:solidFill>
          <a:ln w="12700">
            <a:solidFill>
              <a:srgbClr val="E2E8F0"/>
            </a:solidFill>
            <a:prstDash val="solid"/>
          </a:ln>
        </p:spPr>
      </p:sp>
      <p:sp>
        <p:nvSpPr>
          <p:cNvPr id="40" name="Shape 38"/>
          <p:cNvSpPr/>
          <p:nvPr/>
        </p:nvSpPr>
        <p:spPr>
          <a:xfrm>
            <a:off x="7059168" y="2231136"/>
            <a:ext cx="1920240" cy="329184"/>
          </a:xfrm>
          <a:prstGeom prst="rect">
            <a:avLst/>
          </a:prstGeom>
          <a:solidFill>
            <a:srgbClr val="FFFFFF"/>
          </a:solidFill>
          <a:ln w="12700">
            <a:solidFill>
              <a:srgbClr val="E2E8F0"/>
            </a:solidFill>
            <a:prstDash val="solid"/>
          </a:ln>
        </p:spPr>
      </p:sp>
      <p:sp>
        <p:nvSpPr>
          <p:cNvPr id="41" name="Text 39"/>
          <p:cNvSpPr/>
          <p:nvPr/>
        </p:nvSpPr>
        <p:spPr>
          <a:xfrm>
            <a:off x="310896" y="2231136"/>
            <a:ext cx="2926080" cy="329184"/>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Less: Tax @ 25%</a:t>
            </a:r>
            <a:endParaRPr lang="en-US" sz="1050" dirty="0"/>
          </a:p>
        </p:txBody>
      </p:sp>
      <p:sp>
        <p:nvSpPr>
          <p:cNvPr id="42" name="Text 40"/>
          <p:cNvSpPr/>
          <p:nvPr/>
        </p:nvSpPr>
        <p:spPr>
          <a:xfrm>
            <a:off x="3310128" y="2231136"/>
            <a:ext cx="1828800" cy="329184"/>
          </a:xfrm>
          <a:prstGeom prst="rect">
            <a:avLst/>
          </a:prstGeom>
          <a:noFill/>
          <a:ln/>
        </p:spPr>
        <p:txBody>
          <a:bodyPr wrap="square"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(16,661)</a:t>
            </a:r>
            <a:endParaRPr lang="en-US" sz="1050" dirty="0"/>
          </a:p>
        </p:txBody>
      </p:sp>
      <p:sp>
        <p:nvSpPr>
          <p:cNvPr id="43" name="Text 41"/>
          <p:cNvSpPr/>
          <p:nvPr/>
        </p:nvSpPr>
        <p:spPr>
          <a:xfrm>
            <a:off x="5184648" y="2231136"/>
            <a:ext cx="1828800" cy="329184"/>
          </a:xfrm>
          <a:prstGeom prst="rect">
            <a:avLst/>
          </a:prstGeom>
          <a:noFill/>
          <a:ln/>
        </p:spPr>
        <p:txBody>
          <a:bodyPr wrap="square"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(18,399)</a:t>
            </a:r>
            <a:endParaRPr lang="en-US" sz="1050" dirty="0"/>
          </a:p>
        </p:txBody>
      </p:sp>
      <p:sp>
        <p:nvSpPr>
          <p:cNvPr id="44" name="Text 42"/>
          <p:cNvSpPr/>
          <p:nvPr/>
        </p:nvSpPr>
        <p:spPr>
          <a:xfrm>
            <a:off x="7059168" y="2231136"/>
            <a:ext cx="1920240" cy="329184"/>
          </a:xfrm>
          <a:prstGeom prst="rect">
            <a:avLst/>
          </a:prstGeom>
          <a:noFill/>
          <a:ln/>
        </p:spPr>
        <p:txBody>
          <a:bodyPr wrap="square"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(20,331)</a:t>
            </a:r>
            <a:endParaRPr lang="en-US" sz="1050" dirty="0"/>
          </a:p>
        </p:txBody>
      </p:sp>
      <p:sp>
        <p:nvSpPr>
          <p:cNvPr id="45" name="Shape 43"/>
          <p:cNvSpPr/>
          <p:nvPr/>
        </p:nvSpPr>
        <p:spPr>
          <a:xfrm>
            <a:off x="256032" y="2578608"/>
            <a:ext cx="3017520" cy="329184"/>
          </a:xfrm>
          <a:prstGeom prst="rect">
            <a:avLst/>
          </a:prstGeom>
          <a:solidFill>
            <a:srgbClr val="EFF6FF"/>
          </a:solidFill>
          <a:ln w="12700">
            <a:solidFill>
              <a:srgbClr val="E2E8F0"/>
            </a:solidFill>
            <a:prstDash val="solid"/>
          </a:ln>
        </p:spPr>
      </p:sp>
      <p:sp>
        <p:nvSpPr>
          <p:cNvPr id="46" name="Shape 44"/>
          <p:cNvSpPr/>
          <p:nvPr/>
        </p:nvSpPr>
        <p:spPr>
          <a:xfrm>
            <a:off x="3310128" y="2578608"/>
            <a:ext cx="1828800" cy="329184"/>
          </a:xfrm>
          <a:prstGeom prst="rect">
            <a:avLst/>
          </a:prstGeom>
          <a:solidFill>
            <a:srgbClr val="EFF6FF"/>
          </a:solidFill>
          <a:ln w="12700">
            <a:solidFill>
              <a:srgbClr val="E2E8F0"/>
            </a:solidFill>
            <a:prstDash val="solid"/>
          </a:ln>
        </p:spPr>
      </p:sp>
      <p:sp>
        <p:nvSpPr>
          <p:cNvPr id="47" name="Shape 45"/>
          <p:cNvSpPr/>
          <p:nvPr/>
        </p:nvSpPr>
        <p:spPr>
          <a:xfrm>
            <a:off x="5184648" y="2578608"/>
            <a:ext cx="1828800" cy="329184"/>
          </a:xfrm>
          <a:prstGeom prst="rect">
            <a:avLst/>
          </a:prstGeom>
          <a:solidFill>
            <a:srgbClr val="EFF6FF"/>
          </a:solidFill>
          <a:ln w="12700">
            <a:solidFill>
              <a:srgbClr val="E2E8F0"/>
            </a:solidFill>
            <a:prstDash val="solid"/>
          </a:ln>
        </p:spPr>
      </p:sp>
      <p:sp>
        <p:nvSpPr>
          <p:cNvPr id="48" name="Shape 46"/>
          <p:cNvSpPr/>
          <p:nvPr/>
        </p:nvSpPr>
        <p:spPr>
          <a:xfrm>
            <a:off x="7059168" y="2578608"/>
            <a:ext cx="1920240" cy="329184"/>
          </a:xfrm>
          <a:prstGeom prst="rect">
            <a:avLst/>
          </a:prstGeom>
          <a:solidFill>
            <a:srgbClr val="EFF6FF"/>
          </a:solidFill>
          <a:ln w="12700">
            <a:solidFill>
              <a:srgbClr val="E2E8F0"/>
            </a:solidFill>
            <a:prstDash val="solid"/>
          </a:ln>
        </p:spPr>
      </p:sp>
      <p:sp>
        <p:nvSpPr>
          <p:cNvPr id="49" name="Text 47"/>
          <p:cNvSpPr/>
          <p:nvPr/>
        </p:nvSpPr>
        <p:spPr>
          <a:xfrm>
            <a:off x="310896" y="2578608"/>
            <a:ext cx="2926080" cy="329184"/>
          </a:xfrm>
          <a:prstGeom prst="rect">
            <a:avLst/>
          </a:prstGeom>
          <a:noFill/>
          <a:ln/>
        </p:spPr>
        <p:txBody>
          <a:bodyPr wrap="square"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NOPAT</a:t>
            </a:r>
            <a:endParaRPr lang="en-US" sz="1050" dirty="0"/>
          </a:p>
        </p:txBody>
      </p:sp>
      <p:sp>
        <p:nvSpPr>
          <p:cNvPr id="50" name="Text 48"/>
          <p:cNvSpPr/>
          <p:nvPr/>
        </p:nvSpPr>
        <p:spPr>
          <a:xfrm>
            <a:off x="3310128" y="2578608"/>
            <a:ext cx="1828800" cy="329184"/>
          </a:xfrm>
          <a:prstGeom prst="rect">
            <a:avLst/>
          </a:prstGeom>
          <a:noFill/>
          <a:ln/>
        </p:spPr>
        <p:txBody>
          <a:bodyPr wrap="square" rtlCol="0" anchor="ctr"/>
          <a:lstStyle/>
          <a:p>
            <a:pPr algn="ctr" indent="0" marL="0">
              <a:buNone/>
            </a:pPr>
            <a:r>
              <a:rPr lang="en-US" sz="1050" b="1" dirty="0">
                <a:solidFill>
                  <a:srgbClr val="1E293B"/>
                </a:solidFill>
                <a:latin typeface="Calibri" pitchFamily="34" charset="0"/>
                <a:ea typeface="Calibri" pitchFamily="34" charset="-122"/>
                <a:cs typeface="Calibri" pitchFamily="34" charset="-120"/>
              </a:rPr>
              <a:t>49,982</a:t>
            </a:r>
            <a:endParaRPr lang="en-US" sz="1050" dirty="0"/>
          </a:p>
        </p:txBody>
      </p:sp>
      <p:sp>
        <p:nvSpPr>
          <p:cNvPr id="51" name="Text 49"/>
          <p:cNvSpPr/>
          <p:nvPr/>
        </p:nvSpPr>
        <p:spPr>
          <a:xfrm>
            <a:off x="5184648" y="2578608"/>
            <a:ext cx="1828800" cy="329184"/>
          </a:xfrm>
          <a:prstGeom prst="rect">
            <a:avLst/>
          </a:prstGeom>
          <a:noFill/>
          <a:ln/>
        </p:spPr>
        <p:txBody>
          <a:bodyPr wrap="square" rtlCol="0" anchor="ctr"/>
          <a:lstStyle/>
          <a:p>
            <a:pPr algn="ctr" indent="0" marL="0">
              <a:buNone/>
            </a:pPr>
            <a:r>
              <a:rPr lang="en-US" sz="1050" b="1" dirty="0">
                <a:solidFill>
                  <a:srgbClr val="1E293B"/>
                </a:solidFill>
                <a:latin typeface="Calibri" pitchFamily="34" charset="0"/>
                <a:ea typeface="Calibri" pitchFamily="34" charset="-122"/>
                <a:cs typeface="Calibri" pitchFamily="34" charset="-120"/>
              </a:rPr>
              <a:t>55,199</a:t>
            </a:r>
            <a:endParaRPr lang="en-US" sz="1050" dirty="0"/>
          </a:p>
        </p:txBody>
      </p:sp>
      <p:sp>
        <p:nvSpPr>
          <p:cNvPr id="52" name="Text 50"/>
          <p:cNvSpPr/>
          <p:nvPr/>
        </p:nvSpPr>
        <p:spPr>
          <a:xfrm>
            <a:off x="7059168" y="2578608"/>
            <a:ext cx="1920240" cy="329184"/>
          </a:xfrm>
          <a:prstGeom prst="rect">
            <a:avLst/>
          </a:prstGeom>
          <a:noFill/>
          <a:ln/>
        </p:spPr>
        <p:txBody>
          <a:bodyPr wrap="square" rtlCol="0" anchor="ctr"/>
          <a:lstStyle/>
          <a:p>
            <a:pPr algn="ctr" indent="0" marL="0">
              <a:buNone/>
            </a:pPr>
            <a:r>
              <a:rPr lang="en-US" sz="1050" b="1" dirty="0">
                <a:solidFill>
                  <a:srgbClr val="1E293B"/>
                </a:solidFill>
                <a:latin typeface="Calibri" pitchFamily="34" charset="0"/>
                <a:ea typeface="Calibri" pitchFamily="34" charset="-122"/>
                <a:cs typeface="Calibri" pitchFamily="34" charset="-120"/>
              </a:rPr>
              <a:t>60,992</a:t>
            </a:r>
            <a:endParaRPr lang="en-US" sz="1050" dirty="0"/>
          </a:p>
        </p:txBody>
      </p:sp>
      <p:sp>
        <p:nvSpPr>
          <p:cNvPr id="53" name="Shape 51"/>
          <p:cNvSpPr/>
          <p:nvPr/>
        </p:nvSpPr>
        <p:spPr>
          <a:xfrm>
            <a:off x="256032" y="2926080"/>
            <a:ext cx="3017520" cy="329184"/>
          </a:xfrm>
          <a:prstGeom prst="rect">
            <a:avLst/>
          </a:prstGeom>
          <a:solidFill>
            <a:srgbClr val="FFFFFF"/>
          </a:solidFill>
          <a:ln w="12700">
            <a:solidFill>
              <a:srgbClr val="E2E8F0"/>
            </a:solidFill>
            <a:prstDash val="solid"/>
          </a:ln>
        </p:spPr>
      </p:sp>
      <p:sp>
        <p:nvSpPr>
          <p:cNvPr id="54" name="Shape 52"/>
          <p:cNvSpPr/>
          <p:nvPr/>
        </p:nvSpPr>
        <p:spPr>
          <a:xfrm>
            <a:off x="3310128" y="2926080"/>
            <a:ext cx="1828800" cy="329184"/>
          </a:xfrm>
          <a:prstGeom prst="rect">
            <a:avLst/>
          </a:prstGeom>
          <a:solidFill>
            <a:srgbClr val="FFFFFF"/>
          </a:solidFill>
          <a:ln w="12700">
            <a:solidFill>
              <a:srgbClr val="E2E8F0"/>
            </a:solidFill>
            <a:prstDash val="solid"/>
          </a:ln>
        </p:spPr>
      </p:sp>
      <p:sp>
        <p:nvSpPr>
          <p:cNvPr id="55" name="Shape 53"/>
          <p:cNvSpPr/>
          <p:nvPr/>
        </p:nvSpPr>
        <p:spPr>
          <a:xfrm>
            <a:off x="5184648" y="2926080"/>
            <a:ext cx="1828800" cy="329184"/>
          </a:xfrm>
          <a:prstGeom prst="rect">
            <a:avLst/>
          </a:prstGeom>
          <a:solidFill>
            <a:srgbClr val="FFFFFF"/>
          </a:solidFill>
          <a:ln w="12700">
            <a:solidFill>
              <a:srgbClr val="E2E8F0"/>
            </a:solidFill>
            <a:prstDash val="solid"/>
          </a:ln>
        </p:spPr>
      </p:sp>
      <p:sp>
        <p:nvSpPr>
          <p:cNvPr id="56" name="Shape 54"/>
          <p:cNvSpPr/>
          <p:nvPr/>
        </p:nvSpPr>
        <p:spPr>
          <a:xfrm>
            <a:off x="7059168" y="2926080"/>
            <a:ext cx="1920240" cy="329184"/>
          </a:xfrm>
          <a:prstGeom prst="rect">
            <a:avLst/>
          </a:prstGeom>
          <a:solidFill>
            <a:srgbClr val="FFFFFF"/>
          </a:solidFill>
          <a:ln w="12700">
            <a:solidFill>
              <a:srgbClr val="E2E8F0"/>
            </a:solidFill>
            <a:prstDash val="solid"/>
          </a:ln>
        </p:spPr>
      </p:sp>
      <p:sp>
        <p:nvSpPr>
          <p:cNvPr id="57" name="Text 55"/>
          <p:cNvSpPr/>
          <p:nvPr/>
        </p:nvSpPr>
        <p:spPr>
          <a:xfrm>
            <a:off x="310896" y="2926080"/>
            <a:ext cx="2926080" cy="329184"/>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Depreciation (6%)</a:t>
            </a:r>
            <a:endParaRPr lang="en-US" sz="1050" dirty="0"/>
          </a:p>
        </p:txBody>
      </p:sp>
      <p:sp>
        <p:nvSpPr>
          <p:cNvPr id="58" name="Text 56"/>
          <p:cNvSpPr/>
          <p:nvPr/>
        </p:nvSpPr>
        <p:spPr>
          <a:xfrm>
            <a:off x="3310128" y="2926080"/>
            <a:ext cx="1828800" cy="329184"/>
          </a:xfrm>
          <a:prstGeom prst="rect">
            <a:avLst/>
          </a:prstGeom>
          <a:noFill/>
          <a:ln/>
        </p:spPr>
        <p:txBody>
          <a:bodyPr wrap="square"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28,767</a:t>
            </a:r>
            <a:endParaRPr lang="en-US" sz="1050" dirty="0"/>
          </a:p>
        </p:txBody>
      </p:sp>
      <p:sp>
        <p:nvSpPr>
          <p:cNvPr id="59" name="Text 57"/>
          <p:cNvSpPr/>
          <p:nvPr/>
        </p:nvSpPr>
        <p:spPr>
          <a:xfrm>
            <a:off x="5184648" y="2926080"/>
            <a:ext cx="1828800" cy="329184"/>
          </a:xfrm>
          <a:prstGeom prst="rect">
            <a:avLst/>
          </a:prstGeom>
          <a:noFill/>
          <a:ln/>
        </p:spPr>
        <p:txBody>
          <a:bodyPr wrap="square"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31,778</a:t>
            </a:r>
            <a:endParaRPr lang="en-US" sz="1050" dirty="0"/>
          </a:p>
        </p:txBody>
      </p:sp>
      <p:sp>
        <p:nvSpPr>
          <p:cNvPr id="60" name="Text 58"/>
          <p:cNvSpPr/>
          <p:nvPr/>
        </p:nvSpPr>
        <p:spPr>
          <a:xfrm>
            <a:off x="7059168" y="2926080"/>
            <a:ext cx="1920240" cy="329184"/>
          </a:xfrm>
          <a:prstGeom prst="rect">
            <a:avLst/>
          </a:prstGeom>
          <a:noFill/>
          <a:ln/>
        </p:spPr>
        <p:txBody>
          <a:bodyPr wrap="square"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35,104</a:t>
            </a:r>
            <a:endParaRPr lang="en-US" sz="1050" dirty="0"/>
          </a:p>
        </p:txBody>
      </p:sp>
      <p:sp>
        <p:nvSpPr>
          <p:cNvPr id="61" name="Shape 59"/>
          <p:cNvSpPr/>
          <p:nvPr/>
        </p:nvSpPr>
        <p:spPr>
          <a:xfrm>
            <a:off x="256032" y="3273552"/>
            <a:ext cx="3017520" cy="329184"/>
          </a:xfrm>
          <a:prstGeom prst="rect">
            <a:avLst/>
          </a:prstGeom>
          <a:solidFill>
            <a:srgbClr val="EFF6FF"/>
          </a:solidFill>
          <a:ln w="12700">
            <a:solidFill>
              <a:srgbClr val="E2E8F0"/>
            </a:solidFill>
            <a:prstDash val="solid"/>
          </a:ln>
        </p:spPr>
      </p:sp>
      <p:sp>
        <p:nvSpPr>
          <p:cNvPr id="62" name="Shape 60"/>
          <p:cNvSpPr/>
          <p:nvPr/>
        </p:nvSpPr>
        <p:spPr>
          <a:xfrm>
            <a:off x="3310128" y="3273552"/>
            <a:ext cx="1828800" cy="329184"/>
          </a:xfrm>
          <a:prstGeom prst="rect">
            <a:avLst/>
          </a:prstGeom>
          <a:solidFill>
            <a:srgbClr val="EFF6FF"/>
          </a:solidFill>
          <a:ln w="12700">
            <a:solidFill>
              <a:srgbClr val="E2E8F0"/>
            </a:solidFill>
            <a:prstDash val="solid"/>
          </a:ln>
        </p:spPr>
      </p:sp>
      <p:sp>
        <p:nvSpPr>
          <p:cNvPr id="63" name="Shape 61"/>
          <p:cNvSpPr/>
          <p:nvPr/>
        </p:nvSpPr>
        <p:spPr>
          <a:xfrm>
            <a:off x="5184648" y="3273552"/>
            <a:ext cx="1828800" cy="329184"/>
          </a:xfrm>
          <a:prstGeom prst="rect">
            <a:avLst/>
          </a:prstGeom>
          <a:solidFill>
            <a:srgbClr val="EFF6FF"/>
          </a:solidFill>
          <a:ln w="12700">
            <a:solidFill>
              <a:srgbClr val="E2E8F0"/>
            </a:solidFill>
            <a:prstDash val="solid"/>
          </a:ln>
        </p:spPr>
      </p:sp>
      <p:sp>
        <p:nvSpPr>
          <p:cNvPr id="64" name="Shape 62"/>
          <p:cNvSpPr/>
          <p:nvPr/>
        </p:nvSpPr>
        <p:spPr>
          <a:xfrm>
            <a:off x="7059168" y="3273552"/>
            <a:ext cx="1920240" cy="329184"/>
          </a:xfrm>
          <a:prstGeom prst="rect">
            <a:avLst/>
          </a:prstGeom>
          <a:solidFill>
            <a:srgbClr val="EFF6FF"/>
          </a:solidFill>
          <a:ln w="12700">
            <a:solidFill>
              <a:srgbClr val="E2E8F0"/>
            </a:solidFill>
            <a:prstDash val="solid"/>
          </a:ln>
        </p:spPr>
      </p:sp>
      <p:sp>
        <p:nvSpPr>
          <p:cNvPr id="65" name="Text 63"/>
          <p:cNvSpPr/>
          <p:nvPr/>
        </p:nvSpPr>
        <p:spPr>
          <a:xfrm>
            <a:off x="310896" y="3273552"/>
            <a:ext cx="2926080" cy="329184"/>
          </a:xfrm>
          <a:prstGeom prst="rect">
            <a:avLst/>
          </a:prstGeom>
          <a:noFill/>
          <a:ln/>
        </p:spPr>
        <p:txBody>
          <a:bodyPr wrap="square"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Capex (8.8%)</a:t>
            </a:r>
            <a:endParaRPr lang="en-US" sz="1050" dirty="0"/>
          </a:p>
        </p:txBody>
      </p:sp>
      <p:sp>
        <p:nvSpPr>
          <p:cNvPr id="66" name="Text 64"/>
          <p:cNvSpPr/>
          <p:nvPr/>
        </p:nvSpPr>
        <p:spPr>
          <a:xfrm>
            <a:off x="3310128" y="3273552"/>
            <a:ext cx="1828800" cy="329184"/>
          </a:xfrm>
          <a:prstGeom prst="rect">
            <a:avLst/>
          </a:prstGeom>
          <a:noFill/>
          <a:ln/>
        </p:spPr>
        <p:txBody>
          <a:bodyPr wrap="square"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(42,191)</a:t>
            </a:r>
            <a:endParaRPr lang="en-US" sz="1050" dirty="0"/>
          </a:p>
        </p:txBody>
      </p:sp>
      <p:sp>
        <p:nvSpPr>
          <p:cNvPr id="67" name="Text 65"/>
          <p:cNvSpPr/>
          <p:nvPr/>
        </p:nvSpPr>
        <p:spPr>
          <a:xfrm>
            <a:off x="5184648" y="3273552"/>
            <a:ext cx="1828800" cy="329184"/>
          </a:xfrm>
          <a:prstGeom prst="rect">
            <a:avLst/>
          </a:prstGeom>
          <a:noFill/>
          <a:ln/>
        </p:spPr>
        <p:txBody>
          <a:bodyPr wrap="square"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(46,607)</a:t>
            </a:r>
            <a:endParaRPr lang="en-US" sz="1050" dirty="0"/>
          </a:p>
        </p:txBody>
      </p:sp>
      <p:sp>
        <p:nvSpPr>
          <p:cNvPr id="68" name="Text 66"/>
          <p:cNvSpPr/>
          <p:nvPr/>
        </p:nvSpPr>
        <p:spPr>
          <a:xfrm>
            <a:off x="7059168" y="3273552"/>
            <a:ext cx="1920240" cy="329184"/>
          </a:xfrm>
          <a:prstGeom prst="rect">
            <a:avLst/>
          </a:prstGeom>
          <a:noFill/>
          <a:ln/>
        </p:spPr>
        <p:txBody>
          <a:bodyPr wrap="square"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(51,485)</a:t>
            </a:r>
            <a:endParaRPr lang="en-US" sz="1050" dirty="0"/>
          </a:p>
        </p:txBody>
      </p:sp>
      <p:sp>
        <p:nvSpPr>
          <p:cNvPr id="69" name="Shape 67"/>
          <p:cNvSpPr/>
          <p:nvPr/>
        </p:nvSpPr>
        <p:spPr>
          <a:xfrm>
            <a:off x="256032" y="3621024"/>
            <a:ext cx="3017520" cy="329184"/>
          </a:xfrm>
          <a:prstGeom prst="rect">
            <a:avLst/>
          </a:prstGeom>
          <a:solidFill>
            <a:srgbClr val="DBEAFE"/>
          </a:solidFill>
          <a:ln w="12700">
            <a:solidFill>
              <a:srgbClr val="E2E8F0"/>
            </a:solidFill>
            <a:prstDash val="solid"/>
          </a:ln>
        </p:spPr>
      </p:sp>
      <p:sp>
        <p:nvSpPr>
          <p:cNvPr id="70" name="Shape 68"/>
          <p:cNvSpPr/>
          <p:nvPr/>
        </p:nvSpPr>
        <p:spPr>
          <a:xfrm>
            <a:off x="3310128" y="3621024"/>
            <a:ext cx="1828800" cy="329184"/>
          </a:xfrm>
          <a:prstGeom prst="rect">
            <a:avLst/>
          </a:prstGeom>
          <a:solidFill>
            <a:srgbClr val="DBEAFE"/>
          </a:solidFill>
          <a:ln w="12700">
            <a:solidFill>
              <a:srgbClr val="E2E8F0"/>
            </a:solidFill>
            <a:prstDash val="solid"/>
          </a:ln>
        </p:spPr>
      </p:sp>
      <p:sp>
        <p:nvSpPr>
          <p:cNvPr id="71" name="Shape 69"/>
          <p:cNvSpPr/>
          <p:nvPr/>
        </p:nvSpPr>
        <p:spPr>
          <a:xfrm>
            <a:off x="5184648" y="3621024"/>
            <a:ext cx="1828800" cy="329184"/>
          </a:xfrm>
          <a:prstGeom prst="rect">
            <a:avLst/>
          </a:prstGeom>
          <a:solidFill>
            <a:srgbClr val="DBEAFE"/>
          </a:solidFill>
          <a:ln w="12700">
            <a:solidFill>
              <a:srgbClr val="E2E8F0"/>
            </a:solidFill>
            <a:prstDash val="solid"/>
          </a:ln>
        </p:spPr>
      </p:sp>
      <p:sp>
        <p:nvSpPr>
          <p:cNvPr id="72" name="Shape 70"/>
          <p:cNvSpPr/>
          <p:nvPr/>
        </p:nvSpPr>
        <p:spPr>
          <a:xfrm>
            <a:off x="7059168" y="3621024"/>
            <a:ext cx="1920240" cy="329184"/>
          </a:xfrm>
          <a:prstGeom prst="rect">
            <a:avLst/>
          </a:prstGeom>
          <a:solidFill>
            <a:srgbClr val="DBEAFE"/>
          </a:solidFill>
          <a:ln w="12700">
            <a:solidFill>
              <a:srgbClr val="E2E8F0"/>
            </a:solidFill>
            <a:prstDash val="solid"/>
          </a:ln>
        </p:spPr>
      </p:sp>
      <p:sp>
        <p:nvSpPr>
          <p:cNvPr id="73" name="Text 71"/>
          <p:cNvSpPr/>
          <p:nvPr/>
        </p:nvSpPr>
        <p:spPr>
          <a:xfrm>
            <a:off x="310896" y="3621024"/>
            <a:ext cx="2926080" cy="329184"/>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Free Cash Flow</a:t>
            </a:r>
            <a:endParaRPr lang="en-US" sz="1100" dirty="0"/>
          </a:p>
        </p:txBody>
      </p:sp>
      <p:sp>
        <p:nvSpPr>
          <p:cNvPr id="74" name="Text 72"/>
          <p:cNvSpPr/>
          <p:nvPr/>
        </p:nvSpPr>
        <p:spPr>
          <a:xfrm>
            <a:off x="3310128" y="3621024"/>
            <a:ext cx="1828800" cy="329184"/>
          </a:xfrm>
          <a:prstGeom prst="rect">
            <a:avLst/>
          </a:prstGeom>
          <a:noFill/>
          <a:ln/>
        </p:spPr>
        <p:txBody>
          <a:bodyPr wrap="square"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36,558</a:t>
            </a:r>
            <a:endParaRPr lang="en-US" sz="1100" dirty="0"/>
          </a:p>
        </p:txBody>
      </p:sp>
      <p:sp>
        <p:nvSpPr>
          <p:cNvPr id="75" name="Text 73"/>
          <p:cNvSpPr/>
          <p:nvPr/>
        </p:nvSpPr>
        <p:spPr>
          <a:xfrm>
            <a:off x="5184648" y="3621024"/>
            <a:ext cx="1828800" cy="329184"/>
          </a:xfrm>
          <a:prstGeom prst="rect">
            <a:avLst/>
          </a:prstGeom>
          <a:noFill/>
          <a:ln/>
        </p:spPr>
        <p:txBody>
          <a:bodyPr wrap="square"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40,370</a:t>
            </a:r>
            <a:endParaRPr lang="en-US" sz="1100" dirty="0"/>
          </a:p>
        </p:txBody>
      </p:sp>
      <p:sp>
        <p:nvSpPr>
          <p:cNvPr id="76" name="Text 74"/>
          <p:cNvSpPr/>
          <p:nvPr/>
        </p:nvSpPr>
        <p:spPr>
          <a:xfrm>
            <a:off x="7059168" y="3621024"/>
            <a:ext cx="1920240" cy="329184"/>
          </a:xfrm>
          <a:prstGeom prst="rect">
            <a:avLst/>
          </a:prstGeom>
          <a:noFill/>
          <a:ln/>
        </p:spPr>
        <p:txBody>
          <a:bodyPr wrap="square"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44,611</a:t>
            </a:r>
            <a:endParaRPr lang="en-US" sz="1100" dirty="0"/>
          </a:p>
        </p:txBody>
      </p:sp>
      <p:sp>
        <p:nvSpPr>
          <p:cNvPr id="77" name="Shape 75"/>
          <p:cNvSpPr/>
          <p:nvPr/>
        </p:nvSpPr>
        <p:spPr>
          <a:xfrm>
            <a:off x="256032" y="3968496"/>
            <a:ext cx="3017520" cy="329184"/>
          </a:xfrm>
          <a:prstGeom prst="rect">
            <a:avLst/>
          </a:prstGeom>
          <a:solidFill>
            <a:srgbClr val="DBEAFE"/>
          </a:solidFill>
          <a:ln w="12700">
            <a:solidFill>
              <a:srgbClr val="E2E8F0"/>
            </a:solidFill>
            <a:prstDash val="solid"/>
          </a:ln>
        </p:spPr>
      </p:sp>
      <p:sp>
        <p:nvSpPr>
          <p:cNvPr id="78" name="Shape 76"/>
          <p:cNvSpPr/>
          <p:nvPr/>
        </p:nvSpPr>
        <p:spPr>
          <a:xfrm>
            <a:off x="3310128" y="3968496"/>
            <a:ext cx="1828800" cy="329184"/>
          </a:xfrm>
          <a:prstGeom prst="rect">
            <a:avLst/>
          </a:prstGeom>
          <a:solidFill>
            <a:srgbClr val="DBEAFE"/>
          </a:solidFill>
          <a:ln w="12700">
            <a:solidFill>
              <a:srgbClr val="E2E8F0"/>
            </a:solidFill>
            <a:prstDash val="solid"/>
          </a:ln>
        </p:spPr>
      </p:sp>
      <p:sp>
        <p:nvSpPr>
          <p:cNvPr id="79" name="Shape 77"/>
          <p:cNvSpPr/>
          <p:nvPr/>
        </p:nvSpPr>
        <p:spPr>
          <a:xfrm>
            <a:off x="5184648" y="3968496"/>
            <a:ext cx="1828800" cy="329184"/>
          </a:xfrm>
          <a:prstGeom prst="rect">
            <a:avLst/>
          </a:prstGeom>
          <a:solidFill>
            <a:srgbClr val="DBEAFE"/>
          </a:solidFill>
          <a:ln w="12700">
            <a:solidFill>
              <a:srgbClr val="E2E8F0"/>
            </a:solidFill>
            <a:prstDash val="solid"/>
          </a:ln>
        </p:spPr>
      </p:sp>
      <p:sp>
        <p:nvSpPr>
          <p:cNvPr id="80" name="Shape 78"/>
          <p:cNvSpPr/>
          <p:nvPr/>
        </p:nvSpPr>
        <p:spPr>
          <a:xfrm>
            <a:off x="7059168" y="3968496"/>
            <a:ext cx="1920240" cy="329184"/>
          </a:xfrm>
          <a:prstGeom prst="rect">
            <a:avLst/>
          </a:prstGeom>
          <a:solidFill>
            <a:srgbClr val="DBEAFE"/>
          </a:solidFill>
          <a:ln w="12700">
            <a:solidFill>
              <a:srgbClr val="E2E8F0"/>
            </a:solidFill>
            <a:prstDash val="solid"/>
          </a:ln>
        </p:spPr>
      </p:sp>
      <p:sp>
        <p:nvSpPr>
          <p:cNvPr id="81" name="Text 79"/>
          <p:cNvSpPr/>
          <p:nvPr/>
        </p:nvSpPr>
        <p:spPr>
          <a:xfrm>
            <a:off x="310896" y="3968496"/>
            <a:ext cx="2926080" cy="329184"/>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PV of FCF  (@10% WACC)</a:t>
            </a:r>
            <a:endParaRPr lang="en-US" sz="1100" dirty="0"/>
          </a:p>
        </p:txBody>
      </p:sp>
      <p:sp>
        <p:nvSpPr>
          <p:cNvPr id="82" name="Text 80"/>
          <p:cNvSpPr/>
          <p:nvPr/>
        </p:nvSpPr>
        <p:spPr>
          <a:xfrm>
            <a:off x="3310128" y="3968496"/>
            <a:ext cx="1828800" cy="329184"/>
          </a:xfrm>
          <a:prstGeom prst="rect">
            <a:avLst/>
          </a:prstGeom>
          <a:noFill/>
          <a:ln/>
        </p:spPr>
        <p:txBody>
          <a:bodyPr wrap="square"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33,235</a:t>
            </a:r>
            <a:endParaRPr lang="en-US" sz="1100" dirty="0"/>
          </a:p>
        </p:txBody>
      </p:sp>
      <p:sp>
        <p:nvSpPr>
          <p:cNvPr id="83" name="Text 81"/>
          <p:cNvSpPr/>
          <p:nvPr/>
        </p:nvSpPr>
        <p:spPr>
          <a:xfrm>
            <a:off x="5184648" y="3968496"/>
            <a:ext cx="1828800" cy="329184"/>
          </a:xfrm>
          <a:prstGeom prst="rect">
            <a:avLst/>
          </a:prstGeom>
          <a:noFill/>
          <a:ln/>
        </p:spPr>
        <p:txBody>
          <a:bodyPr wrap="square"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33,364</a:t>
            </a:r>
            <a:endParaRPr lang="en-US" sz="1100" dirty="0"/>
          </a:p>
        </p:txBody>
      </p:sp>
      <p:sp>
        <p:nvSpPr>
          <p:cNvPr id="84" name="Text 82"/>
          <p:cNvSpPr/>
          <p:nvPr/>
        </p:nvSpPr>
        <p:spPr>
          <a:xfrm>
            <a:off x="7059168" y="3968496"/>
            <a:ext cx="1920240" cy="329184"/>
          </a:xfrm>
          <a:prstGeom prst="rect">
            <a:avLst/>
          </a:prstGeom>
          <a:noFill/>
          <a:ln/>
        </p:spPr>
        <p:txBody>
          <a:bodyPr wrap="square"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33,504</a:t>
            </a:r>
            <a:endParaRPr lang="en-US" sz="1100" dirty="0"/>
          </a:p>
        </p:txBody>
      </p:sp>
      <p:sp>
        <p:nvSpPr>
          <p:cNvPr id="85" name="Text 83"/>
          <p:cNvSpPr/>
          <p:nvPr/>
        </p:nvSpPr>
        <p:spPr>
          <a:xfrm>
            <a:off x="256032" y="4325112"/>
            <a:ext cx="8631936" cy="228600"/>
          </a:xfrm>
          <a:prstGeom prst="rect">
            <a:avLst/>
          </a:prstGeom>
          <a:noFill/>
          <a:ln/>
        </p:spPr>
        <p:txBody>
          <a:bodyPr wrap="square"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FCF = NOPAT + Depreciation − Capex  |  Discounted at WACC of 10% over the forecast period</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C3E6B"/>
          </a:solidFill>
          <a:ln w="12700">
            <a:solidFill>
              <a:srgbClr val="2C3E6B"/>
            </a:solidFill>
            <a:prstDash val="solid"/>
          </a:ln>
        </p:spPr>
      </p:sp>
      <p:sp>
        <p:nvSpPr>
          <p:cNvPr id="3" name="Text 1"/>
          <p:cNvSpPr/>
          <p:nvPr/>
        </p:nvSpPr>
        <p:spPr>
          <a:xfrm>
            <a:off x="320040" y="0"/>
            <a:ext cx="8046720" cy="6583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METHOD 1: DCF RESULT — INTRINSIC VALUE BRIDGE</a:t>
            </a:r>
            <a:endParaRPr lang="en-US" sz="1600" dirty="0"/>
          </a:p>
        </p:txBody>
      </p:sp>
      <p:sp>
        <p:nvSpPr>
          <p:cNvPr id="4" name="Text 2"/>
          <p:cNvSpPr/>
          <p:nvPr/>
        </p:nvSpPr>
        <p:spPr>
          <a:xfrm>
            <a:off x="8046720" y="0"/>
            <a:ext cx="914400" cy="658368"/>
          </a:xfrm>
          <a:prstGeom prst="rect">
            <a:avLst/>
          </a:prstGeom>
          <a:noFill/>
          <a:ln/>
        </p:spPr>
        <p:txBody>
          <a:bodyPr wrap="square" rtlCol="0" anchor="ctr"/>
          <a:lstStyle/>
          <a:p>
            <a:pPr algn="r" indent="0" marL="0">
              <a:buNone/>
            </a:pPr>
            <a:r>
              <a:rPr lang="en-US" sz="900" dirty="0">
                <a:solidFill>
                  <a:srgbClr val="AEC6E8"/>
                </a:solidFill>
                <a:latin typeface="Calibri" pitchFamily="34" charset="0"/>
                <a:ea typeface="Calibri" pitchFamily="34" charset="-122"/>
                <a:cs typeface="Calibri" pitchFamily="34" charset="-120"/>
              </a:rPr>
              <a:t>6 / 9</a:t>
            </a:r>
            <a:endParaRPr lang="en-US" sz="900" dirty="0"/>
          </a:p>
        </p:txBody>
      </p:sp>
      <p:sp>
        <p:nvSpPr>
          <p:cNvPr id="5" name="Shape 3"/>
          <p:cNvSpPr/>
          <p:nvPr/>
        </p:nvSpPr>
        <p:spPr>
          <a:xfrm>
            <a:off x="256032" y="804672"/>
            <a:ext cx="2011680" cy="1463040"/>
          </a:xfrm>
          <a:prstGeom prst="rect">
            <a:avLst/>
          </a:prstGeom>
          <a:solidFill>
            <a:srgbClr val="2C3E6B"/>
          </a:solidFill>
          <a:ln w="12700">
            <a:solidFill>
              <a:srgbClr val="3D5A8A"/>
            </a:solidFill>
            <a:prstDash val="solid"/>
          </a:ln>
          <a:effectLst>
            <a:outerShdw sx="100000" sy="100000" kx="0" ky="0" algn="bl" rotWithShape="0" blurRad="50800" dist="25400" dir="8100000">
              <a:srgbClr val="000000">
                <a:alpha val="10000"/>
              </a:srgbClr>
            </a:outerShdw>
          </a:effectLst>
        </p:spPr>
      </p:sp>
      <p:sp>
        <p:nvSpPr>
          <p:cNvPr id="6" name="Text 4"/>
          <p:cNvSpPr/>
          <p:nvPr/>
        </p:nvSpPr>
        <p:spPr>
          <a:xfrm>
            <a:off x="256032" y="877824"/>
            <a:ext cx="2011680" cy="274320"/>
          </a:xfrm>
          <a:prstGeom prst="rect">
            <a:avLst/>
          </a:prstGeom>
          <a:noFill/>
          <a:ln/>
        </p:spPr>
        <p:txBody>
          <a:bodyPr wrap="square" rtlCol="0" anchor="ctr"/>
          <a:lstStyle/>
          <a:p>
            <a:pPr algn="ctr" indent="0" marL="0">
              <a:buNone/>
            </a:pPr>
            <a:r>
              <a:rPr lang="en-US" sz="900" dirty="0">
                <a:solidFill>
                  <a:srgbClr val="AEC6E8"/>
                </a:solidFill>
                <a:latin typeface="Calibri" pitchFamily="34" charset="0"/>
                <a:ea typeface="Calibri" pitchFamily="34" charset="-122"/>
                <a:cs typeface="Calibri" pitchFamily="34" charset="-120"/>
              </a:rPr>
              <a:t>Sum of PV (FCFs)</a:t>
            </a:r>
            <a:endParaRPr lang="en-US" sz="900" dirty="0"/>
          </a:p>
        </p:txBody>
      </p:sp>
      <p:sp>
        <p:nvSpPr>
          <p:cNvPr id="7" name="Text 5"/>
          <p:cNvSpPr/>
          <p:nvPr/>
        </p:nvSpPr>
        <p:spPr>
          <a:xfrm>
            <a:off x="256032" y="1170432"/>
            <a:ext cx="2011680"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INR 1,00,103 Cr</a:t>
            </a:r>
            <a:endParaRPr lang="en-US" sz="1300" dirty="0"/>
          </a:p>
        </p:txBody>
      </p:sp>
      <p:sp>
        <p:nvSpPr>
          <p:cNvPr id="8" name="Text 6"/>
          <p:cNvSpPr/>
          <p:nvPr/>
        </p:nvSpPr>
        <p:spPr>
          <a:xfrm>
            <a:off x="256032" y="1591056"/>
            <a:ext cx="2011680" cy="347472"/>
          </a:xfrm>
          <a:prstGeom prst="rect">
            <a:avLst/>
          </a:prstGeom>
          <a:noFill/>
          <a:ln/>
        </p:spPr>
        <p:txBody>
          <a:bodyPr wrap="square" rtlCol="0" anchor="ctr"/>
          <a:lstStyle/>
          <a:p>
            <a:pPr algn="ctr" indent="0" marL="0">
              <a:buNone/>
            </a:pPr>
            <a:r>
              <a:rPr lang="en-US" sz="850" i="1" dirty="0">
                <a:solidFill>
                  <a:srgbClr val="AEC6E8"/>
                </a:solidFill>
                <a:latin typeface="Calibri" pitchFamily="34" charset="0"/>
                <a:ea typeface="Calibri" pitchFamily="34" charset="-122"/>
                <a:cs typeface="Calibri" pitchFamily="34" charset="-120"/>
              </a:rPr>
              <a:t>FY25–27 discounted @ 10%</a:t>
            </a:r>
            <a:endParaRPr lang="en-US" sz="850" dirty="0"/>
          </a:p>
        </p:txBody>
      </p:sp>
      <p:sp>
        <p:nvSpPr>
          <p:cNvPr id="9" name="Text 7"/>
          <p:cNvSpPr/>
          <p:nvPr/>
        </p:nvSpPr>
        <p:spPr>
          <a:xfrm>
            <a:off x="2286000" y="1188720"/>
            <a:ext cx="146304" cy="365760"/>
          </a:xfrm>
          <a:prstGeom prst="rect">
            <a:avLst/>
          </a:prstGeom>
          <a:noFill/>
          <a:ln/>
        </p:spPr>
        <p:txBody>
          <a:bodyPr wrap="square" rtlCol="0" anchor="ct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2432304" y="804672"/>
            <a:ext cx="2011680" cy="1463040"/>
          </a:xfrm>
          <a:prstGeom prst="rect">
            <a:avLst/>
          </a:prstGeom>
          <a:solidFill>
            <a:srgbClr val="2C3E6B"/>
          </a:solidFill>
          <a:ln w="12700">
            <a:solidFill>
              <a:srgbClr val="3D5A8A"/>
            </a:solidFill>
            <a:prstDash val="solid"/>
          </a:ln>
          <a:effectLst>
            <a:outerShdw sx="100000" sy="100000" kx="0" ky="0" algn="bl" rotWithShape="0" blurRad="50800" dist="25400" dir="8100000">
              <a:srgbClr val="000000">
                <a:alpha val="10000"/>
              </a:srgbClr>
            </a:outerShdw>
          </a:effectLst>
        </p:spPr>
      </p:sp>
      <p:sp>
        <p:nvSpPr>
          <p:cNvPr id="11" name="Text 9"/>
          <p:cNvSpPr/>
          <p:nvPr/>
        </p:nvSpPr>
        <p:spPr>
          <a:xfrm>
            <a:off x="2432304" y="877824"/>
            <a:ext cx="2011680" cy="274320"/>
          </a:xfrm>
          <a:prstGeom prst="rect">
            <a:avLst/>
          </a:prstGeom>
          <a:noFill/>
          <a:ln/>
        </p:spPr>
        <p:txBody>
          <a:bodyPr wrap="square" rtlCol="0" anchor="ctr"/>
          <a:lstStyle/>
          <a:p>
            <a:pPr algn="ctr" indent="0" marL="0">
              <a:buNone/>
            </a:pPr>
            <a:r>
              <a:rPr lang="en-US" sz="900" dirty="0">
                <a:solidFill>
                  <a:srgbClr val="AEC6E8"/>
                </a:solidFill>
                <a:latin typeface="Calibri" pitchFamily="34" charset="0"/>
                <a:ea typeface="Calibri" pitchFamily="34" charset="-122"/>
                <a:cs typeface="Calibri" pitchFamily="34" charset="-120"/>
              </a:rPr>
              <a:t>Terminal Value</a:t>
            </a:r>
            <a:endParaRPr lang="en-US" sz="900" dirty="0"/>
          </a:p>
        </p:txBody>
      </p:sp>
      <p:sp>
        <p:nvSpPr>
          <p:cNvPr id="12" name="Text 10"/>
          <p:cNvSpPr/>
          <p:nvPr/>
        </p:nvSpPr>
        <p:spPr>
          <a:xfrm>
            <a:off x="2432304" y="1170432"/>
            <a:ext cx="2011680"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INR 8,13,018 Cr</a:t>
            </a:r>
            <a:endParaRPr lang="en-US" sz="1300" dirty="0"/>
          </a:p>
        </p:txBody>
      </p:sp>
      <p:sp>
        <p:nvSpPr>
          <p:cNvPr id="13" name="Text 11"/>
          <p:cNvSpPr/>
          <p:nvPr/>
        </p:nvSpPr>
        <p:spPr>
          <a:xfrm>
            <a:off x="2432304" y="1591056"/>
            <a:ext cx="2011680" cy="347472"/>
          </a:xfrm>
          <a:prstGeom prst="rect">
            <a:avLst/>
          </a:prstGeom>
          <a:noFill/>
          <a:ln/>
        </p:spPr>
        <p:txBody>
          <a:bodyPr wrap="square" rtlCol="0" anchor="ctr"/>
          <a:lstStyle/>
          <a:p>
            <a:pPr algn="ctr" indent="0" marL="0">
              <a:buNone/>
            </a:pPr>
            <a:r>
              <a:rPr lang="en-US" sz="850" i="1" dirty="0">
                <a:solidFill>
                  <a:srgbClr val="AEC6E8"/>
                </a:solidFill>
                <a:latin typeface="Calibri" pitchFamily="34" charset="0"/>
                <a:ea typeface="Calibri" pitchFamily="34" charset="-122"/>
                <a:cs typeface="Calibri" pitchFamily="34" charset="-120"/>
              </a:rPr>
              <a:t>FCF27×(1.04)/(10%−4%)</a:t>
            </a:r>
            <a:endParaRPr lang="en-US" sz="850" dirty="0"/>
          </a:p>
        </p:txBody>
      </p:sp>
      <p:sp>
        <p:nvSpPr>
          <p:cNvPr id="14" name="Text 12"/>
          <p:cNvSpPr/>
          <p:nvPr/>
        </p:nvSpPr>
        <p:spPr>
          <a:xfrm>
            <a:off x="4462272" y="1188720"/>
            <a:ext cx="146304" cy="365760"/>
          </a:xfrm>
          <a:prstGeom prst="rect">
            <a:avLst/>
          </a:prstGeom>
          <a:noFill/>
          <a:ln/>
        </p:spPr>
        <p:txBody>
          <a:bodyPr wrap="square" rtlCol="0" anchor="ct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4608576" y="804672"/>
            <a:ext cx="2011680" cy="1463040"/>
          </a:xfrm>
          <a:prstGeom prst="rect">
            <a:avLst/>
          </a:prstGeom>
          <a:solidFill>
            <a:srgbClr val="2C3E6B"/>
          </a:solidFill>
          <a:ln w="12700">
            <a:solidFill>
              <a:srgbClr val="3D5A8A"/>
            </a:solidFill>
            <a:prstDash val="solid"/>
          </a:ln>
          <a:effectLst>
            <a:outerShdw sx="100000" sy="100000" kx="0" ky="0" algn="bl" rotWithShape="0" blurRad="50800" dist="25400" dir="8100000">
              <a:srgbClr val="000000">
                <a:alpha val="10000"/>
              </a:srgbClr>
            </a:outerShdw>
          </a:effectLst>
        </p:spPr>
      </p:sp>
      <p:sp>
        <p:nvSpPr>
          <p:cNvPr id="16" name="Text 14"/>
          <p:cNvSpPr/>
          <p:nvPr/>
        </p:nvSpPr>
        <p:spPr>
          <a:xfrm>
            <a:off x="4608576" y="877824"/>
            <a:ext cx="2011680" cy="274320"/>
          </a:xfrm>
          <a:prstGeom prst="rect">
            <a:avLst/>
          </a:prstGeom>
          <a:noFill/>
          <a:ln/>
        </p:spPr>
        <p:txBody>
          <a:bodyPr wrap="square" rtlCol="0" anchor="ctr"/>
          <a:lstStyle/>
          <a:p>
            <a:pPr algn="ctr" indent="0" marL="0">
              <a:buNone/>
            </a:pPr>
            <a:r>
              <a:rPr lang="en-US" sz="900" dirty="0">
                <a:solidFill>
                  <a:srgbClr val="AEC6E8"/>
                </a:solidFill>
                <a:latin typeface="Calibri" pitchFamily="34" charset="0"/>
                <a:ea typeface="Calibri" pitchFamily="34" charset="-122"/>
                <a:cs typeface="Calibri" pitchFamily="34" charset="-120"/>
              </a:rPr>
              <a:t>PV of Terminal Value</a:t>
            </a:r>
            <a:endParaRPr lang="en-US" sz="900" dirty="0"/>
          </a:p>
        </p:txBody>
      </p:sp>
      <p:sp>
        <p:nvSpPr>
          <p:cNvPr id="17" name="Text 15"/>
          <p:cNvSpPr/>
          <p:nvPr/>
        </p:nvSpPr>
        <p:spPr>
          <a:xfrm>
            <a:off x="4608576" y="1170432"/>
            <a:ext cx="2011680"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INR 6,10,974 Cr</a:t>
            </a:r>
            <a:endParaRPr lang="en-US" sz="1300" dirty="0"/>
          </a:p>
        </p:txBody>
      </p:sp>
      <p:sp>
        <p:nvSpPr>
          <p:cNvPr id="18" name="Text 16"/>
          <p:cNvSpPr/>
          <p:nvPr/>
        </p:nvSpPr>
        <p:spPr>
          <a:xfrm>
            <a:off x="4608576" y="1591056"/>
            <a:ext cx="2011680" cy="347472"/>
          </a:xfrm>
          <a:prstGeom prst="rect">
            <a:avLst/>
          </a:prstGeom>
          <a:noFill/>
          <a:ln/>
        </p:spPr>
        <p:txBody>
          <a:bodyPr wrap="square" rtlCol="0" anchor="ctr"/>
          <a:lstStyle/>
          <a:p>
            <a:pPr algn="ctr" indent="0" marL="0">
              <a:buNone/>
            </a:pPr>
            <a:r>
              <a:rPr lang="en-US" sz="850" i="1" dirty="0">
                <a:solidFill>
                  <a:srgbClr val="AEC6E8"/>
                </a:solidFill>
                <a:latin typeface="Calibri" pitchFamily="34" charset="0"/>
                <a:ea typeface="Calibri" pitchFamily="34" charset="-122"/>
                <a:cs typeface="Calibri" pitchFamily="34" charset="-120"/>
              </a:rPr>
              <a:t>TV discounted 3 yrs @ 10%</a:t>
            </a:r>
            <a:endParaRPr lang="en-US" sz="850" dirty="0"/>
          </a:p>
        </p:txBody>
      </p:sp>
      <p:sp>
        <p:nvSpPr>
          <p:cNvPr id="19" name="Text 17"/>
          <p:cNvSpPr/>
          <p:nvPr/>
        </p:nvSpPr>
        <p:spPr>
          <a:xfrm>
            <a:off x="6638544" y="1188720"/>
            <a:ext cx="146304" cy="365760"/>
          </a:xfrm>
          <a:prstGeom prst="rect">
            <a:avLst/>
          </a:prstGeom>
          <a:noFill/>
          <a:ln/>
        </p:spPr>
        <p:txBody>
          <a:bodyPr wrap="square" rtlCol="0" anchor="ct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6784848" y="804672"/>
            <a:ext cx="2011680" cy="1463040"/>
          </a:xfrm>
          <a:prstGeom prst="rect">
            <a:avLst/>
          </a:prstGeom>
          <a:solidFill>
            <a:srgbClr val="2C3E6B"/>
          </a:solidFill>
          <a:ln w="12700">
            <a:solidFill>
              <a:srgbClr val="3D5A8A"/>
            </a:solidFill>
            <a:prstDash val="solid"/>
          </a:ln>
          <a:effectLst>
            <a:outerShdw sx="100000" sy="100000" kx="0" ky="0" algn="bl" rotWithShape="0" blurRad="50800" dist="25400" dir="8100000">
              <a:srgbClr val="000000">
                <a:alpha val="10000"/>
              </a:srgbClr>
            </a:outerShdw>
          </a:effectLst>
        </p:spPr>
      </p:sp>
      <p:sp>
        <p:nvSpPr>
          <p:cNvPr id="21" name="Text 19"/>
          <p:cNvSpPr/>
          <p:nvPr/>
        </p:nvSpPr>
        <p:spPr>
          <a:xfrm>
            <a:off x="6784848" y="877824"/>
            <a:ext cx="2011680" cy="274320"/>
          </a:xfrm>
          <a:prstGeom prst="rect">
            <a:avLst/>
          </a:prstGeom>
          <a:noFill/>
          <a:ln/>
        </p:spPr>
        <p:txBody>
          <a:bodyPr wrap="square" rtlCol="0" anchor="ctr"/>
          <a:lstStyle/>
          <a:p>
            <a:pPr algn="ctr" indent="0" marL="0">
              <a:buNone/>
            </a:pPr>
            <a:r>
              <a:rPr lang="en-US" sz="900" dirty="0">
                <a:solidFill>
                  <a:srgbClr val="AEC6E8"/>
                </a:solidFill>
                <a:latin typeface="Calibri" pitchFamily="34" charset="0"/>
                <a:ea typeface="Calibri" pitchFamily="34" charset="-122"/>
                <a:cs typeface="Calibri" pitchFamily="34" charset="-120"/>
              </a:rPr>
              <a:t>Enterprise Value</a:t>
            </a:r>
            <a:endParaRPr lang="en-US" sz="900" dirty="0"/>
          </a:p>
        </p:txBody>
      </p:sp>
      <p:sp>
        <p:nvSpPr>
          <p:cNvPr id="22" name="Text 20"/>
          <p:cNvSpPr/>
          <p:nvPr/>
        </p:nvSpPr>
        <p:spPr>
          <a:xfrm>
            <a:off x="6784848" y="1170432"/>
            <a:ext cx="2011680" cy="40233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INR 7,11,077 Cr</a:t>
            </a:r>
            <a:endParaRPr lang="en-US" sz="1300" dirty="0"/>
          </a:p>
        </p:txBody>
      </p:sp>
      <p:sp>
        <p:nvSpPr>
          <p:cNvPr id="23" name="Text 21"/>
          <p:cNvSpPr/>
          <p:nvPr/>
        </p:nvSpPr>
        <p:spPr>
          <a:xfrm>
            <a:off x="6784848" y="1591056"/>
            <a:ext cx="2011680" cy="347472"/>
          </a:xfrm>
          <a:prstGeom prst="rect">
            <a:avLst/>
          </a:prstGeom>
          <a:noFill/>
          <a:ln/>
        </p:spPr>
        <p:txBody>
          <a:bodyPr wrap="square" rtlCol="0" anchor="ctr"/>
          <a:lstStyle/>
          <a:p>
            <a:pPr algn="ctr" indent="0" marL="0">
              <a:buNone/>
            </a:pPr>
            <a:r>
              <a:rPr lang="en-US" sz="850" i="1" dirty="0">
                <a:solidFill>
                  <a:srgbClr val="AEC6E8"/>
                </a:solidFill>
                <a:latin typeface="Calibri" pitchFamily="34" charset="0"/>
                <a:ea typeface="Calibri" pitchFamily="34" charset="-122"/>
                <a:cs typeface="Calibri" pitchFamily="34" charset="-120"/>
              </a:rPr>
              <a:t>PV FCFs + PV TV</a:t>
            </a:r>
            <a:endParaRPr lang="en-US" sz="850" dirty="0"/>
          </a:p>
        </p:txBody>
      </p:sp>
      <p:sp>
        <p:nvSpPr>
          <p:cNvPr id="24" name="Shape 22"/>
          <p:cNvSpPr/>
          <p:nvPr/>
        </p:nvSpPr>
        <p:spPr>
          <a:xfrm>
            <a:off x="256032" y="2395728"/>
            <a:ext cx="8631936" cy="960120"/>
          </a:xfrm>
          <a:prstGeom prst="rect">
            <a:avLst/>
          </a:prstGeom>
          <a:solidFill>
            <a:srgbClr val="2C3E6B"/>
          </a:solidFill>
          <a:ln w="12700">
            <a:solidFill>
              <a:srgbClr val="3D5A8A"/>
            </a:solidFill>
            <a:prstDash val="solid"/>
          </a:ln>
        </p:spPr>
      </p:sp>
      <p:sp>
        <p:nvSpPr>
          <p:cNvPr id="25" name="Text 23"/>
          <p:cNvSpPr/>
          <p:nvPr/>
        </p:nvSpPr>
        <p:spPr>
          <a:xfrm>
            <a:off x="347472" y="2468880"/>
            <a:ext cx="1353312" cy="256032"/>
          </a:xfrm>
          <a:prstGeom prst="rect">
            <a:avLst/>
          </a:prstGeom>
          <a:noFill/>
          <a:ln/>
        </p:spPr>
        <p:txBody>
          <a:bodyPr wrap="square" rtlCol="0" anchor="ctr"/>
          <a:lstStyle/>
          <a:p>
            <a:pPr algn="ctr" indent="0" marL="0">
              <a:buNone/>
            </a:pPr>
            <a:r>
              <a:rPr lang="en-US" sz="850" dirty="0">
                <a:solidFill>
                  <a:srgbClr val="AEC6E8"/>
                </a:solidFill>
                <a:latin typeface="Calibri" pitchFamily="34" charset="0"/>
                <a:ea typeface="Calibri" pitchFamily="34" charset="-122"/>
                <a:cs typeface="Calibri" pitchFamily="34" charset="-120"/>
              </a:rPr>
              <a:t>Enterprise Value</a:t>
            </a:r>
            <a:endParaRPr lang="en-US" sz="850" dirty="0"/>
          </a:p>
        </p:txBody>
      </p:sp>
      <p:sp>
        <p:nvSpPr>
          <p:cNvPr id="26" name="Text 24"/>
          <p:cNvSpPr/>
          <p:nvPr/>
        </p:nvSpPr>
        <p:spPr>
          <a:xfrm>
            <a:off x="329184" y="2743200"/>
            <a:ext cx="1389888" cy="347472"/>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7,11,077 Cr</a:t>
            </a:r>
            <a:endParaRPr lang="en-US" sz="1150" dirty="0"/>
          </a:p>
        </p:txBody>
      </p:sp>
      <p:sp>
        <p:nvSpPr>
          <p:cNvPr id="27" name="Text 25"/>
          <p:cNvSpPr/>
          <p:nvPr/>
        </p:nvSpPr>
        <p:spPr>
          <a:xfrm>
            <a:off x="1737360" y="2724912"/>
            <a:ext cx="201168" cy="347472"/>
          </a:xfrm>
          <a:prstGeom prst="rect">
            <a:avLst/>
          </a:prstGeom>
          <a:noFill/>
          <a:ln/>
        </p:spPr>
        <p:txBody>
          <a:bodyPr wrap="square" rtlCol="0" anchor="ctr"/>
          <a:lstStyle/>
          <a:p>
            <a:pPr algn="ctr" indent="0" marL="0">
              <a:buNone/>
            </a:pPr>
            <a:r>
              <a:rPr lang="en-US" sz="1400" dirty="0">
                <a:solidFill>
                  <a:srgbClr val="C0392B"/>
                </a:solidFill>
                <a:latin typeface="Calibri" pitchFamily="34" charset="0"/>
                <a:ea typeface="Calibri" pitchFamily="34" charset="-122"/>
                <a:cs typeface="Calibri" pitchFamily="34" charset="-120"/>
              </a:rPr>
              <a:t>→</a:t>
            </a:r>
            <a:endParaRPr lang="en-US" sz="1400" dirty="0"/>
          </a:p>
        </p:txBody>
      </p:sp>
      <p:sp>
        <p:nvSpPr>
          <p:cNvPr id="28" name="Text 26"/>
          <p:cNvSpPr/>
          <p:nvPr/>
        </p:nvSpPr>
        <p:spPr>
          <a:xfrm>
            <a:off x="1773936" y="2468880"/>
            <a:ext cx="1353312" cy="256032"/>
          </a:xfrm>
          <a:prstGeom prst="rect">
            <a:avLst/>
          </a:prstGeom>
          <a:noFill/>
          <a:ln/>
        </p:spPr>
        <p:txBody>
          <a:bodyPr wrap="square" rtlCol="0" anchor="ctr"/>
          <a:lstStyle/>
          <a:p>
            <a:pPr algn="ctr" indent="0" marL="0">
              <a:buNone/>
            </a:pPr>
            <a:r>
              <a:rPr lang="en-US" sz="850" dirty="0">
                <a:solidFill>
                  <a:srgbClr val="AEC6E8"/>
                </a:solidFill>
                <a:latin typeface="Calibri" pitchFamily="34" charset="0"/>
                <a:ea typeface="Calibri" pitchFamily="34" charset="-122"/>
                <a:cs typeface="Calibri" pitchFamily="34" charset="-120"/>
              </a:rPr>
              <a:t>+ Cash (FY24)</a:t>
            </a:r>
            <a:endParaRPr lang="en-US" sz="850" dirty="0"/>
          </a:p>
        </p:txBody>
      </p:sp>
      <p:sp>
        <p:nvSpPr>
          <p:cNvPr id="29" name="Text 27"/>
          <p:cNvSpPr/>
          <p:nvPr/>
        </p:nvSpPr>
        <p:spPr>
          <a:xfrm>
            <a:off x="1755648" y="2743200"/>
            <a:ext cx="1389888" cy="347472"/>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27,913 Cr</a:t>
            </a:r>
            <a:endParaRPr lang="en-US" sz="1150" dirty="0"/>
          </a:p>
        </p:txBody>
      </p:sp>
      <p:sp>
        <p:nvSpPr>
          <p:cNvPr id="30" name="Text 28"/>
          <p:cNvSpPr/>
          <p:nvPr/>
        </p:nvSpPr>
        <p:spPr>
          <a:xfrm>
            <a:off x="3163824" y="2724912"/>
            <a:ext cx="201168" cy="347472"/>
          </a:xfrm>
          <a:prstGeom prst="rect">
            <a:avLst/>
          </a:prstGeom>
          <a:noFill/>
          <a:ln/>
        </p:spPr>
        <p:txBody>
          <a:bodyPr wrap="square" rtlCol="0" anchor="ctr"/>
          <a:lstStyle/>
          <a:p>
            <a:pPr algn="ctr" indent="0" marL="0">
              <a:buNone/>
            </a:pPr>
            <a:r>
              <a:rPr lang="en-US" sz="1400" dirty="0">
                <a:solidFill>
                  <a:srgbClr val="C0392B"/>
                </a:solidFill>
                <a:latin typeface="Calibri" pitchFamily="34" charset="0"/>
                <a:ea typeface="Calibri" pitchFamily="34" charset="-122"/>
                <a:cs typeface="Calibri" pitchFamily="34" charset="-120"/>
              </a:rPr>
              <a:t>→</a:t>
            </a:r>
            <a:endParaRPr lang="en-US" sz="1400" dirty="0"/>
          </a:p>
        </p:txBody>
      </p:sp>
      <p:sp>
        <p:nvSpPr>
          <p:cNvPr id="31" name="Text 29"/>
          <p:cNvSpPr/>
          <p:nvPr/>
        </p:nvSpPr>
        <p:spPr>
          <a:xfrm>
            <a:off x="3200400" y="2468880"/>
            <a:ext cx="1353312" cy="256032"/>
          </a:xfrm>
          <a:prstGeom prst="rect">
            <a:avLst/>
          </a:prstGeom>
          <a:noFill/>
          <a:ln/>
        </p:spPr>
        <p:txBody>
          <a:bodyPr wrap="square" rtlCol="0" anchor="ctr"/>
          <a:lstStyle/>
          <a:p>
            <a:pPr algn="ctr" indent="0" marL="0">
              <a:buNone/>
            </a:pPr>
            <a:r>
              <a:rPr lang="en-US" sz="850" dirty="0">
                <a:solidFill>
                  <a:srgbClr val="AEC6E8"/>
                </a:solidFill>
                <a:latin typeface="Calibri" pitchFamily="34" charset="0"/>
                <a:ea typeface="Calibri" pitchFamily="34" charset="-122"/>
                <a:cs typeface="Calibri" pitchFamily="34" charset="-120"/>
              </a:rPr>
              <a:t>− Debt (FY24)</a:t>
            </a:r>
            <a:endParaRPr lang="en-US" sz="850" dirty="0"/>
          </a:p>
        </p:txBody>
      </p:sp>
      <p:sp>
        <p:nvSpPr>
          <p:cNvPr id="32" name="Text 30"/>
          <p:cNvSpPr/>
          <p:nvPr/>
        </p:nvSpPr>
        <p:spPr>
          <a:xfrm>
            <a:off x="3182112" y="2743200"/>
            <a:ext cx="1389888" cy="347472"/>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55,591 Cr</a:t>
            </a:r>
            <a:endParaRPr lang="en-US" sz="1150" dirty="0"/>
          </a:p>
        </p:txBody>
      </p:sp>
      <p:sp>
        <p:nvSpPr>
          <p:cNvPr id="33" name="Text 31"/>
          <p:cNvSpPr/>
          <p:nvPr/>
        </p:nvSpPr>
        <p:spPr>
          <a:xfrm>
            <a:off x="4590288" y="2724912"/>
            <a:ext cx="201168" cy="347472"/>
          </a:xfrm>
          <a:prstGeom prst="rect">
            <a:avLst/>
          </a:prstGeom>
          <a:noFill/>
          <a:ln/>
        </p:spPr>
        <p:txBody>
          <a:bodyPr wrap="square" rtlCol="0" anchor="ctr"/>
          <a:lstStyle/>
          <a:p>
            <a:pPr algn="ctr" indent="0" marL="0">
              <a:buNone/>
            </a:pPr>
            <a:r>
              <a:rPr lang="en-US" sz="1400" dirty="0">
                <a:solidFill>
                  <a:srgbClr val="C0392B"/>
                </a:solidFill>
                <a:latin typeface="Calibri" pitchFamily="34" charset="0"/>
                <a:ea typeface="Calibri" pitchFamily="34" charset="-122"/>
                <a:cs typeface="Calibri" pitchFamily="34" charset="-120"/>
              </a:rPr>
              <a:t>→</a:t>
            </a:r>
            <a:endParaRPr lang="en-US" sz="1400" dirty="0"/>
          </a:p>
        </p:txBody>
      </p:sp>
      <p:sp>
        <p:nvSpPr>
          <p:cNvPr id="34" name="Text 32"/>
          <p:cNvSpPr/>
          <p:nvPr/>
        </p:nvSpPr>
        <p:spPr>
          <a:xfrm>
            <a:off x="4626864" y="2468880"/>
            <a:ext cx="1353312" cy="256032"/>
          </a:xfrm>
          <a:prstGeom prst="rect">
            <a:avLst/>
          </a:prstGeom>
          <a:noFill/>
          <a:ln/>
        </p:spPr>
        <p:txBody>
          <a:bodyPr wrap="square" rtlCol="0" anchor="ctr"/>
          <a:lstStyle/>
          <a:p>
            <a:pPr algn="ctr" indent="0" marL="0">
              <a:buNone/>
            </a:pPr>
            <a:r>
              <a:rPr lang="en-US" sz="850" dirty="0">
                <a:solidFill>
                  <a:srgbClr val="AEC6E8"/>
                </a:solidFill>
                <a:latin typeface="Calibri" pitchFamily="34" charset="0"/>
                <a:ea typeface="Calibri" pitchFamily="34" charset="-122"/>
                <a:cs typeface="Calibri" pitchFamily="34" charset="-120"/>
              </a:rPr>
              <a:t>= Equity Value</a:t>
            </a:r>
            <a:endParaRPr lang="en-US" sz="850" dirty="0"/>
          </a:p>
        </p:txBody>
      </p:sp>
      <p:sp>
        <p:nvSpPr>
          <p:cNvPr id="35" name="Text 33"/>
          <p:cNvSpPr/>
          <p:nvPr/>
        </p:nvSpPr>
        <p:spPr>
          <a:xfrm>
            <a:off x="4608576" y="2743200"/>
            <a:ext cx="1389888" cy="347472"/>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6,83,399 Cr</a:t>
            </a:r>
            <a:endParaRPr lang="en-US" sz="1150" dirty="0"/>
          </a:p>
        </p:txBody>
      </p:sp>
      <p:sp>
        <p:nvSpPr>
          <p:cNvPr id="36" name="Text 34"/>
          <p:cNvSpPr/>
          <p:nvPr/>
        </p:nvSpPr>
        <p:spPr>
          <a:xfrm>
            <a:off x="6016752" y="2724912"/>
            <a:ext cx="201168" cy="347472"/>
          </a:xfrm>
          <a:prstGeom prst="rect">
            <a:avLst/>
          </a:prstGeom>
          <a:noFill/>
          <a:ln/>
        </p:spPr>
        <p:txBody>
          <a:bodyPr wrap="square" rtlCol="0" anchor="ctr"/>
          <a:lstStyle/>
          <a:p>
            <a:pPr algn="ctr" indent="0" marL="0">
              <a:buNone/>
            </a:pPr>
            <a:r>
              <a:rPr lang="en-US" sz="1400" dirty="0">
                <a:solidFill>
                  <a:srgbClr val="C0392B"/>
                </a:solidFill>
                <a:latin typeface="Calibri" pitchFamily="34" charset="0"/>
                <a:ea typeface="Calibri" pitchFamily="34" charset="-122"/>
                <a:cs typeface="Calibri" pitchFamily="34" charset="-120"/>
              </a:rPr>
              <a:t>→</a:t>
            </a:r>
            <a:endParaRPr lang="en-US" sz="1400" dirty="0"/>
          </a:p>
        </p:txBody>
      </p:sp>
      <p:sp>
        <p:nvSpPr>
          <p:cNvPr id="37" name="Text 35"/>
          <p:cNvSpPr/>
          <p:nvPr/>
        </p:nvSpPr>
        <p:spPr>
          <a:xfrm>
            <a:off x="6053328" y="2468880"/>
            <a:ext cx="1353312" cy="256032"/>
          </a:xfrm>
          <a:prstGeom prst="rect">
            <a:avLst/>
          </a:prstGeom>
          <a:noFill/>
          <a:ln/>
        </p:spPr>
        <p:txBody>
          <a:bodyPr wrap="square" rtlCol="0" anchor="ctr"/>
          <a:lstStyle/>
          <a:p>
            <a:pPr algn="ctr" indent="0" marL="0">
              <a:buNone/>
            </a:pPr>
            <a:r>
              <a:rPr lang="en-US" sz="850" dirty="0">
                <a:solidFill>
                  <a:srgbClr val="AEC6E8"/>
                </a:solidFill>
                <a:latin typeface="Calibri" pitchFamily="34" charset="0"/>
                <a:ea typeface="Calibri" pitchFamily="34" charset="-122"/>
                <a:cs typeface="Calibri" pitchFamily="34" charset="-120"/>
              </a:rPr>
              <a:t>÷ Shares</a:t>
            </a:r>
            <a:endParaRPr lang="en-US" sz="850" dirty="0"/>
          </a:p>
        </p:txBody>
      </p:sp>
      <p:sp>
        <p:nvSpPr>
          <p:cNvPr id="38" name="Text 36"/>
          <p:cNvSpPr/>
          <p:nvPr/>
        </p:nvSpPr>
        <p:spPr>
          <a:xfrm>
            <a:off x="6035040" y="2743200"/>
            <a:ext cx="1389888" cy="347472"/>
          </a:xfrm>
          <a:prstGeom prst="rect">
            <a:avLst/>
          </a:prstGeom>
          <a:noFill/>
          <a:ln/>
        </p:spPr>
        <p:txBody>
          <a:bodyPr wrap="square"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370 Cr</a:t>
            </a:r>
            <a:endParaRPr lang="en-US" sz="1150" dirty="0"/>
          </a:p>
        </p:txBody>
      </p:sp>
      <p:sp>
        <p:nvSpPr>
          <p:cNvPr id="39" name="Text 37"/>
          <p:cNvSpPr/>
          <p:nvPr/>
        </p:nvSpPr>
        <p:spPr>
          <a:xfrm>
            <a:off x="7443216" y="2724912"/>
            <a:ext cx="201168" cy="347472"/>
          </a:xfrm>
          <a:prstGeom prst="rect">
            <a:avLst/>
          </a:prstGeom>
          <a:noFill/>
          <a:ln/>
        </p:spPr>
        <p:txBody>
          <a:bodyPr wrap="square" rtlCol="0" anchor="ctr"/>
          <a:lstStyle/>
          <a:p>
            <a:pPr algn="ctr" indent="0" marL="0">
              <a:buNone/>
            </a:pPr>
            <a:r>
              <a:rPr lang="en-US" sz="1400" dirty="0">
                <a:solidFill>
                  <a:srgbClr val="C0392B"/>
                </a:solidFill>
                <a:latin typeface="Calibri" pitchFamily="34" charset="0"/>
                <a:ea typeface="Calibri" pitchFamily="34" charset="-122"/>
                <a:cs typeface="Calibri" pitchFamily="34" charset="-120"/>
              </a:rPr>
              <a:t>→</a:t>
            </a:r>
            <a:endParaRPr lang="en-US" sz="1400" dirty="0"/>
          </a:p>
        </p:txBody>
      </p:sp>
      <p:sp>
        <p:nvSpPr>
          <p:cNvPr id="40" name="Text 38"/>
          <p:cNvSpPr/>
          <p:nvPr/>
        </p:nvSpPr>
        <p:spPr>
          <a:xfrm>
            <a:off x="7479792" y="2468880"/>
            <a:ext cx="1353312" cy="256032"/>
          </a:xfrm>
          <a:prstGeom prst="rect">
            <a:avLst/>
          </a:prstGeom>
          <a:noFill/>
          <a:ln/>
        </p:spPr>
        <p:txBody>
          <a:bodyPr wrap="square" rtlCol="0" anchor="ctr"/>
          <a:lstStyle/>
          <a:p>
            <a:pPr algn="ctr" indent="0" marL="0">
              <a:buNone/>
            </a:pPr>
            <a:r>
              <a:rPr lang="en-US" sz="850" dirty="0">
                <a:solidFill>
                  <a:srgbClr val="AEC6E8"/>
                </a:solidFill>
                <a:latin typeface="Calibri" pitchFamily="34" charset="0"/>
                <a:ea typeface="Calibri" pitchFamily="34" charset="-122"/>
                <a:cs typeface="Calibri" pitchFamily="34" charset="-120"/>
              </a:rPr>
              <a:t>Intrinsic Value</a:t>
            </a:r>
            <a:endParaRPr lang="en-US" sz="850" dirty="0"/>
          </a:p>
        </p:txBody>
      </p:sp>
      <p:sp>
        <p:nvSpPr>
          <p:cNvPr id="41" name="Text 39"/>
          <p:cNvSpPr/>
          <p:nvPr/>
        </p:nvSpPr>
        <p:spPr>
          <a:xfrm>
            <a:off x="7461504" y="2743200"/>
            <a:ext cx="1389888" cy="347472"/>
          </a:xfrm>
          <a:prstGeom prst="rect">
            <a:avLst/>
          </a:prstGeom>
          <a:noFill/>
          <a:ln/>
        </p:spPr>
        <p:txBody>
          <a:bodyPr wrap="square" rtlCol="0" anchor="ctr"/>
          <a:lstStyle/>
          <a:p>
            <a:pPr algn="ctr" indent="0" marL="0">
              <a:buNone/>
            </a:pPr>
            <a:r>
              <a:rPr lang="en-US" sz="1150" b="1" dirty="0">
                <a:solidFill>
                  <a:srgbClr val="FFDD00"/>
                </a:solidFill>
                <a:latin typeface="Calibri" pitchFamily="34" charset="0"/>
                <a:ea typeface="Calibri" pitchFamily="34" charset="-122"/>
                <a:cs typeface="Calibri" pitchFamily="34" charset="-120"/>
              </a:rPr>
              <a:t>INR 330</a:t>
            </a:r>
            <a:endParaRPr lang="en-US" sz="1150" dirty="0"/>
          </a:p>
        </p:txBody>
      </p:sp>
      <p:sp>
        <p:nvSpPr>
          <p:cNvPr id="42" name="Shape 40"/>
          <p:cNvSpPr/>
          <p:nvPr/>
        </p:nvSpPr>
        <p:spPr>
          <a:xfrm>
            <a:off x="256032" y="3493008"/>
            <a:ext cx="8631936" cy="1005840"/>
          </a:xfrm>
          <a:prstGeom prst="rect">
            <a:avLst/>
          </a:prstGeom>
          <a:solidFill>
            <a:srgbClr val="C0392B"/>
          </a:solidFill>
          <a:ln w="12700">
            <a:solidFill>
              <a:srgbClr val="C0392B"/>
            </a:solidFill>
            <a:prstDash val="solid"/>
          </a:ln>
          <a:effectLst>
            <a:outerShdw sx="100000" sy="100000" kx="0" ky="0" algn="bl" rotWithShape="0" blurRad="50800" dist="25400" dir="8100000">
              <a:srgbClr val="000000">
                <a:alpha val="10000"/>
              </a:srgbClr>
            </a:outerShdw>
          </a:effectLst>
        </p:spPr>
      </p:sp>
      <p:sp>
        <p:nvSpPr>
          <p:cNvPr id="43" name="Text 41"/>
          <p:cNvSpPr/>
          <p:nvPr/>
        </p:nvSpPr>
        <p:spPr>
          <a:xfrm>
            <a:off x="347472" y="3529584"/>
            <a:ext cx="8449056" cy="93268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DCF RESULT:  SELL
</a:t>
            </a:r>
            <a:endParaRPr lang="en-US" sz="2200" dirty="0"/>
          </a:p>
          <a:p>
            <a:pPr algn="ctr" indent="0" marL="0">
              <a:buNone/>
            </a:pPr>
            <a:r>
              <a:rPr lang="en-US" sz="1050" i="1" dirty="0">
                <a:solidFill>
                  <a:srgbClr val="FFCCCC"/>
                </a:solidFill>
                <a:latin typeface="Calibri" pitchFamily="34" charset="0"/>
                <a:ea typeface="Calibri" pitchFamily="34" charset="-122"/>
                <a:cs typeface="Calibri" pitchFamily="34" charset="-120"/>
              </a:rPr>
              <a:t>Intrinsic Value INR 330  |  Market Price INR 382  |  Downside −13.6%  |  Stock is overvalued on DCF basis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Text 1"/>
          <p:cNvSpPr/>
          <p:nvPr/>
        </p:nvSpPr>
        <p:spPr>
          <a:xfrm>
            <a:off x="320040" y="0"/>
            <a:ext cx="8046720" cy="6583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METHOD 2: COMPARABLE COMPANY ANALYSIS — P/E MULTIPLE</a:t>
            </a:r>
            <a:endParaRPr lang="en-US" sz="1600" dirty="0"/>
          </a:p>
        </p:txBody>
      </p:sp>
      <p:sp>
        <p:nvSpPr>
          <p:cNvPr id="4" name="Text 2"/>
          <p:cNvSpPr/>
          <p:nvPr/>
        </p:nvSpPr>
        <p:spPr>
          <a:xfrm>
            <a:off x="8046720" y="0"/>
            <a:ext cx="914400" cy="658368"/>
          </a:xfrm>
          <a:prstGeom prst="rect">
            <a:avLst/>
          </a:prstGeom>
          <a:noFill/>
          <a:ln/>
        </p:spPr>
        <p:txBody>
          <a:bodyPr wrap="square" rtlCol="0" anchor="ctr"/>
          <a:lstStyle/>
          <a:p>
            <a:pPr algn="r" indent="0" marL="0">
              <a:buNone/>
            </a:pPr>
            <a:r>
              <a:rPr lang="en-US" sz="900" dirty="0">
                <a:solidFill>
                  <a:srgbClr val="AEC6E8"/>
                </a:solidFill>
                <a:latin typeface="Calibri" pitchFamily="34" charset="0"/>
                <a:ea typeface="Calibri" pitchFamily="34" charset="-122"/>
                <a:cs typeface="Calibri" pitchFamily="34" charset="-120"/>
              </a:rPr>
              <a:t>7 / 9</a:t>
            </a:r>
            <a:endParaRPr lang="en-US" sz="900" dirty="0"/>
          </a:p>
        </p:txBody>
      </p:sp>
      <p:sp>
        <p:nvSpPr>
          <p:cNvPr id="5" name="Shape 3"/>
          <p:cNvSpPr/>
          <p:nvPr/>
        </p:nvSpPr>
        <p:spPr>
          <a:xfrm>
            <a:off x="256032" y="749808"/>
            <a:ext cx="8631936" cy="292608"/>
          </a:xfrm>
          <a:prstGeom prst="rect">
            <a:avLst/>
          </a:prstGeom>
          <a:solidFill>
            <a:srgbClr val="EFF6FF"/>
          </a:solidFill>
          <a:ln w="12700">
            <a:solidFill>
              <a:srgbClr val="BFDBFE"/>
            </a:solidFill>
            <a:prstDash val="solid"/>
          </a:ln>
        </p:spPr>
      </p:sp>
      <p:sp>
        <p:nvSpPr>
          <p:cNvPr id="6" name="Text 4"/>
          <p:cNvSpPr/>
          <p:nvPr/>
        </p:nvSpPr>
        <p:spPr>
          <a:xfrm>
            <a:off x="347472" y="768096"/>
            <a:ext cx="8449056" cy="256032"/>
          </a:xfrm>
          <a:prstGeom prst="rect">
            <a:avLst/>
          </a:prstGeom>
          <a:noFill/>
          <a:ln/>
        </p:spPr>
        <p:txBody>
          <a:bodyPr wrap="square" rtlCol="0" anchor="ctr"/>
          <a:lstStyle/>
          <a:p>
            <a:pPr indent="0" marL="0">
              <a:buNone/>
            </a:pPr>
            <a:r>
              <a:rPr lang="en-US" sz="1000" i="1" dirty="0">
                <a:solidFill>
                  <a:srgbClr val="1B2A4A"/>
                </a:solidFill>
                <a:latin typeface="Calibri" pitchFamily="34" charset="0"/>
                <a:ea typeface="Calibri" pitchFamily="34" charset="-122"/>
                <a:cs typeface="Calibri" pitchFamily="34" charset="-120"/>
              </a:rPr>
              <a:t>Logic: if comparable companies trade at a similar P/E multiple, applying the peer average to Tata Motors' EPS gives an implied fair value.</a:t>
            </a:r>
            <a:endParaRPr lang="en-US" sz="1000" dirty="0"/>
          </a:p>
        </p:txBody>
      </p:sp>
      <p:sp>
        <p:nvSpPr>
          <p:cNvPr id="7" name="Shape 5"/>
          <p:cNvSpPr/>
          <p:nvPr/>
        </p:nvSpPr>
        <p:spPr>
          <a:xfrm>
            <a:off x="256032" y="1115568"/>
            <a:ext cx="8631936" cy="347472"/>
          </a:xfrm>
          <a:prstGeom prst="rect">
            <a:avLst/>
          </a:prstGeom>
          <a:solidFill>
            <a:srgbClr val="1B2A4A"/>
          </a:solidFill>
          <a:ln w="12700">
            <a:solidFill>
              <a:srgbClr val="1B2A4A"/>
            </a:solidFill>
            <a:prstDash val="solid"/>
          </a:ln>
        </p:spPr>
      </p:sp>
      <p:sp>
        <p:nvSpPr>
          <p:cNvPr id="8" name="Text 6"/>
          <p:cNvSpPr/>
          <p:nvPr/>
        </p:nvSpPr>
        <p:spPr>
          <a:xfrm>
            <a:off x="292608" y="1115568"/>
            <a:ext cx="1572768"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Company</a:t>
            </a:r>
            <a:endParaRPr lang="en-US" sz="1000" dirty="0"/>
          </a:p>
        </p:txBody>
      </p:sp>
      <p:sp>
        <p:nvSpPr>
          <p:cNvPr id="9" name="Text 7"/>
          <p:cNvSpPr/>
          <p:nvPr/>
        </p:nvSpPr>
        <p:spPr>
          <a:xfrm>
            <a:off x="1901952" y="1115568"/>
            <a:ext cx="128016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Share Price</a:t>
            </a:r>
            <a:endParaRPr lang="en-US" sz="1000" dirty="0"/>
          </a:p>
        </p:txBody>
      </p:sp>
      <p:sp>
        <p:nvSpPr>
          <p:cNvPr id="10" name="Text 8"/>
          <p:cNvSpPr/>
          <p:nvPr/>
        </p:nvSpPr>
        <p:spPr>
          <a:xfrm>
            <a:off x="3218688" y="1115568"/>
            <a:ext cx="1207008"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EPS (INR)</a:t>
            </a:r>
            <a:endParaRPr lang="en-US" sz="1000" dirty="0"/>
          </a:p>
        </p:txBody>
      </p:sp>
      <p:sp>
        <p:nvSpPr>
          <p:cNvPr id="11" name="Text 9"/>
          <p:cNvSpPr/>
          <p:nvPr/>
        </p:nvSpPr>
        <p:spPr>
          <a:xfrm>
            <a:off x="4462272" y="1115568"/>
            <a:ext cx="1152144"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P/E Ratio</a:t>
            </a:r>
            <a:endParaRPr lang="en-US" sz="1000" dirty="0"/>
          </a:p>
        </p:txBody>
      </p:sp>
      <p:sp>
        <p:nvSpPr>
          <p:cNvPr id="12" name="Text 10"/>
          <p:cNvSpPr/>
          <p:nvPr/>
        </p:nvSpPr>
        <p:spPr>
          <a:xfrm>
            <a:off x="5650992" y="1115568"/>
            <a:ext cx="128016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Included in Avg?</a:t>
            </a:r>
            <a:endParaRPr lang="en-US" sz="1000" dirty="0"/>
          </a:p>
        </p:txBody>
      </p:sp>
      <p:sp>
        <p:nvSpPr>
          <p:cNvPr id="13" name="Text 11"/>
          <p:cNvSpPr/>
          <p:nvPr/>
        </p:nvSpPr>
        <p:spPr>
          <a:xfrm>
            <a:off x="6967728" y="1115568"/>
            <a:ext cx="1883664"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Notes</a:t>
            </a:r>
            <a:endParaRPr lang="en-US" sz="1000" dirty="0"/>
          </a:p>
        </p:txBody>
      </p:sp>
      <p:sp>
        <p:nvSpPr>
          <p:cNvPr id="14" name="Shape 12"/>
          <p:cNvSpPr/>
          <p:nvPr/>
        </p:nvSpPr>
        <p:spPr>
          <a:xfrm>
            <a:off x="292608" y="1499616"/>
            <a:ext cx="1572768" cy="420624"/>
          </a:xfrm>
          <a:prstGeom prst="rect">
            <a:avLst/>
          </a:prstGeom>
          <a:solidFill>
            <a:srgbClr val="FFFFFF"/>
          </a:solidFill>
          <a:ln w="12700">
            <a:solidFill>
              <a:srgbClr val="E2E8F0"/>
            </a:solidFill>
            <a:prstDash val="solid"/>
          </a:ln>
        </p:spPr>
      </p:sp>
      <p:sp>
        <p:nvSpPr>
          <p:cNvPr id="15" name="Text 13"/>
          <p:cNvSpPr/>
          <p:nvPr/>
        </p:nvSpPr>
        <p:spPr>
          <a:xfrm>
            <a:off x="329184" y="1499616"/>
            <a:ext cx="1499616" cy="420624"/>
          </a:xfrm>
          <a:prstGeom prst="rect">
            <a:avLst/>
          </a:prstGeom>
          <a:noFill/>
          <a:ln/>
        </p:spPr>
        <p:txBody>
          <a:bodyPr wrap="square" rtlCol="0" anchor="ctr"/>
          <a:lstStyle/>
          <a:p>
            <a:pPr algn="l" indent="0" marL="0">
              <a:buNone/>
            </a:pPr>
            <a:r>
              <a:rPr lang="en-US" sz="1000" dirty="0">
                <a:solidFill>
                  <a:srgbClr val="1E293B"/>
                </a:solidFill>
                <a:latin typeface="Calibri" pitchFamily="34" charset="0"/>
                <a:ea typeface="Calibri" pitchFamily="34" charset="-122"/>
                <a:cs typeface="Calibri" pitchFamily="34" charset="-120"/>
              </a:rPr>
              <a:t>Maruti Suzuki</a:t>
            </a:r>
            <a:endParaRPr lang="en-US" sz="1000" dirty="0"/>
          </a:p>
        </p:txBody>
      </p:sp>
      <p:sp>
        <p:nvSpPr>
          <p:cNvPr id="16" name="Shape 14"/>
          <p:cNvSpPr/>
          <p:nvPr/>
        </p:nvSpPr>
        <p:spPr>
          <a:xfrm>
            <a:off x="1901952" y="1499616"/>
            <a:ext cx="1280160" cy="420624"/>
          </a:xfrm>
          <a:prstGeom prst="rect">
            <a:avLst/>
          </a:prstGeom>
          <a:solidFill>
            <a:srgbClr val="FFFFFF"/>
          </a:solidFill>
          <a:ln w="12700">
            <a:solidFill>
              <a:srgbClr val="E2E8F0"/>
            </a:solidFill>
            <a:prstDash val="solid"/>
          </a:ln>
        </p:spPr>
      </p:sp>
      <p:sp>
        <p:nvSpPr>
          <p:cNvPr id="17" name="Text 15"/>
          <p:cNvSpPr/>
          <p:nvPr/>
        </p:nvSpPr>
        <p:spPr>
          <a:xfrm>
            <a:off x="1938528" y="1499616"/>
            <a:ext cx="1207008" cy="420624"/>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15,179</a:t>
            </a:r>
            <a:endParaRPr lang="en-US" sz="1000" dirty="0"/>
          </a:p>
        </p:txBody>
      </p:sp>
      <p:sp>
        <p:nvSpPr>
          <p:cNvPr id="18" name="Shape 16"/>
          <p:cNvSpPr/>
          <p:nvPr/>
        </p:nvSpPr>
        <p:spPr>
          <a:xfrm>
            <a:off x="3218688" y="1499616"/>
            <a:ext cx="1207008" cy="420624"/>
          </a:xfrm>
          <a:prstGeom prst="rect">
            <a:avLst/>
          </a:prstGeom>
          <a:solidFill>
            <a:srgbClr val="FFFFFF"/>
          </a:solidFill>
          <a:ln w="12700">
            <a:solidFill>
              <a:srgbClr val="E2E8F0"/>
            </a:solidFill>
            <a:prstDash val="solid"/>
          </a:ln>
        </p:spPr>
      </p:sp>
      <p:sp>
        <p:nvSpPr>
          <p:cNvPr id="19" name="Text 17"/>
          <p:cNvSpPr/>
          <p:nvPr/>
        </p:nvSpPr>
        <p:spPr>
          <a:xfrm>
            <a:off x="3255264" y="1499616"/>
            <a:ext cx="1133856" cy="420624"/>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474.90</a:t>
            </a:r>
            <a:endParaRPr lang="en-US" sz="1000" dirty="0"/>
          </a:p>
        </p:txBody>
      </p:sp>
      <p:sp>
        <p:nvSpPr>
          <p:cNvPr id="20" name="Shape 18"/>
          <p:cNvSpPr/>
          <p:nvPr/>
        </p:nvSpPr>
        <p:spPr>
          <a:xfrm>
            <a:off x="4462272" y="1499616"/>
            <a:ext cx="1152144" cy="420624"/>
          </a:xfrm>
          <a:prstGeom prst="rect">
            <a:avLst/>
          </a:prstGeom>
          <a:solidFill>
            <a:srgbClr val="FFFFFF"/>
          </a:solidFill>
          <a:ln w="12700">
            <a:solidFill>
              <a:srgbClr val="E2E8F0"/>
            </a:solidFill>
            <a:prstDash val="solid"/>
          </a:ln>
        </p:spPr>
      </p:sp>
      <p:sp>
        <p:nvSpPr>
          <p:cNvPr id="21" name="Text 19"/>
          <p:cNvSpPr/>
          <p:nvPr/>
        </p:nvSpPr>
        <p:spPr>
          <a:xfrm>
            <a:off x="4498848" y="1499616"/>
            <a:ext cx="1078992" cy="420624"/>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31.96x</a:t>
            </a:r>
            <a:endParaRPr lang="en-US" sz="1000" dirty="0"/>
          </a:p>
        </p:txBody>
      </p:sp>
      <p:sp>
        <p:nvSpPr>
          <p:cNvPr id="22" name="Shape 20"/>
          <p:cNvSpPr/>
          <p:nvPr/>
        </p:nvSpPr>
        <p:spPr>
          <a:xfrm>
            <a:off x="5650992" y="1499616"/>
            <a:ext cx="1280160" cy="420624"/>
          </a:xfrm>
          <a:prstGeom prst="rect">
            <a:avLst/>
          </a:prstGeom>
          <a:solidFill>
            <a:srgbClr val="FFFFFF"/>
          </a:solidFill>
          <a:ln w="12700">
            <a:solidFill>
              <a:srgbClr val="E2E8F0"/>
            </a:solidFill>
            <a:prstDash val="solid"/>
          </a:ln>
        </p:spPr>
      </p:sp>
      <p:sp>
        <p:nvSpPr>
          <p:cNvPr id="23" name="Text 21"/>
          <p:cNvSpPr/>
          <p:nvPr/>
        </p:nvSpPr>
        <p:spPr>
          <a:xfrm>
            <a:off x="5687568" y="1499616"/>
            <a:ext cx="1207008" cy="420624"/>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 Yes</a:t>
            </a:r>
            <a:endParaRPr lang="en-US" sz="1000" dirty="0"/>
          </a:p>
        </p:txBody>
      </p:sp>
      <p:sp>
        <p:nvSpPr>
          <p:cNvPr id="24" name="Shape 22"/>
          <p:cNvSpPr/>
          <p:nvPr/>
        </p:nvSpPr>
        <p:spPr>
          <a:xfrm>
            <a:off x="6967728" y="1499616"/>
            <a:ext cx="1883664" cy="420624"/>
          </a:xfrm>
          <a:prstGeom prst="rect">
            <a:avLst/>
          </a:prstGeom>
          <a:solidFill>
            <a:srgbClr val="FFFFFF"/>
          </a:solidFill>
          <a:ln w="12700">
            <a:solidFill>
              <a:srgbClr val="E2E8F0"/>
            </a:solidFill>
            <a:prstDash val="solid"/>
          </a:ln>
        </p:spPr>
      </p:sp>
      <p:sp>
        <p:nvSpPr>
          <p:cNvPr id="25" name="Text 23"/>
          <p:cNvSpPr/>
          <p:nvPr/>
        </p:nvSpPr>
        <p:spPr>
          <a:xfrm>
            <a:off x="7004304" y="1499616"/>
            <a:ext cx="1810512" cy="420624"/>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Market leader, stable earnings</a:t>
            </a:r>
            <a:endParaRPr lang="en-US" sz="1000" dirty="0"/>
          </a:p>
        </p:txBody>
      </p:sp>
      <p:sp>
        <p:nvSpPr>
          <p:cNvPr id="26" name="Shape 24"/>
          <p:cNvSpPr/>
          <p:nvPr/>
        </p:nvSpPr>
        <p:spPr>
          <a:xfrm>
            <a:off x="292608" y="1938528"/>
            <a:ext cx="1572768" cy="420624"/>
          </a:xfrm>
          <a:prstGeom prst="rect">
            <a:avLst/>
          </a:prstGeom>
          <a:solidFill>
            <a:srgbClr val="F0F4FF"/>
          </a:solidFill>
          <a:ln w="12700">
            <a:solidFill>
              <a:srgbClr val="E2E8F0"/>
            </a:solidFill>
            <a:prstDash val="solid"/>
          </a:ln>
        </p:spPr>
      </p:sp>
      <p:sp>
        <p:nvSpPr>
          <p:cNvPr id="27" name="Text 25"/>
          <p:cNvSpPr/>
          <p:nvPr/>
        </p:nvSpPr>
        <p:spPr>
          <a:xfrm>
            <a:off x="329184" y="1938528"/>
            <a:ext cx="1499616" cy="420624"/>
          </a:xfrm>
          <a:prstGeom prst="rect">
            <a:avLst/>
          </a:prstGeom>
          <a:noFill/>
          <a:ln/>
        </p:spPr>
        <p:txBody>
          <a:bodyPr wrap="square" rtlCol="0" anchor="ctr"/>
          <a:lstStyle/>
          <a:p>
            <a:pPr algn="l" indent="0" marL="0">
              <a:buNone/>
            </a:pPr>
            <a:r>
              <a:rPr lang="en-US" sz="1000" dirty="0">
                <a:solidFill>
                  <a:srgbClr val="1E293B"/>
                </a:solidFill>
                <a:latin typeface="Calibri" pitchFamily="34" charset="0"/>
                <a:ea typeface="Calibri" pitchFamily="34" charset="-122"/>
                <a:cs typeface="Calibri" pitchFamily="34" charset="-120"/>
              </a:rPr>
              <a:t>Mahindra &amp; Mahindra</a:t>
            </a:r>
            <a:endParaRPr lang="en-US" sz="1000" dirty="0"/>
          </a:p>
        </p:txBody>
      </p:sp>
      <p:sp>
        <p:nvSpPr>
          <p:cNvPr id="28" name="Shape 26"/>
          <p:cNvSpPr/>
          <p:nvPr/>
        </p:nvSpPr>
        <p:spPr>
          <a:xfrm>
            <a:off x="1901952" y="1938528"/>
            <a:ext cx="1280160" cy="420624"/>
          </a:xfrm>
          <a:prstGeom prst="rect">
            <a:avLst/>
          </a:prstGeom>
          <a:solidFill>
            <a:srgbClr val="F0F4FF"/>
          </a:solidFill>
          <a:ln w="12700">
            <a:solidFill>
              <a:srgbClr val="E2E8F0"/>
            </a:solidFill>
            <a:prstDash val="solid"/>
          </a:ln>
        </p:spPr>
      </p:sp>
      <p:sp>
        <p:nvSpPr>
          <p:cNvPr id="29" name="Text 27"/>
          <p:cNvSpPr/>
          <p:nvPr/>
        </p:nvSpPr>
        <p:spPr>
          <a:xfrm>
            <a:off x="1938528" y="1938528"/>
            <a:ext cx="1207008" cy="420624"/>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5,115</a:t>
            </a:r>
            <a:endParaRPr lang="en-US" sz="1000" dirty="0"/>
          </a:p>
        </p:txBody>
      </p:sp>
      <p:sp>
        <p:nvSpPr>
          <p:cNvPr id="30" name="Shape 28"/>
          <p:cNvSpPr/>
          <p:nvPr/>
        </p:nvSpPr>
        <p:spPr>
          <a:xfrm>
            <a:off x="3218688" y="1938528"/>
            <a:ext cx="1207008" cy="420624"/>
          </a:xfrm>
          <a:prstGeom prst="rect">
            <a:avLst/>
          </a:prstGeom>
          <a:solidFill>
            <a:srgbClr val="F0F4FF"/>
          </a:solidFill>
          <a:ln w="12700">
            <a:solidFill>
              <a:srgbClr val="E2E8F0"/>
            </a:solidFill>
            <a:prstDash val="solid"/>
          </a:ln>
        </p:spPr>
      </p:sp>
      <p:sp>
        <p:nvSpPr>
          <p:cNvPr id="31" name="Text 29"/>
          <p:cNvSpPr/>
          <p:nvPr/>
        </p:nvSpPr>
        <p:spPr>
          <a:xfrm>
            <a:off x="3255264" y="1938528"/>
            <a:ext cx="1133856" cy="420624"/>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109.60</a:t>
            </a:r>
            <a:endParaRPr lang="en-US" sz="1000" dirty="0"/>
          </a:p>
        </p:txBody>
      </p:sp>
      <p:sp>
        <p:nvSpPr>
          <p:cNvPr id="32" name="Shape 30"/>
          <p:cNvSpPr/>
          <p:nvPr/>
        </p:nvSpPr>
        <p:spPr>
          <a:xfrm>
            <a:off x="4462272" y="1938528"/>
            <a:ext cx="1152144" cy="420624"/>
          </a:xfrm>
          <a:prstGeom prst="rect">
            <a:avLst/>
          </a:prstGeom>
          <a:solidFill>
            <a:srgbClr val="F0F4FF"/>
          </a:solidFill>
          <a:ln w="12700">
            <a:solidFill>
              <a:srgbClr val="E2E8F0"/>
            </a:solidFill>
            <a:prstDash val="solid"/>
          </a:ln>
        </p:spPr>
      </p:sp>
      <p:sp>
        <p:nvSpPr>
          <p:cNvPr id="33" name="Text 31"/>
          <p:cNvSpPr/>
          <p:nvPr/>
        </p:nvSpPr>
        <p:spPr>
          <a:xfrm>
            <a:off x="4498848" y="1938528"/>
            <a:ext cx="1078992" cy="420624"/>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46.69x</a:t>
            </a:r>
            <a:endParaRPr lang="en-US" sz="1000" dirty="0"/>
          </a:p>
        </p:txBody>
      </p:sp>
      <p:sp>
        <p:nvSpPr>
          <p:cNvPr id="34" name="Shape 32"/>
          <p:cNvSpPr/>
          <p:nvPr/>
        </p:nvSpPr>
        <p:spPr>
          <a:xfrm>
            <a:off x="5650992" y="1938528"/>
            <a:ext cx="1280160" cy="420624"/>
          </a:xfrm>
          <a:prstGeom prst="rect">
            <a:avLst/>
          </a:prstGeom>
          <a:solidFill>
            <a:srgbClr val="F0F4FF"/>
          </a:solidFill>
          <a:ln w="12700">
            <a:solidFill>
              <a:srgbClr val="E2E8F0"/>
            </a:solidFill>
            <a:prstDash val="solid"/>
          </a:ln>
        </p:spPr>
      </p:sp>
      <p:sp>
        <p:nvSpPr>
          <p:cNvPr id="35" name="Text 33"/>
          <p:cNvSpPr/>
          <p:nvPr/>
        </p:nvSpPr>
        <p:spPr>
          <a:xfrm>
            <a:off x="5687568" y="1938528"/>
            <a:ext cx="1207008" cy="420624"/>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 Yes</a:t>
            </a:r>
            <a:endParaRPr lang="en-US" sz="1000" dirty="0"/>
          </a:p>
        </p:txBody>
      </p:sp>
      <p:sp>
        <p:nvSpPr>
          <p:cNvPr id="36" name="Shape 34"/>
          <p:cNvSpPr/>
          <p:nvPr/>
        </p:nvSpPr>
        <p:spPr>
          <a:xfrm>
            <a:off x="6967728" y="1938528"/>
            <a:ext cx="1883664" cy="420624"/>
          </a:xfrm>
          <a:prstGeom prst="rect">
            <a:avLst/>
          </a:prstGeom>
          <a:solidFill>
            <a:srgbClr val="F0F4FF"/>
          </a:solidFill>
          <a:ln w="12700">
            <a:solidFill>
              <a:srgbClr val="E2E8F0"/>
            </a:solidFill>
            <a:prstDash val="solid"/>
          </a:ln>
        </p:spPr>
      </p:sp>
      <p:sp>
        <p:nvSpPr>
          <p:cNvPr id="37" name="Text 35"/>
          <p:cNvSpPr/>
          <p:nvPr/>
        </p:nvSpPr>
        <p:spPr>
          <a:xfrm>
            <a:off x="7004304" y="1938528"/>
            <a:ext cx="1810512" cy="420624"/>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SUV premium reflected in multiple</a:t>
            </a:r>
            <a:endParaRPr lang="en-US" sz="1000" dirty="0"/>
          </a:p>
        </p:txBody>
      </p:sp>
      <p:sp>
        <p:nvSpPr>
          <p:cNvPr id="38" name="Shape 36"/>
          <p:cNvSpPr/>
          <p:nvPr/>
        </p:nvSpPr>
        <p:spPr>
          <a:xfrm>
            <a:off x="292608" y="2377440"/>
            <a:ext cx="1572768" cy="420624"/>
          </a:xfrm>
          <a:prstGeom prst="rect">
            <a:avLst/>
          </a:prstGeom>
          <a:solidFill>
            <a:srgbClr val="FFFFFF"/>
          </a:solidFill>
          <a:ln w="12700">
            <a:solidFill>
              <a:srgbClr val="E2E8F0"/>
            </a:solidFill>
            <a:prstDash val="solid"/>
          </a:ln>
        </p:spPr>
      </p:sp>
      <p:sp>
        <p:nvSpPr>
          <p:cNvPr id="39" name="Text 37"/>
          <p:cNvSpPr/>
          <p:nvPr/>
        </p:nvSpPr>
        <p:spPr>
          <a:xfrm>
            <a:off x="329184" y="2377440"/>
            <a:ext cx="1499616" cy="420624"/>
          </a:xfrm>
          <a:prstGeom prst="rect">
            <a:avLst/>
          </a:prstGeom>
          <a:noFill/>
          <a:ln/>
        </p:spPr>
        <p:txBody>
          <a:bodyPr wrap="square" rtlCol="0" anchor="ctr"/>
          <a:lstStyle/>
          <a:p>
            <a:pPr algn="l" indent="0" marL="0">
              <a:buNone/>
            </a:pPr>
            <a:r>
              <a:rPr lang="en-US" sz="1000" dirty="0">
                <a:solidFill>
                  <a:srgbClr val="1E293B"/>
                </a:solidFill>
                <a:latin typeface="Calibri" pitchFamily="34" charset="0"/>
                <a:ea typeface="Calibri" pitchFamily="34" charset="-122"/>
                <a:cs typeface="Calibri" pitchFamily="34" charset="-120"/>
              </a:rPr>
              <a:t>Ashok Leyland</a:t>
            </a:r>
            <a:endParaRPr lang="en-US" sz="1000" dirty="0"/>
          </a:p>
        </p:txBody>
      </p:sp>
      <p:sp>
        <p:nvSpPr>
          <p:cNvPr id="40" name="Shape 38"/>
          <p:cNvSpPr/>
          <p:nvPr/>
        </p:nvSpPr>
        <p:spPr>
          <a:xfrm>
            <a:off x="1901952" y="2377440"/>
            <a:ext cx="1280160" cy="420624"/>
          </a:xfrm>
          <a:prstGeom prst="rect">
            <a:avLst/>
          </a:prstGeom>
          <a:solidFill>
            <a:srgbClr val="FFFFFF"/>
          </a:solidFill>
          <a:ln w="12700">
            <a:solidFill>
              <a:srgbClr val="E2E8F0"/>
            </a:solidFill>
            <a:prstDash val="solid"/>
          </a:ln>
        </p:spPr>
      </p:sp>
      <p:sp>
        <p:nvSpPr>
          <p:cNvPr id="41" name="Text 39"/>
          <p:cNvSpPr/>
          <p:nvPr/>
        </p:nvSpPr>
        <p:spPr>
          <a:xfrm>
            <a:off x="1938528" y="2377440"/>
            <a:ext cx="1207008" cy="420624"/>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207.68</a:t>
            </a:r>
            <a:endParaRPr lang="en-US" sz="1000" dirty="0"/>
          </a:p>
        </p:txBody>
      </p:sp>
      <p:sp>
        <p:nvSpPr>
          <p:cNvPr id="42" name="Shape 40"/>
          <p:cNvSpPr/>
          <p:nvPr/>
        </p:nvSpPr>
        <p:spPr>
          <a:xfrm>
            <a:off x="3218688" y="2377440"/>
            <a:ext cx="1207008" cy="420624"/>
          </a:xfrm>
          <a:prstGeom prst="rect">
            <a:avLst/>
          </a:prstGeom>
          <a:solidFill>
            <a:srgbClr val="FFFFFF"/>
          </a:solidFill>
          <a:ln w="12700">
            <a:solidFill>
              <a:srgbClr val="E2E8F0"/>
            </a:solidFill>
            <a:prstDash val="solid"/>
          </a:ln>
        </p:spPr>
      </p:sp>
      <p:sp>
        <p:nvSpPr>
          <p:cNvPr id="43" name="Text 41"/>
          <p:cNvSpPr/>
          <p:nvPr/>
        </p:nvSpPr>
        <p:spPr>
          <a:xfrm>
            <a:off x="3255264" y="2377440"/>
            <a:ext cx="1133856" cy="420624"/>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6.14</a:t>
            </a:r>
            <a:endParaRPr lang="en-US" sz="1000" dirty="0"/>
          </a:p>
        </p:txBody>
      </p:sp>
      <p:sp>
        <p:nvSpPr>
          <p:cNvPr id="44" name="Shape 42"/>
          <p:cNvSpPr/>
          <p:nvPr/>
        </p:nvSpPr>
        <p:spPr>
          <a:xfrm>
            <a:off x="4462272" y="2377440"/>
            <a:ext cx="1152144" cy="420624"/>
          </a:xfrm>
          <a:prstGeom prst="rect">
            <a:avLst/>
          </a:prstGeom>
          <a:solidFill>
            <a:srgbClr val="FFFFFF"/>
          </a:solidFill>
          <a:ln w="12700">
            <a:solidFill>
              <a:srgbClr val="E2E8F0"/>
            </a:solidFill>
            <a:prstDash val="solid"/>
          </a:ln>
        </p:spPr>
      </p:sp>
      <p:sp>
        <p:nvSpPr>
          <p:cNvPr id="45" name="Text 43"/>
          <p:cNvSpPr/>
          <p:nvPr/>
        </p:nvSpPr>
        <p:spPr>
          <a:xfrm>
            <a:off x="4498848" y="2377440"/>
            <a:ext cx="1078992" cy="420624"/>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33.83x</a:t>
            </a:r>
            <a:endParaRPr lang="en-US" sz="1000" dirty="0"/>
          </a:p>
        </p:txBody>
      </p:sp>
      <p:sp>
        <p:nvSpPr>
          <p:cNvPr id="46" name="Shape 44"/>
          <p:cNvSpPr/>
          <p:nvPr/>
        </p:nvSpPr>
        <p:spPr>
          <a:xfrm>
            <a:off x="5650992" y="2377440"/>
            <a:ext cx="1280160" cy="420624"/>
          </a:xfrm>
          <a:prstGeom prst="rect">
            <a:avLst/>
          </a:prstGeom>
          <a:solidFill>
            <a:srgbClr val="FFFFFF"/>
          </a:solidFill>
          <a:ln w="12700">
            <a:solidFill>
              <a:srgbClr val="E2E8F0"/>
            </a:solidFill>
            <a:prstDash val="solid"/>
          </a:ln>
        </p:spPr>
      </p:sp>
      <p:sp>
        <p:nvSpPr>
          <p:cNvPr id="47" name="Text 45"/>
          <p:cNvSpPr/>
          <p:nvPr/>
        </p:nvSpPr>
        <p:spPr>
          <a:xfrm>
            <a:off x="5687568" y="2377440"/>
            <a:ext cx="1207008" cy="420624"/>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 Yes</a:t>
            </a:r>
            <a:endParaRPr lang="en-US" sz="1000" dirty="0"/>
          </a:p>
        </p:txBody>
      </p:sp>
      <p:sp>
        <p:nvSpPr>
          <p:cNvPr id="48" name="Shape 46"/>
          <p:cNvSpPr/>
          <p:nvPr/>
        </p:nvSpPr>
        <p:spPr>
          <a:xfrm>
            <a:off x="6967728" y="2377440"/>
            <a:ext cx="1883664" cy="420624"/>
          </a:xfrm>
          <a:prstGeom prst="rect">
            <a:avLst/>
          </a:prstGeom>
          <a:solidFill>
            <a:srgbClr val="FFFFFF"/>
          </a:solidFill>
          <a:ln w="12700">
            <a:solidFill>
              <a:srgbClr val="E2E8F0"/>
            </a:solidFill>
            <a:prstDash val="solid"/>
          </a:ln>
        </p:spPr>
      </p:sp>
      <p:sp>
        <p:nvSpPr>
          <p:cNvPr id="49" name="Text 47"/>
          <p:cNvSpPr/>
          <p:nvPr/>
        </p:nvSpPr>
        <p:spPr>
          <a:xfrm>
            <a:off x="7004304" y="2377440"/>
            <a:ext cx="1810512" cy="420624"/>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CV segment, lower multiple</a:t>
            </a:r>
            <a:endParaRPr lang="en-US" sz="1000" dirty="0"/>
          </a:p>
        </p:txBody>
      </p:sp>
      <p:sp>
        <p:nvSpPr>
          <p:cNvPr id="50" name="Shape 48"/>
          <p:cNvSpPr/>
          <p:nvPr/>
        </p:nvSpPr>
        <p:spPr>
          <a:xfrm>
            <a:off x="292608" y="2816352"/>
            <a:ext cx="1572768" cy="420624"/>
          </a:xfrm>
          <a:prstGeom prst="rect">
            <a:avLst/>
          </a:prstGeom>
          <a:solidFill>
            <a:srgbClr val="DBEAFE"/>
          </a:solidFill>
          <a:ln w="12700">
            <a:solidFill>
              <a:srgbClr val="E2E8F0"/>
            </a:solidFill>
            <a:prstDash val="solid"/>
          </a:ln>
        </p:spPr>
      </p:sp>
      <p:sp>
        <p:nvSpPr>
          <p:cNvPr id="51" name="Text 49"/>
          <p:cNvSpPr/>
          <p:nvPr/>
        </p:nvSpPr>
        <p:spPr>
          <a:xfrm>
            <a:off x="329184" y="2816352"/>
            <a:ext cx="1499616" cy="420624"/>
          </a:xfrm>
          <a:prstGeom prst="rect">
            <a:avLst/>
          </a:prstGeom>
          <a:noFill/>
          <a:ln/>
        </p:spPr>
        <p:txBody>
          <a:bodyPr wrap="square" rtlCol="0" anchor="ctr"/>
          <a:lstStyle/>
          <a:p>
            <a:pPr algn="l" indent="0" marL="0">
              <a:buNone/>
            </a:pPr>
            <a:r>
              <a:rPr lang="en-US" sz="1000" b="1" dirty="0">
                <a:solidFill>
                  <a:srgbClr val="1B2A4A"/>
                </a:solidFill>
                <a:latin typeface="Calibri" pitchFamily="34" charset="0"/>
                <a:ea typeface="Calibri" pitchFamily="34" charset="-122"/>
                <a:cs typeface="Calibri" pitchFamily="34" charset="-120"/>
              </a:rPr>
              <a:t>Industry Average P/E</a:t>
            </a:r>
            <a:endParaRPr lang="en-US" sz="1000" dirty="0"/>
          </a:p>
        </p:txBody>
      </p:sp>
      <p:sp>
        <p:nvSpPr>
          <p:cNvPr id="52" name="Shape 50"/>
          <p:cNvSpPr/>
          <p:nvPr/>
        </p:nvSpPr>
        <p:spPr>
          <a:xfrm>
            <a:off x="1901952" y="2816352"/>
            <a:ext cx="1280160" cy="420624"/>
          </a:xfrm>
          <a:prstGeom prst="rect">
            <a:avLst/>
          </a:prstGeom>
          <a:solidFill>
            <a:srgbClr val="DBEAFE"/>
          </a:solidFill>
          <a:ln w="12700">
            <a:solidFill>
              <a:srgbClr val="E2E8F0"/>
            </a:solidFill>
            <a:prstDash val="solid"/>
          </a:ln>
        </p:spPr>
      </p:sp>
      <p:sp>
        <p:nvSpPr>
          <p:cNvPr id="53" name="Text 51"/>
          <p:cNvSpPr/>
          <p:nvPr/>
        </p:nvSpPr>
        <p:spPr>
          <a:xfrm>
            <a:off x="1938528" y="2816352"/>
            <a:ext cx="1207008" cy="420624"/>
          </a:xfrm>
          <a:prstGeom prst="rect">
            <a:avLst/>
          </a:prstGeom>
          <a:noFill/>
          <a:ln/>
        </p:spPr>
        <p:txBody>
          <a:bodyPr wrap="square" rtlCol="0" anchor="ctr"/>
          <a:lstStyle/>
          <a:p>
            <a:pPr algn="ctr" indent="0" marL="0">
              <a:buNone/>
            </a:pPr>
            <a:r>
              <a:rPr lang="en-US" sz="1000" b="1" dirty="0">
                <a:solidFill>
                  <a:srgbClr val="1B2A4A"/>
                </a:solidFill>
                <a:latin typeface="Calibri" pitchFamily="34" charset="0"/>
                <a:ea typeface="Calibri" pitchFamily="34" charset="-122"/>
                <a:cs typeface="Calibri" pitchFamily="34" charset="-120"/>
              </a:rPr>
              <a:t>—</a:t>
            </a:r>
            <a:endParaRPr lang="en-US" sz="1000" dirty="0"/>
          </a:p>
        </p:txBody>
      </p:sp>
      <p:sp>
        <p:nvSpPr>
          <p:cNvPr id="54" name="Shape 52"/>
          <p:cNvSpPr/>
          <p:nvPr/>
        </p:nvSpPr>
        <p:spPr>
          <a:xfrm>
            <a:off x="3218688" y="2816352"/>
            <a:ext cx="1207008" cy="420624"/>
          </a:xfrm>
          <a:prstGeom prst="rect">
            <a:avLst/>
          </a:prstGeom>
          <a:solidFill>
            <a:srgbClr val="DBEAFE"/>
          </a:solidFill>
          <a:ln w="12700">
            <a:solidFill>
              <a:srgbClr val="E2E8F0"/>
            </a:solidFill>
            <a:prstDash val="solid"/>
          </a:ln>
        </p:spPr>
      </p:sp>
      <p:sp>
        <p:nvSpPr>
          <p:cNvPr id="55" name="Text 53"/>
          <p:cNvSpPr/>
          <p:nvPr/>
        </p:nvSpPr>
        <p:spPr>
          <a:xfrm>
            <a:off x="3255264" y="2816352"/>
            <a:ext cx="1133856" cy="420624"/>
          </a:xfrm>
          <a:prstGeom prst="rect">
            <a:avLst/>
          </a:prstGeom>
          <a:noFill/>
          <a:ln/>
        </p:spPr>
        <p:txBody>
          <a:bodyPr wrap="square" rtlCol="0" anchor="ctr"/>
          <a:lstStyle/>
          <a:p>
            <a:pPr algn="ctr" indent="0" marL="0">
              <a:buNone/>
            </a:pPr>
            <a:r>
              <a:rPr lang="en-US" sz="1000" b="1" dirty="0">
                <a:solidFill>
                  <a:srgbClr val="1B2A4A"/>
                </a:solidFill>
                <a:latin typeface="Calibri" pitchFamily="34" charset="0"/>
                <a:ea typeface="Calibri" pitchFamily="34" charset="-122"/>
                <a:cs typeface="Calibri" pitchFamily="34" charset="-120"/>
              </a:rPr>
              <a:t>—</a:t>
            </a:r>
            <a:endParaRPr lang="en-US" sz="1000" dirty="0"/>
          </a:p>
        </p:txBody>
      </p:sp>
      <p:sp>
        <p:nvSpPr>
          <p:cNvPr id="56" name="Shape 54"/>
          <p:cNvSpPr/>
          <p:nvPr/>
        </p:nvSpPr>
        <p:spPr>
          <a:xfrm>
            <a:off x="4462272" y="2816352"/>
            <a:ext cx="1152144" cy="420624"/>
          </a:xfrm>
          <a:prstGeom prst="rect">
            <a:avLst/>
          </a:prstGeom>
          <a:solidFill>
            <a:srgbClr val="DBEAFE"/>
          </a:solidFill>
          <a:ln w="12700">
            <a:solidFill>
              <a:srgbClr val="E2E8F0"/>
            </a:solidFill>
            <a:prstDash val="solid"/>
          </a:ln>
        </p:spPr>
      </p:sp>
      <p:sp>
        <p:nvSpPr>
          <p:cNvPr id="57" name="Text 55"/>
          <p:cNvSpPr/>
          <p:nvPr/>
        </p:nvSpPr>
        <p:spPr>
          <a:xfrm>
            <a:off x="4498848" y="2816352"/>
            <a:ext cx="1078992" cy="420624"/>
          </a:xfrm>
          <a:prstGeom prst="rect">
            <a:avLst/>
          </a:prstGeom>
          <a:noFill/>
          <a:ln/>
        </p:spPr>
        <p:txBody>
          <a:bodyPr wrap="square" rtlCol="0" anchor="ctr"/>
          <a:lstStyle/>
          <a:p>
            <a:pPr algn="ctr" indent="0" marL="0">
              <a:buNone/>
            </a:pPr>
            <a:r>
              <a:rPr lang="en-US" sz="1000" b="1" dirty="0">
                <a:solidFill>
                  <a:srgbClr val="1B2A4A"/>
                </a:solidFill>
                <a:latin typeface="Calibri" pitchFamily="34" charset="0"/>
                <a:ea typeface="Calibri" pitchFamily="34" charset="-122"/>
                <a:cs typeface="Calibri" pitchFamily="34" charset="-120"/>
              </a:rPr>
              <a:t>37.49x</a:t>
            </a:r>
            <a:endParaRPr lang="en-US" sz="1000" dirty="0"/>
          </a:p>
        </p:txBody>
      </p:sp>
      <p:sp>
        <p:nvSpPr>
          <p:cNvPr id="58" name="Shape 56"/>
          <p:cNvSpPr/>
          <p:nvPr/>
        </p:nvSpPr>
        <p:spPr>
          <a:xfrm>
            <a:off x="5650992" y="2816352"/>
            <a:ext cx="1280160" cy="420624"/>
          </a:xfrm>
          <a:prstGeom prst="rect">
            <a:avLst/>
          </a:prstGeom>
          <a:solidFill>
            <a:srgbClr val="DBEAFE"/>
          </a:solidFill>
          <a:ln w="12700">
            <a:solidFill>
              <a:srgbClr val="E2E8F0"/>
            </a:solidFill>
            <a:prstDash val="solid"/>
          </a:ln>
        </p:spPr>
      </p:sp>
      <p:sp>
        <p:nvSpPr>
          <p:cNvPr id="59" name="Text 57"/>
          <p:cNvSpPr/>
          <p:nvPr/>
        </p:nvSpPr>
        <p:spPr>
          <a:xfrm>
            <a:off x="5687568" y="2816352"/>
            <a:ext cx="1207008" cy="420624"/>
          </a:xfrm>
          <a:prstGeom prst="rect">
            <a:avLst/>
          </a:prstGeom>
          <a:noFill/>
          <a:ln/>
        </p:spPr>
        <p:txBody>
          <a:bodyPr wrap="square" rtlCol="0" anchor="ctr"/>
          <a:lstStyle/>
          <a:p>
            <a:pPr algn="ctr" indent="0" marL="0">
              <a:buNone/>
            </a:pPr>
            <a:r>
              <a:rPr lang="en-US" sz="1000" b="1" dirty="0">
                <a:solidFill>
                  <a:srgbClr val="1B2A4A"/>
                </a:solidFill>
                <a:latin typeface="Calibri" pitchFamily="34" charset="0"/>
                <a:ea typeface="Calibri" pitchFamily="34" charset="-122"/>
                <a:cs typeface="Calibri" pitchFamily="34" charset="-120"/>
              </a:rPr>
              <a:t>—</a:t>
            </a:r>
            <a:endParaRPr lang="en-US" sz="1000" dirty="0"/>
          </a:p>
        </p:txBody>
      </p:sp>
      <p:sp>
        <p:nvSpPr>
          <p:cNvPr id="60" name="Shape 58"/>
          <p:cNvSpPr/>
          <p:nvPr/>
        </p:nvSpPr>
        <p:spPr>
          <a:xfrm>
            <a:off x="6967728" y="2816352"/>
            <a:ext cx="1883664" cy="420624"/>
          </a:xfrm>
          <a:prstGeom prst="rect">
            <a:avLst/>
          </a:prstGeom>
          <a:solidFill>
            <a:srgbClr val="DBEAFE"/>
          </a:solidFill>
          <a:ln w="12700">
            <a:solidFill>
              <a:srgbClr val="E2E8F0"/>
            </a:solidFill>
            <a:prstDash val="solid"/>
          </a:ln>
        </p:spPr>
      </p:sp>
      <p:sp>
        <p:nvSpPr>
          <p:cNvPr id="61" name="Text 59"/>
          <p:cNvSpPr/>
          <p:nvPr/>
        </p:nvSpPr>
        <p:spPr>
          <a:xfrm>
            <a:off x="7004304" y="2816352"/>
            <a:ext cx="1810512" cy="420624"/>
          </a:xfrm>
          <a:prstGeom prst="rect">
            <a:avLst/>
          </a:prstGeom>
          <a:noFill/>
          <a:ln/>
        </p:spPr>
        <p:txBody>
          <a:bodyPr wrap="square" rtlCol="0" anchor="ctr"/>
          <a:lstStyle/>
          <a:p>
            <a:pPr algn="ctr" indent="0" marL="0">
              <a:buNone/>
            </a:pPr>
            <a:r>
              <a:rPr lang="en-US" sz="1000" b="1" dirty="0">
                <a:solidFill>
                  <a:srgbClr val="1B2A4A"/>
                </a:solidFill>
                <a:latin typeface="Calibri" pitchFamily="34" charset="0"/>
                <a:ea typeface="Calibri" pitchFamily="34" charset="-122"/>
                <a:cs typeface="Calibri" pitchFamily="34" charset="-120"/>
              </a:rPr>
              <a:t>Simple average of 3 peers</a:t>
            </a:r>
            <a:endParaRPr lang="en-US" sz="1000" dirty="0"/>
          </a:p>
        </p:txBody>
      </p:sp>
      <p:sp>
        <p:nvSpPr>
          <p:cNvPr id="62" name="Shape 60"/>
          <p:cNvSpPr/>
          <p:nvPr/>
        </p:nvSpPr>
        <p:spPr>
          <a:xfrm>
            <a:off x="292608" y="3255264"/>
            <a:ext cx="1572768" cy="420624"/>
          </a:xfrm>
          <a:prstGeom prst="rect">
            <a:avLst/>
          </a:prstGeom>
          <a:solidFill>
            <a:srgbClr val="FFF0F0"/>
          </a:solidFill>
          <a:ln w="12700">
            <a:solidFill>
              <a:srgbClr val="E2E8F0"/>
            </a:solidFill>
            <a:prstDash val="solid"/>
          </a:ln>
        </p:spPr>
      </p:sp>
      <p:sp>
        <p:nvSpPr>
          <p:cNvPr id="63" name="Text 61"/>
          <p:cNvSpPr/>
          <p:nvPr/>
        </p:nvSpPr>
        <p:spPr>
          <a:xfrm>
            <a:off x="329184" y="3255264"/>
            <a:ext cx="1499616" cy="420624"/>
          </a:xfrm>
          <a:prstGeom prst="rect">
            <a:avLst/>
          </a:prstGeom>
          <a:noFill/>
          <a:ln/>
        </p:spPr>
        <p:txBody>
          <a:bodyPr wrap="square" rtlCol="0" anchor="ctr"/>
          <a:lstStyle/>
          <a:p>
            <a:pPr algn="l" indent="0" marL="0">
              <a:buNone/>
            </a:pPr>
            <a:r>
              <a:rPr lang="en-US" sz="1000" i="1" dirty="0">
                <a:solidFill>
                  <a:srgbClr val="64748B"/>
                </a:solidFill>
                <a:latin typeface="Calibri" pitchFamily="34" charset="0"/>
                <a:ea typeface="Calibri" pitchFamily="34" charset="-122"/>
                <a:cs typeface="Calibri" pitchFamily="34" charset="-120"/>
              </a:rPr>
              <a:t>Tata Motors (target)</a:t>
            </a:r>
            <a:endParaRPr lang="en-US" sz="1000" dirty="0"/>
          </a:p>
        </p:txBody>
      </p:sp>
      <p:sp>
        <p:nvSpPr>
          <p:cNvPr id="64" name="Shape 62"/>
          <p:cNvSpPr/>
          <p:nvPr/>
        </p:nvSpPr>
        <p:spPr>
          <a:xfrm>
            <a:off x="1901952" y="3255264"/>
            <a:ext cx="1280160" cy="420624"/>
          </a:xfrm>
          <a:prstGeom prst="rect">
            <a:avLst/>
          </a:prstGeom>
          <a:solidFill>
            <a:srgbClr val="FFF0F0"/>
          </a:solidFill>
          <a:ln w="12700">
            <a:solidFill>
              <a:srgbClr val="E2E8F0"/>
            </a:solidFill>
            <a:prstDash val="solid"/>
          </a:ln>
        </p:spPr>
      </p:sp>
      <p:sp>
        <p:nvSpPr>
          <p:cNvPr id="65" name="Text 63"/>
          <p:cNvSpPr/>
          <p:nvPr/>
        </p:nvSpPr>
        <p:spPr>
          <a:xfrm>
            <a:off x="1938528" y="3255264"/>
            <a:ext cx="1207008" cy="420624"/>
          </a:xfrm>
          <a:prstGeom prst="rect">
            <a:avLst/>
          </a:prstGeom>
          <a:noFill/>
          <a:ln/>
        </p:spPr>
        <p:txBody>
          <a:bodyPr wrap="square"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490.00</a:t>
            </a:r>
            <a:endParaRPr lang="en-US" sz="1000" dirty="0"/>
          </a:p>
        </p:txBody>
      </p:sp>
      <p:sp>
        <p:nvSpPr>
          <p:cNvPr id="66" name="Shape 64"/>
          <p:cNvSpPr/>
          <p:nvPr/>
        </p:nvSpPr>
        <p:spPr>
          <a:xfrm>
            <a:off x="3218688" y="3255264"/>
            <a:ext cx="1207008" cy="420624"/>
          </a:xfrm>
          <a:prstGeom prst="rect">
            <a:avLst/>
          </a:prstGeom>
          <a:solidFill>
            <a:srgbClr val="FFF0F0"/>
          </a:solidFill>
          <a:ln w="12700">
            <a:solidFill>
              <a:srgbClr val="E2E8F0"/>
            </a:solidFill>
            <a:prstDash val="solid"/>
          </a:ln>
        </p:spPr>
      </p:sp>
      <p:sp>
        <p:nvSpPr>
          <p:cNvPr id="67" name="Text 65"/>
          <p:cNvSpPr/>
          <p:nvPr/>
        </p:nvSpPr>
        <p:spPr>
          <a:xfrm>
            <a:off x="3255264" y="3255264"/>
            <a:ext cx="1133856" cy="420624"/>
          </a:xfrm>
          <a:prstGeom prst="rect">
            <a:avLst/>
          </a:prstGeom>
          <a:noFill/>
          <a:ln/>
        </p:spPr>
        <p:txBody>
          <a:bodyPr wrap="square"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1.24</a:t>
            </a:r>
            <a:endParaRPr lang="en-US" sz="1000" dirty="0"/>
          </a:p>
        </p:txBody>
      </p:sp>
      <p:sp>
        <p:nvSpPr>
          <p:cNvPr id="68" name="Shape 66"/>
          <p:cNvSpPr/>
          <p:nvPr/>
        </p:nvSpPr>
        <p:spPr>
          <a:xfrm>
            <a:off x="4462272" y="3255264"/>
            <a:ext cx="1152144" cy="420624"/>
          </a:xfrm>
          <a:prstGeom prst="rect">
            <a:avLst/>
          </a:prstGeom>
          <a:solidFill>
            <a:srgbClr val="FFF0F0"/>
          </a:solidFill>
          <a:ln w="12700">
            <a:solidFill>
              <a:srgbClr val="E2E8F0"/>
            </a:solidFill>
            <a:prstDash val="solid"/>
          </a:ln>
        </p:spPr>
      </p:sp>
      <p:sp>
        <p:nvSpPr>
          <p:cNvPr id="69" name="Text 67"/>
          <p:cNvSpPr/>
          <p:nvPr/>
        </p:nvSpPr>
        <p:spPr>
          <a:xfrm>
            <a:off x="4498848" y="3255264"/>
            <a:ext cx="1078992" cy="420624"/>
          </a:xfrm>
          <a:prstGeom prst="rect">
            <a:avLst/>
          </a:prstGeom>
          <a:noFill/>
          <a:ln/>
        </p:spPr>
        <p:txBody>
          <a:bodyPr wrap="square"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396.23x</a:t>
            </a:r>
            <a:endParaRPr lang="en-US" sz="1000" dirty="0"/>
          </a:p>
        </p:txBody>
      </p:sp>
      <p:sp>
        <p:nvSpPr>
          <p:cNvPr id="70" name="Shape 68"/>
          <p:cNvSpPr/>
          <p:nvPr/>
        </p:nvSpPr>
        <p:spPr>
          <a:xfrm>
            <a:off x="5650992" y="3255264"/>
            <a:ext cx="1280160" cy="420624"/>
          </a:xfrm>
          <a:prstGeom prst="rect">
            <a:avLst/>
          </a:prstGeom>
          <a:solidFill>
            <a:srgbClr val="FFF0F0"/>
          </a:solidFill>
          <a:ln w="12700">
            <a:solidFill>
              <a:srgbClr val="E2E8F0"/>
            </a:solidFill>
            <a:prstDash val="solid"/>
          </a:ln>
        </p:spPr>
      </p:sp>
      <p:sp>
        <p:nvSpPr>
          <p:cNvPr id="71" name="Text 69"/>
          <p:cNvSpPr/>
          <p:nvPr/>
        </p:nvSpPr>
        <p:spPr>
          <a:xfrm>
            <a:off x="5687568" y="3255264"/>
            <a:ext cx="1207008" cy="420624"/>
          </a:xfrm>
          <a:prstGeom prst="rect">
            <a:avLst/>
          </a:prstGeom>
          <a:noFill/>
          <a:ln/>
        </p:spPr>
        <p:txBody>
          <a:bodyPr wrap="square"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 Excluded</a:t>
            </a:r>
            <a:endParaRPr lang="en-US" sz="1000" dirty="0"/>
          </a:p>
        </p:txBody>
      </p:sp>
      <p:sp>
        <p:nvSpPr>
          <p:cNvPr id="72" name="Shape 70"/>
          <p:cNvSpPr/>
          <p:nvPr/>
        </p:nvSpPr>
        <p:spPr>
          <a:xfrm>
            <a:off x="6967728" y="3255264"/>
            <a:ext cx="1883664" cy="420624"/>
          </a:xfrm>
          <a:prstGeom prst="rect">
            <a:avLst/>
          </a:prstGeom>
          <a:solidFill>
            <a:srgbClr val="FFF0F0"/>
          </a:solidFill>
          <a:ln w="12700">
            <a:solidFill>
              <a:srgbClr val="E2E8F0"/>
            </a:solidFill>
            <a:prstDash val="solid"/>
          </a:ln>
        </p:spPr>
      </p:sp>
      <p:sp>
        <p:nvSpPr>
          <p:cNvPr id="73" name="Text 71"/>
          <p:cNvSpPr/>
          <p:nvPr/>
        </p:nvSpPr>
        <p:spPr>
          <a:xfrm>
            <a:off x="7004304" y="3255264"/>
            <a:ext cx="1810512" cy="420624"/>
          </a:xfrm>
          <a:prstGeom prst="rect">
            <a:avLst/>
          </a:prstGeom>
          <a:noFill/>
          <a:ln/>
        </p:spPr>
        <p:txBody>
          <a:bodyPr wrap="square"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Outlier — earnings recovering from loss years</a:t>
            </a:r>
            <a:endParaRPr lang="en-US" sz="1000" dirty="0"/>
          </a:p>
        </p:txBody>
      </p:sp>
      <p:sp>
        <p:nvSpPr>
          <p:cNvPr id="74" name="Shape 72"/>
          <p:cNvSpPr/>
          <p:nvPr/>
        </p:nvSpPr>
        <p:spPr>
          <a:xfrm>
            <a:off x="256032" y="3730752"/>
            <a:ext cx="8631936" cy="658368"/>
          </a:xfrm>
          <a:prstGeom prst="rect">
            <a:avLst/>
          </a:prstGeom>
          <a:solidFill>
            <a:srgbClr val="FFF7ED"/>
          </a:solidFill>
          <a:ln w="12700">
            <a:solidFill>
              <a:srgbClr val="FED7AA"/>
            </a:solidFill>
            <a:prstDash val="solid"/>
          </a:ln>
        </p:spPr>
      </p:sp>
      <p:sp>
        <p:nvSpPr>
          <p:cNvPr id="75" name="Text 73"/>
          <p:cNvSpPr/>
          <p:nvPr/>
        </p:nvSpPr>
        <p:spPr>
          <a:xfrm>
            <a:off x="347472" y="3749040"/>
            <a:ext cx="8449056" cy="621792"/>
          </a:xfrm>
          <a:prstGeom prst="rect">
            <a:avLst/>
          </a:prstGeom>
          <a:noFill/>
          <a:ln/>
        </p:spPr>
        <p:txBody>
          <a:bodyPr wrap="square" rtlCol="0" anchor="ctr"/>
          <a:lstStyle/>
          <a:p>
            <a:pPr indent="0" marL="0">
              <a:buNone/>
            </a:pPr>
            <a:r>
              <a:rPr lang="en-US" sz="1000" b="1" dirty="0">
                <a:solidFill>
                  <a:srgbClr val="D97706"/>
                </a:solidFill>
                <a:latin typeface="Calibri" pitchFamily="34" charset="0"/>
                <a:ea typeface="Calibri" pitchFamily="34" charset="-122"/>
                <a:cs typeface="Calibri" pitchFamily="34" charset="-120"/>
              </a:rPr>
              <a:t>Why I excluded Tata's own P/E: </a:t>
            </a:r>
            <a:pPr indent="0" marL="0">
              <a:buNone/>
            </a:pPr>
            <a:r>
              <a:rPr lang="en-US" sz="1000" dirty="0">
                <a:solidFill>
                  <a:srgbClr val="1E293B"/>
                </a:solidFill>
                <a:latin typeface="Calibri" pitchFamily="34" charset="0"/>
                <a:ea typeface="Calibri" pitchFamily="34" charset="-122"/>
                <a:cs typeface="Calibri" pitchFamily="34" charset="-120"/>
              </a:rPr>
              <a:t>Tata's EPS of INR 1.24 was abnormally low because the company had just returned to profitability after 3 years of JLR-driven losses. When earnings are near zero, the P/E ratio spikes to meaningless levels — 396x here doesn't mean the stock is 396x overvalued, it just means the denominator is distorted. Including it in the peer average would have wrecked the analysis, so I excluded it. This is standard practice in comparable analysis when a company's earnings are in early-recovery phase.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w="12700">
            <a:solidFill>
              <a:srgbClr val="1B2A4A"/>
            </a:solidFill>
            <a:prstDash val="solid"/>
          </a:ln>
        </p:spPr>
      </p:sp>
      <p:sp>
        <p:nvSpPr>
          <p:cNvPr id="3" name="Text 1"/>
          <p:cNvSpPr/>
          <p:nvPr/>
        </p:nvSpPr>
        <p:spPr>
          <a:xfrm>
            <a:off x="320040" y="0"/>
            <a:ext cx="8046720" cy="6583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METHOD 2: COMPARABLE RESULT &amp; LIMITATIONS</a:t>
            </a:r>
            <a:endParaRPr lang="en-US" sz="1600" dirty="0"/>
          </a:p>
        </p:txBody>
      </p:sp>
      <p:sp>
        <p:nvSpPr>
          <p:cNvPr id="4" name="Text 2"/>
          <p:cNvSpPr/>
          <p:nvPr/>
        </p:nvSpPr>
        <p:spPr>
          <a:xfrm>
            <a:off x="8046720" y="0"/>
            <a:ext cx="914400" cy="658368"/>
          </a:xfrm>
          <a:prstGeom prst="rect">
            <a:avLst/>
          </a:prstGeom>
          <a:noFill/>
          <a:ln/>
        </p:spPr>
        <p:txBody>
          <a:bodyPr wrap="square" rtlCol="0" anchor="ctr"/>
          <a:lstStyle/>
          <a:p>
            <a:pPr algn="r" indent="0" marL="0">
              <a:buNone/>
            </a:pPr>
            <a:r>
              <a:rPr lang="en-US" sz="900" dirty="0">
                <a:solidFill>
                  <a:srgbClr val="AEC6E8"/>
                </a:solidFill>
                <a:latin typeface="Calibri" pitchFamily="34" charset="0"/>
                <a:ea typeface="Calibri" pitchFamily="34" charset="-122"/>
                <a:cs typeface="Calibri" pitchFamily="34" charset="-120"/>
              </a:rPr>
              <a:t>8 / 9</a:t>
            </a:r>
            <a:endParaRPr lang="en-US" sz="900" dirty="0"/>
          </a:p>
        </p:txBody>
      </p:sp>
      <p:sp>
        <p:nvSpPr>
          <p:cNvPr id="5" name="Shape 3"/>
          <p:cNvSpPr/>
          <p:nvPr/>
        </p:nvSpPr>
        <p:spPr>
          <a:xfrm>
            <a:off x="256032" y="777240"/>
            <a:ext cx="4114800" cy="320040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0000"/>
              </a:srgbClr>
            </a:outerShdw>
          </a:effectLst>
        </p:spPr>
      </p:sp>
      <p:sp>
        <p:nvSpPr>
          <p:cNvPr id="6" name="Shape 4"/>
          <p:cNvSpPr/>
          <p:nvPr/>
        </p:nvSpPr>
        <p:spPr>
          <a:xfrm>
            <a:off x="256032" y="777240"/>
            <a:ext cx="4114800" cy="365760"/>
          </a:xfrm>
          <a:prstGeom prst="rect">
            <a:avLst/>
          </a:prstGeom>
          <a:solidFill>
            <a:srgbClr val="1B2A4A"/>
          </a:solidFill>
          <a:ln w="12700">
            <a:solidFill>
              <a:srgbClr val="1B2A4A"/>
            </a:solidFill>
            <a:prstDash val="solid"/>
          </a:ln>
        </p:spPr>
      </p:sp>
      <p:sp>
        <p:nvSpPr>
          <p:cNvPr id="7" name="Text 5"/>
          <p:cNvSpPr/>
          <p:nvPr/>
        </p:nvSpPr>
        <p:spPr>
          <a:xfrm>
            <a:off x="320040" y="777240"/>
            <a:ext cx="3986784" cy="36576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Valuation Calculation</a:t>
            </a:r>
            <a:endParaRPr lang="en-US" sz="1200" dirty="0"/>
          </a:p>
        </p:txBody>
      </p:sp>
      <p:sp>
        <p:nvSpPr>
          <p:cNvPr id="8" name="Shape 6"/>
          <p:cNvSpPr/>
          <p:nvPr/>
        </p:nvSpPr>
        <p:spPr>
          <a:xfrm>
            <a:off x="256032" y="1188720"/>
            <a:ext cx="2651760" cy="438912"/>
          </a:xfrm>
          <a:prstGeom prst="rect">
            <a:avLst/>
          </a:prstGeom>
          <a:solidFill>
            <a:srgbClr val="FFFFFF"/>
          </a:solidFill>
          <a:ln w="12700">
            <a:solidFill>
              <a:srgbClr val="E2E8F0"/>
            </a:solidFill>
            <a:prstDash val="solid"/>
          </a:ln>
        </p:spPr>
      </p:sp>
      <p:sp>
        <p:nvSpPr>
          <p:cNvPr id="9" name="Shape 7"/>
          <p:cNvSpPr/>
          <p:nvPr/>
        </p:nvSpPr>
        <p:spPr>
          <a:xfrm>
            <a:off x="2944368" y="1188720"/>
            <a:ext cx="1426464" cy="438912"/>
          </a:xfrm>
          <a:prstGeom prst="rect">
            <a:avLst/>
          </a:prstGeom>
          <a:solidFill>
            <a:srgbClr val="FFFFFF"/>
          </a:solidFill>
          <a:ln w="12700">
            <a:solidFill>
              <a:srgbClr val="E2E8F0"/>
            </a:solidFill>
            <a:prstDash val="solid"/>
          </a:ln>
        </p:spPr>
      </p:sp>
      <p:sp>
        <p:nvSpPr>
          <p:cNvPr id="10" name="Text 8"/>
          <p:cNvSpPr/>
          <p:nvPr/>
        </p:nvSpPr>
        <p:spPr>
          <a:xfrm>
            <a:off x="310896" y="1188720"/>
            <a:ext cx="2560320" cy="438912"/>
          </a:xfrm>
          <a:prstGeom prst="rect">
            <a:avLst/>
          </a:prstGeom>
          <a:noFill/>
          <a:ln/>
        </p:spPr>
        <p:txBody>
          <a:bodyPr wrap="square" lIns="50800" tIns="50800" rIns="50800" bIns="5080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Industry Average P/E</a:t>
            </a:r>
            <a:endParaRPr lang="en-US" sz="1050" dirty="0"/>
          </a:p>
        </p:txBody>
      </p:sp>
      <p:sp>
        <p:nvSpPr>
          <p:cNvPr id="11" name="Text 9"/>
          <p:cNvSpPr/>
          <p:nvPr/>
        </p:nvSpPr>
        <p:spPr>
          <a:xfrm>
            <a:off x="2944368" y="1188720"/>
            <a:ext cx="1426464" cy="438912"/>
          </a:xfrm>
          <a:prstGeom prst="rect">
            <a:avLst/>
          </a:prstGeom>
          <a:noFill/>
          <a:ln/>
        </p:spPr>
        <p:txBody>
          <a:bodyPr wrap="square"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37.49x</a:t>
            </a:r>
            <a:endParaRPr lang="en-US" sz="1100" dirty="0"/>
          </a:p>
        </p:txBody>
      </p:sp>
      <p:sp>
        <p:nvSpPr>
          <p:cNvPr id="12" name="Shape 10"/>
          <p:cNvSpPr/>
          <p:nvPr/>
        </p:nvSpPr>
        <p:spPr>
          <a:xfrm>
            <a:off x="256032" y="1645920"/>
            <a:ext cx="2651760" cy="438912"/>
          </a:xfrm>
          <a:prstGeom prst="rect">
            <a:avLst/>
          </a:prstGeom>
          <a:solidFill>
            <a:srgbClr val="F0F4FF"/>
          </a:solidFill>
          <a:ln w="12700">
            <a:solidFill>
              <a:srgbClr val="E2E8F0"/>
            </a:solidFill>
            <a:prstDash val="solid"/>
          </a:ln>
        </p:spPr>
      </p:sp>
      <p:sp>
        <p:nvSpPr>
          <p:cNvPr id="13" name="Shape 11"/>
          <p:cNvSpPr/>
          <p:nvPr/>
        </p:nvSpPr>
        <p:spPr>
          <a:xfrm>
            <a:off x="2944368" y="1645920"/>
            <a:ext cx="1426464" cy="438912"/>
          </a:xfrm>
          <a:prstGeom prst="rect">
            <a:avLst/>
          </a:prstGeom>
          <a:solidFill>
            <a:srgbClr val="F0F4FF"/>
          </a:solidFill>
          <a:ln w="12700">
            <a:solidFill>
              <a:srgbClr val="E2E8F0"/>
            </a:solidFill>
            <a:prstDash val="solid"/>
          </a:ln>
        </p:spPr>
      </p:sp>
      <p:sp>
        <p:nvSpPr>
          <p:cNvPr id="14" name="Text 12"/>
          <p:cNvSpPr/>
          <p:nvPr/>
        </p:nvSpPr>
        <p:spPr>
          <a:xfrm>
            <a:off x="310896" y="1645920"/>
            <a:ext cx="2560320" cy="438912"/>
          </a:xfrm>
          <a:prstGeom prst="rect">
            <a:avLst/>
          </a:prstGeom>
          <a:noFill/>
          <a:ln/>
        </p:spPr>
        <p:txBody>
          <a:bodyPr wrap="square" lIns="50800" tIns="50800" rIns="50800" bIns="5080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Tata Motors EPS</a:t>
            </a:r>
            <a:endParaRPr lang="en-US" sz="1050" dirty="0"/>
          </a:p>
        </p:txBody>
      </p:sp>
      <p:sp>
        <p:nvSpPr>
          <p:cNvPr id="15" name="Text 13"/>
          <p:cNvSpPr/>
          <p:nvPr/>
        </p:nvSpPr>
        <p:spPr>
          <a:xfrm>
            <a:off x="2944368" y="1645920"/>
            <a:ext cx="1426464" cy="438912"/>
          </a:xfrm>
          <a:prstGeom prst="rect">
            <a:avLst/>
          </a:prstGeom>
          <a:noFill/>
          <a:ln/>
        </p:spPr>
        <p:txBody>
          <a:bodyPr wrap="square"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INR 1.24</a:t>
            </a:r>
            <a:endParaRPr lang="en-US" sz="1100" dirty="0"/>
          </a:p>
        </p:txBody>
      </p:sp>
      <p:sp>
        <p:nvSpPr>
          <p:cNvPr id="16" name="Shape 14"/>
          <p:cNvSpPr/>
          <p:nvPr/>
        </p:nvSpPr>
        <p:spPr>
          <a:xfrm>
            <a:off x="256032" y="2103120"/>
            <a:ext cx="2651760" cy="438912"/>
          </a:xfrm>
          <a:prstGeom prst="rect">
            <a:avLst/>
          </a:prstGeom>
          <a:solidFill>
            <a:srgbClr val="FFFFFF"/>
          </a:solidFill>
          <a:ln w="12700">
            <a:solidFill>
              <a:srgbClr val="E2E8F0"/>
            </a:solidFill>
            <a:prstDash val="solid"/>
          </a:ln>
        </p:spPr>
      </p:sp>
      <p:sp>
        <p:nvSpPr>
          <p:cNvPr id="17" name="Shape 15"/>
          <p:cNvSpPr/>
          <p:nvPr/>
        </p:nvSpPr>
        <p:spPr>
          <a:xfrm>
            <a:off x="2944368" y="2103120"/>
            <a:ext cx="1426464" cy="438912"/>
          </a:xfrm>
          <a:prstGeom prst="rect">
            <a:avLst/>
          </a:prstGeom>
          <a:solidFill>
            <a:srgbClr val="FFFFFF"/>
          </a:solidFill>
          <a:ln w="12700">
            <a:solidFill>
              <a:srgbClr val="E2E8F0"/>
            </a:solidFill>
            <a:prstDash val="solid"/>
          </a:ln>
        </p:spPr>
      </p:sp>
      <p:sp>
        <p:nvSpPr>
          <p:cNvPr id="18" name="Text 16"/>
          <p:cNvSpPr/>
          <p:nvPr/>
        </p:nvSpPr>
        <p:spPr>
          <a:xfrm>
            <a:off x="310896" y="2103120"/>
            <a:ext cx="2560320" cy="438912"/>
          </a:xfrm>
          <a:prstGeom prst="rect">
            <a:avLst/>
          </a:prstGeom>
          <a:noFill/>
          <a:ln/>
        </p:spPr>
        <p:txBody>
          <a:bodyPr wrap="square" lIns="50800" tIns="50800" rIns="50800" bIns="5080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Intrinsic Value = 37.49 × 1.24</a:t>
            </a:r>
            <a:endParaRPr lang="en-US" sz="1050" dirty="0"/>
          </a:p>
        </p:txBody>
      </p:sp>
      <p:sp>
        <p:nvSpPr>
          <p:cNvPr id="19" name="Text 17"/>
          <p:cNvSpPr/>
          <p:nvPr/>
        </p:nvSpPr>
        <p:spPr>
          <a:xfrm>
            <a:off x="2944368" y="2103120"/>
            <a:ext cx="1426464" cy="438912"/>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INR 46.49</a:t>
            </a:r>
            <a:endParaRPr lang="en-US" sz="1100" dirty="0"/>
          </a:p>
        </p:txBody>
      </p:sp>
      <p:sp>
        <p:nvSpPr>
          <p:cNvPr id="20" name="Shape 18"/>
          <p:cNvSpPr/>
          <p:nvPr/>
        </p:nvSpPr>
        <p:spPr>
          <a:xfrm>
            <a:off x="256032" y="2560320"/>
            <a:ext cx="2651760" cy="438912"/>
          </a:xfrm>
          <a:prstGeom prst="rect">
            <a:avLst/>
          </a:prstGeom>
          <a:solidFill>
            <a:srgbClr val="F0F4FF"/>
          </a:solidFill>
          <a:ln w="12700">
            <a:solidFill>
              <a:srgbClr val="E2E8F0"/>
            </a:solidFill>
            <a:prstDash val="solid"/>
          </a:ln>
        </p:spPr>
      </p:sp>
      <p:sp>
        <p:nvSpPr>
          <p:cNvPr id="21" name="Shape 19"/>
          <p:cNvSpPr/>
          <p:nvPr/>
        </p:nvSpPr>
        <p:spPr>
          <a:xfrm>
            <a:off x="2944368" y="2560320"/>
            <a:ext cx="1426464" cy="438912"/>
          </a:xfrm>
          <a:prstGeom prst="rect">
            <a:avLst/>
          </a:prstGeom>
          <a:solidFill>
            <a:srgbClr val="F0F4FF"/>
          </a:solidFill>
          <a:ln w="12700">
            <a:solidFill>
              <a:srgbClr val="E2E8F0"/>
            </a:solidFill>
            <a:prstDash val="solid"/>
          </a:ln>
        </p:spPr>
      </p:sp>
      <p:sp>
        <p:nvSpPr>
          <p:cNvPr id="22" name="Text 20"/>
          <p:cNvSpPr/>
          <p:nvPr/>
        </p:nvSpPr>
        <p:spPr>
          <a:xfrm>
            <a:off x="310896" y="2560320"/>
            <a:ext cx="2560320" cy="438912"/>
          </a:xfrm>
          <a:prstGeom prst="rect">
            <a:avLst/>
          </a:prstGeom>
          <a:noFill/>
          <a:ln/>
        </p:spPr>
        <p:txBody>
          <a:bodyPr wrap="square" lIns="50800" tIns="50800" rIns="50800" bIns="5080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Current Market Price</a:t>
            </a:r>
            <a:endParaRPr lang="en-US" sz="1050" dirty="0"/>
          </a:p>
        </p:txBody>
      </p:sp>
      <p:sp>
        <p:nvSpPr>
          <p:cNvPr id="23" name="Text 21"/>
          <p:cNvSpPr/>
          <p:nvPr/>
        </p:nvSpPr>
        <p:spPr>
          <a:xfrm>
            <a:off x="2944368" y="2560320"/>
            <a:ext cx="1426464" cy="438912"/>
          </a:xfrm>
          <a:prstGeom prst="rect">
            <a:avLst/>
          </a:prstGeom>
          <a:noFill/>
          <a:ln/>
        </p:spPr>
        <p:txBody>
          <a:bodyPr wrap="square" rtlCol="0" anchor="ctr"/>
          <a:lstStyle/>
          <a:p>
            <a:pPr algn="ctr" indent="0" marL="0">
              <a:buNone/>
            </a:pPr>
            <a:r>
              <a:rPr lang="en-US" sz="1100" dirty="0">
                <a:solidFill>
                  <a:srgbClr val="1E293B"/>
                </a:solidFill>
                <a:latin typeface="Calibri" pitchFamily="34" charset="0"/>
                <a:ea typeface="Calibri" pitchFamily="34" charset="-122"/>
                <a:cs typeface="Calibri" pitchFamily="34" charset="-120"/>
              </a:rPr>
              <a:t>INR 490.00</a:t>
            </a:r>
            <a:endParaRPr lang="en-US" sz="1100" dirty="0"/>
          </a:p>
        </p:txBody>
      </p:sp>
      <p:sp>
        <p:nvSpPr>
          <p:cNvPr id="24" name="Shape 22"/>
          <p:cNvSpPr/>
          <p:nvPr/>
        </p:nvSpPr>
        <p:spPr>
          <a:xfrm>
            <a:off x="256032" y="3017520"/>
            <a:ext cx="2651760" cy="438912"/>
          </a:xfrm>
          <a:prstGeom prst="rect">
            <a:avLst/>
          </a:prstGeom>
          <a:solidFill>
            <a:srgbClr val="FFFFFF"/>
          </a:solidFill>
          <a:ln w="12700">
            <a:solidFill>
              <a:srgbClr val="E2E8F0"/>
            </a:solidFill>
            <a:prstDash val="solid"/>
          </a:ln>
        </p:spPr>
      </p:sp>
      <p:sp>
        <p:nvSpPr>
          <p:cNvPr id="25" name="Shape 23"/>
          <p:cNvSpPr/>
          <p:nvPr/>
        </p:nvSpPr>
        <p:spPr>
          <a:xfrm>
            <a:off x="2944368" y="3017520"/>
            <a:ext cx="1426464" cy="438912"/>
          </a:xfrm>
          <a:prstGeom prst="rect">
            <a:avLst/>
          </a:prstGeom>
          <a:solidFill>
            <a:srgbClr val="FFFFFF"/>
          </a:solidFill>
          <a:ln w="12700">
            <a:solidFill>
              <a:srgbClr val="E2E8F0"/>
            </a:solidFill>
            <a:prstDash val="solid"/>
          </a:ln>
        </p:spPr>
      </p:sp>
      <p:sp>
        <p:nvSpPr>
          <p:cNvPr id="26" name="Text 24"/>
          <p:cNvSpPr/>
          <p:nvPr/>
        </p:nvSpPr>
        <p:spPr>
          <a:xfrm>
            <a:off x="310896" y="3017520"/>
            <a:ext cx="2560320" cy="438912"/>
          </a:xfrm>
          <a:prstGeom prst="rect">
            <a:avLst/>
          </a:prstGeom>
          <a:noFill/>
          <a:ln/>
        </p:spPr>
        <p:txBody>
          <a:bodyPr wrap="square" lIns="50800" tIns="50800" rIns="50800" bIns="5080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Downside to Intrinsic Value</a:t>
            </a:r>
            <a:endParaRPr lang="en-US" sz="1050" dirty="0"/>
          </a:p>
        </p:txBody>
      </p:sp>
      <p:sp>
        <p:nvSpPr>
          <p:cNvPr id="27" name="Text 25"/>
          <p:cNvSpPr/>
          <p:nvPr/>
        </p:nvSpPr>
        <p:spPr>
          <a:xfrm>
            <a:off x="2944368" y="3017520"/>
            <a:ext cx="1426464" cy="438912"/>
          </a:xfrm>
          <a:prstGeom prst="rect">
            <a:avLst/>
          </a:prstGeom>
          <a:noFill/>
          <a:ln/>
        </p:spPr>
        <p:txBody>
          <a:bodyPr wrap="square" rtlCol="0" anchor="ctr"/>
          <a:lstStyle/>
          <a:p>
            <a:pPr algn="ctr" indent="0" marL="0">
              <a:buNone/>
            </a:pPr>
            <a:r>
              <a:rPr lang="en-US" sz="1100" b="1" dirty="0">
                <a:solidFill>
                  <a:srgbClr val="C0392B"/>
                </a:solidFill>
                <a:latin typeface="Calibri" pitchFamily="34" charset="0"/>
                <a:ea typeface="Calibri" pitchFamily="34" charset="-122"/>
                <a:cs typeface="Calibri" pitchFamily="34" charset="-120"/>
              </a:rPr>
              <a:t>−90.5%</a:t>
            </a:r>
            <a:endParaRPr lang="en-US" sz="1100" dirty="0"/>
          </a:p>
        </p:txBody>
      </p:sp>
      <p:sp>
        <p:nvSpPr>
          <p:cNvPr id="28" name="Shape 26"/>
          <p:cNvSpPr/>
          <p:nvPr/>
        </p:nvSpPr>
        <p:spPr>
          <a:xfrm>
            <a:off x="256032" y="3474720"/>
            <a:ext cx="2651760" cy="438912"/>
          </a:xfrm>
          <a:prstGeom prst="rect">
            <a:avLst/>
          </a:prstGeom>
          <a:solidFill>
            <a:srgbClr val="DBEAFE"/>
          </a:solidFill>
          <a:ln w="12700">
            <a:solidFill>
              <a:srgbClr val="E2E8F0"/>
            </a:solidFill>
            <a:prstDash val="solid"/>
          </a:ln>
        </p:spPr>
      </p:sp>
      <p:sp>
        <p:nvSpPr>
          <p:cNvPr id="29" name="Shape 27"/>
          <p:cNvSpPr/>
          <p:nvPr/>
        </p:nvSpPr>
        <p:spPr>
          <a:xfrm>
            <a:off x="2944368" y="3474720"/>
            <a:ext cx="1426464" cy="438912"/>
          </a:xfrm>
          <a:prstGeom prst="rect">
            <a:avLst/>
          </a:prstGeom>
          <a:solidFill>
            <a:srgbClr val="DBEAFE"/>
          </a:solidFill>
          <a:ln w="12700">
            <a:solidFill>
              <a:srgbClr val="E2E8F0"/>
            </a:solidFill>
            <a:prstDash val="solid"/>
          </a:ln>
        </p:spPr>
      </p:sp>
      <p:sp>
        <p:nvSpPr>
          <p:cNvPr id="30" name="Text 28"/>
          <p:cNvSpPr/>
          <p:nvPr/>
        </p:nvSpPr>
        <p:spPr>
          <a:xfrm>
            <a:off x="310896" y="3474720"/>
            <a:ext cx="2560320" cy="438912"/>
          </a:xfrm>
          <a:prstGeom prst="rect">
            <a:avLst/>
          </a:prstGeom>
          <a:noFill/>
          <a:ln/>
        </p:spPr>
        <p:txBody>
          <a:bodyPr wrap="square" lIns="50800" tIns="50800" rIns="50800" bIns="5080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Valuation Conclusion</a:t>
            </a:r>
            <a:endParaRPr lang="en-US" sz="1050" dirty="0"/>
          </a:p>
        </p:txBody>
      </p:sp>
      <p:sp>
        <p:nvSpPr>
          <p:cNvPr id="31" name="Text 29"/>
          <p:cNvSpPr/>
          <p:nvPr/>
        </p:nvSpPr>
        <p:spPr>
          <a:xfrm>
            <a:off x="2944368" y="3474720"/>
            <a:ext cx="1426464" cy="438912"/>
          </a:xfrm>
          <a:prstGeom prst="rect">
            <a:avLst/>
          </a:prstGeom>
          <a:noFill/>
          <a:ln/>
        </p:spPr>
        <p:txBody>
          <a:bodyPr wrap="square"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OVERVALUED</a:t>
            </a:r>
            <a:endParaRPr lang="en-US" sz="1100" dirty="0"/>
          </a:p>
        </p:txBody>
      </p:sp>
      <p:sp>
        <p:nvSpPr>
          <p:cNvPr id="32" name="Shape 30"/>
          <p:cNvSpPr/>
          <p:nvPr/>
        </p:nvSpPr>
        <p:spPr>
          <a:xfrm>
            <a:off x="4663440" y="777240"/>
            <a:ext cx="4206240" cy="3200400"/>
          </a:xfrm>
          <a:prstGeom prst="rect">
            <a:avLst/>
          </a:prstGeom>
          <a:solidFill>
            <a:srgbClr val="FFFFFF"/>
          </a:solidFill>
          <a:ln w="12700">
            <a:solidFill>
              <a:srgbClr val="E2E8F0"/>
            </a:solidFill>
            <a:prstDash val="solid"/>
          </a:ln>
          <a:effectLst>
            <a:outerShdw sx="100000" sy="100000" kx="0" ky="0" algn="bl" rotWithShape="0" blurRad="50800" dist="25400" dir="8100000">
              <a:srgbClr val="000000">
                <a:alpha val="10000"/>
              </a:srgbClr>
            </a:outerShdw>
          </a:effectLst>
        </p:spPr>
      </p:sp>
      <p:sp>
        <p:nvSpPr>
          <p:cNvPr id="33" name="Shape 31"/>
          <p:cNvSpPr/>
          <p:nvPr/>
        </p:nvSpPr>
        <p:spPr>
          <a:xfrm>
            <a:off x="4663440" y="777240"/>
            <a:ext cx="4206240" cy="365760"/>
          </a:xfrm>
          <a:prstGeom prst="rect">
            <a:avLst/>
          </a:prstGeom>
          <a:solidFill>
            <a:srgbClr val="D97706"/>
          </a:solidFill>
          <a:ln w="12700">
            <a:solidFill>
              <a:srgbClr val="D97706"/>
            </a:solidFill>
            <a:prstDash val="solid"/>
          </a:ln>
        </p:spPr>
      </p:sp>
      <p:sp>
        <p:nvSpPr>
          <p:cNvPr id="34" name="Text 32"/>
          <p:cNvSpPr/>
          <p:nvPr/>
        </p:nvSpPr>
        <p:spPr>
          <a:xfrm>
            <a:off x="4718304" y="777240"/>
            <a:ext cx="4096512" cy="36576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Limitations — What This Method Can't Tell You</a:t>
            </a:r>
            <a:endParaRPr lang="en-US" sz="1100" dirty="0"/>
          </a:p>
        </p:txBody>
      </p:sp>
      <p:sp>
        <p:nvSpPr>
          <p:cNvPr id="35" name="Text 33"/>
          <p:cNvSpPr/>
          <p:nvPr/>
        </p:nvSpPr>
        <p:spPr>
          <a:xfrm>
            <a:off x="4773168" y="1188720"/>
            <a:ext cx="3986784" cy="2724912"/>
          </a:xfrm>
          <a:prstGeom prst="rect">
            <a:avLst/>
          </a:prstGeom>
          <a:noFill/>
          <a:ln/>
        </p:spPr>
        <p:txBody>
          <a:bodyPr wrap="square" rtlCol="0" anchor="ctr"/>
          <a:lstStyle/>
          <a:p>
            <a:pPr marL="342900" indent="-342900">
              <a:spcAft>
                <a:spcPts val="800"/>
              </a:spcAft>
              <a:buSzPct val="100000"/>
              <a:buChar char="•"/>
            </a:pPr>
            <a:r>
              <a:rPr lang="en-US" sz="1050" dirty="0">
                <a:solidFill>
                  <a:srgbClr val="1E293B"/>
                </a:solidFill>
                <a:latin typeface="Calibri" pitchFamily="34" charset="0"/>
                <a:ea typeface="Calibri" pitchFamily="34" charset="-122"/>
                <a:cs typeface="Calibri" pitchFamily="34" charset="-120"/>
              </a:rPr>
              <a:t>P/E breaks down when earnings are recovering — the INR 46.49 result is partly a product of depressed EPS, not just overvaluation</a:t>
            </a:r>
            <a:endParaRPr lang="en-US" sz="1050" dirty="0"/>
          </a:p>
          <a:p>
            <a:pPr marL="342900" indent="-342900">
              <a:spcAft>
                <a:spcPts val="800"/>
              </a:spcAft>
              <a:buSzPct val="100000"/>
              <a:buChar char="•"/>
            </a:pPr>
            <a:r>
              <a:rPr lang="en-US" sz="1050" dirty="0">
                <a:solidFill>
                  <a:srgbClr val="1E293B"/>
                </a:solidFill>
                <a:latin typeface="Calibri" pitchFamily="34" charset="0"/>
                <a:ea typeface="Calibri" pitchFamily="34" charset="-122"/>
                <a:cs typeface="Calibri" pitchFamily="34" charset="-120"/>
              </a:rPr>
              <a:t>Peer selection is a judgment call — Maruti, M&amp;M and Ashok Leyland felt like the closest comparables, but different peers give a different average</a:t>
            </a:r>
            <a:endParaRPr lang="en-US" sz="1050" dirty="0"/>
          </a:p>
          <a:p>
            <a:pPr marL="342900" indent="-342900">
              <a:spcAft>
                <a:spcPts val="800"/>
              </a:spcAft>
              <a:buSzPct val="100000"/>
              <a:buChar char="•"/>
            </a:pPr>
            <a:r>
              <a:rPr lang="en-US" sz="1050" dirty="0">
                <a:solidFill>
                  <a:srgbClr val="1E293B"/>
                </a:solidFill>
                <a:latin typeface="Calibri" pitchFamily="34" charset="0"/>
                <a:ea typeface="Calibri" pitchFamily="34" charset="-122"/>
                <a:cs typeface="Calibri" pitchFamily="34" charset="-120"/>
              </a:rPr>
              <a:t>The method doesn't adjust for growth rate differences — a company growing 25% a year arguably deserves a higher multiple than one growing 5%</a:t>
            </a:r>
            <a:endParaRPr lang="en-US" sz="1050" dirty="0"/>
          </a:p>
          <a:p>
            <a:pPr marL="342900" indent="-342900">
              <a:spcAft>
                <a:spcPts val="800"/>
              </a:spcAft>
              <a:buSzPct val="100000"/>
              <a:buChar char="•"/>
            </a:pPr>
            <a:r>
              <a:rPr lang="en-US" sz="1050" dirty="0">
                <a:solidFill>
                  <a:srgbClr val="1E293B"/>
                </a:solidFill>
                <a:latin typeface="Calibri" pitchFamily="34" charset="0"/>
                <a:ea typeface="Calibri" pitchFamily="34" charset="-122"/>
                <a:cs typeface="Calibri" pitchFamily="34" charset="-120"/>
              </a:rPr>
              <a:t>For a more reliable result on a company in earnings recovery, EV/EBITDA would have been better — I cross-checked with DCF instead</a:t>
            </a:r>
            <a:endParaRPr lang="en-US" sz="1050" dirty="0"/>
          </a:p>
        </p:txBody>
      </p:sp>
      <p:sp>
        <p:nvSpPr>
          <p:cNvPr id="36" name="Shape 34"/>
          <p:cNvSpPr/>
          <p:nvPr/>
        </p:nvSpPr>
        <p:spPr>
          <a:xfrm>
            <a:off x="256032" y="4069080"/>
            <a:ext cx="8631936" cy="713232"/>
          </a:xfrm>
          <a:prstGeom prst="rect">
            <a:avLst/>
          </a:prstGeom>
          <a:solidFill>
            <a:srgbClr val="FFF7ED"/>
          </a:solidFill>
          <a:ln w="12700">
            <a:solidFill>
              <a:srgbClr val="FED7AA"/>
            </a:solidFill>
            <a:prstDash val="solid"/>
          </a:ln>
        </p:spPr>
      </p:sp>
      <p:sp>
        <p:nvSpPr>
          <p:cNvPr id="37" name="Text 35"/>
          <p:cNvSpPr/>
          <p:nvPr/>
        </p:nvSpPr>
        <p:spPr>
          <a:xfrm>
            <a:off x="347472" y="4096512"/>
            <a:ext cx="8449056" cy="658368"/>
          </a:xfrm>
          <a:prstGeom prst="rect">
            <a:avLst/>
          </a:prstGeom>
          <a:noFill/>
          <a:ln/>
        </p:spPr>
        <p:txBody>
          <a:bodyPr wrap="square" rtlCol="0" anchor="ctr"/>
          <a:lstStyle/>
          <a:p>
            <a:pPr indent="0" marL="0">
              <a:buNone/>
            </a:pPr>
            <a:r>
              <a:rPr lang="en-US" sz="1000" b="1" dirty="0">
                <a:solidFill>
                  <a:srgbClr val="D97706"/>
                </a:solidFill>
                <a:latin typeface="Calibri" pitchFamily="34" charset="0"/>
                <a:ea typeface="Calibri" pitchFamily="34" charset="-122"/>
                <a:cs typeface="Calibri" pitchFamily="34" charset="-120"/>
              </a:rPr>
              <a:t>Important note: </a:t>
            </a:r>
            <a:pPr indent="0" marL="0">
              <a:buNone/>
            </a:pPr>
            <a:r>
              <a:rPr lang="en-US" sz="1000" dirty="0">
                <a:solidFill>
                  <a:srgbClr val="1E293B"/>
                </a:solidFill>
                <a:latin typeface="Calibri" pitchFamily="34" charset="0"/>
                <a:ea typeface="Calibri" pitchFamily="34" charset="-122"/>
                <a:cs typeface="Calibri" pitchFamily="34" charset="-120"/>
              </a:rPr>
              <a:t>The INR 46.49 intrinsic value from the P/E method and the INR 330 from DCF are both below the market price of INR 382–490 — but they arrive at very different numbers. That gap is expected. P/E was distorted by near-zero EPS; DCF uses forward earnings estimates which are significantly higher. Both methods independently support the SELL/Overvalued conclusion, which is what gives me confidence in the call.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0392B"/>
          </a:solidFill>
          <a:ln w="12700">
            <a:solidFill>
              <a:srgbClr val="C0392B"/>
            </a:solidFill>
            <a:prstDash val="solid"/>
          </a:ln>
        </p:spPr>
      </p:sp>
      <p:sp>
        <p:nvSpPr>
          <p:cNvPr id="3" name="Text 1"/>
          <p:cNvSpPr/>
          <p:nvPr/>
        </p:nvSpPr>
        <p:spPr>
          <a:xfrm>
            <a:off x="320040" y="0"/>
            <a:ext cx="8046720" cy="658368"/>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COMBINED CONCLUSION — BOTH METHODS, ONE VERDICT</a:t>
            </a:r>
            <a:endParaRPr lang="en-US" sz="1600" dirty="0"/>
          </a:p>
        </p:txBody>
      </p:sp>
      <p:sp>
        <p:nvSpPr>
          <p:cNvPr id="4" name="Text 2"/>
          <p:cNvSpPr/>
          <p:nvPr/>
        </p:nvSpPr>
        <p:spPr>
          <a:xfrm>
            <a:off x="8046720" y="0"/>
            <a:ext cx="914400" cy="658368"/>
          </a:xfrm>
          <a:prstGeom prst="rect">
            <a:avLst/>
          </a:prstGeom>
          <a:noFill/>
          <a:ln/>
        </p:spPr>
        <p:txBody>
          <a:bodyPr wrap="square" rtlCol="0" anchor="ctr"/>
          <a:lstStyle/>
          <a:p>
            <a:pPr algn="r" indent="0" marL="0">
              <a:buNone/>
            </a:pPr>
            <a:r>
              <a:rPr lang="en-US" sz="900" dirty="0">
                <a:solidFill>
                  <a:srgbClr val="FFCCCC"/>
                </a:solidFill>
                <a:latin typeface="Calibri" pitchFamily="34" charset="0"/>
                <a:ea typeface="Calibri" pitchFamily="34" charset="-122"/>
                <a:cs typeface="Calibri" pitchFamily="34" charset="-120"/>
              </a:rPr>
              <a:t>9 / 9</a:t>
            </a:r>
            <a:endParaRPr lang="en-US" sz="900" dirty="0"/>
          </a:p>
        </p:txBody>
      </p:sp>
      <p:sp>
        <p:nvSpPr>
          <p:cNvPr id="5" name="Shape 3"/>
          <p:cNvSpPr/>
          <p:nvPr/>
        </p:nvSpPr>
        <p:spPr>
          <a:xfrm>
            <a:off x="256032" y="777240"/>
            <a:ext cx="4160520" cy="3886200"/>
          </a:xfrm>
          <a:prstGeom prst="rect">
            <a:avLst/>
          </a:prstGeom>
          <a:solidFill>
            <a:srgbClr val="2C3E6B"/>
          </a:solidFill>
          <a:ln w="12700">
            <a:solidFill>
              <a:srgbClr val="3D5A8A"/>
            </a:solidFill>
            <a:prstDash val="solid"/>
          </a:ln>
          <a:effectLst>
            <a:outerShdw sx="100000" sy="100000" kx="0" ky="0" algn="bl" rotWithShape="0" blurRad="50800" dist="25400" dir="8100000">
              <a:srgbClr val="000000">
                <a:alpha val="10000"/>
              </a:srgbClr>
            </a:outerShdw>
          </a:effectLst>
        </p:spPr>
      </p:sp>
      <p:sp>
        <p:nvSpPr>
          <p:cNvPr id="6" name="Shape 4"/>
          <p:cNvSpPr/>
          <p:nvPr/>
        </p:nvSpPr>
        <p:spPr>
          <a:xfrm>
            <a:off x="256032" y="777240"/>
            <a:ext cx="4160520" cy="384048"/>
          </a:xfrm>
          <a:prstGeom prst="rect">
            <a:avLst/>
          </a:prstGeom>
          <a:solidFill>
            <a:srgbClr val="C0392B"/>
          </a:solidFill>
          <a:ln w="12700">
            <a:solidFill>
              <a:srgbClr val="C0392B"/>
            </a:solidFill>
            <a:prstDash val="solid"/>
          </a:ln>
        </p:spPr>
      </p:sp>
      <p:sp>
        <p:nvSpPr>
          <p:cNvPr id="7" name="Text 5"/>
          <p:cNvSpPr/>
          <p:nvPr/>
        </p:nvSpPr>
        <p:spPr>
          <a:xfrm>
            <a:off x="310896" y="777240"/>
            <a:ext cx="4050792"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Method 1: DCF</a:t>
            </a:r>
            <a:endParaRPr lang="en-US" sz="1200" dirty="0"/>
          </a:p>
        </p:txBody>
      </p:sp>
      <p:sp>
        <p:nvSpPr>
          <p:cNvPr id="8" name="Text 6"/>
          <p:cNvSpPr/>
          <p:nvPr/>
        </p:nvSpPr>
        <p:spPr>
          <a:xfrm>
            <a:off x="365760" y="1207008"/>
            <a:ext cx="2011680" cy="438912"/>
          </a:xfrm>
          <a:prstGeom prst="rect">
            <a:avLst/>
          </a:prstGeom>
          <a:noFill/>
          <a:ln/>
        </p:spPr>
        <p:txBody>
          <a:bodyPr wrap="square" rtlCol="0" anchor="ctr"/>
          <a:lstStyle/>
          <a:p>
            <a:pPr indent="0" marL="0">
              <a:buNone/>
            </a:pPr>
            <a:r>
              <a:rPr lang="en-US" sz="1050" dirty="0">
                <a:solidFill>
                  <a:srgbClr val="AEC6E8"/>
                </a:solidFill>
                <a:latin typeface="Calibri" pitchFamily="34" charset="0"/>
                <a:ea typeface="Calibri" pitchFamily="34" charset="-122"/>
                <a:cs typeface="Calibri" pitchFamily="34" charset="-120"/>
              </a:rPr>
              <a:t>WACC</a:t>
            </a:r>
            <a:endParaRPr lang="en-US" sz="1050" dirty="0"/>
          </a:p>
        </p:txBody>
      </p:sp>
      <p:sp>
        <p:nvSpPr>
          <p:cNvPr id="9" name="Text 7"/>
          <p:cNvSpPr/>
          <p:nvPr/>
        </p:nvSpPr>
        <p:spPr>
          <a:xfrm>
            <a:off x="2414016" y="1207008"/>
            <a:ext cx="1920240" cy="438912"/>
          </a:xfrm>
          <a:prstGeom prst="rect">
            <a:avLst/>
          </a:prstGeom>
          <a:noFill/>
          <a:ln/>
        </p:spPr>
        <p:txBody>
          <a:bodyPr wrap="square"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10%</a:t>
            </a:r>
            <a:endParaRPr lang="en-US" sz="1100" dirty="0"/>
          </a:p>
        </p:txBody>
      </p:sp>
      <p:sp>
        <p:nvSpPr>
          <p:cNvPr id="10" name="Shape 8"/>
          <p:cNvSpPr/>
          <p:nvPr/>
        </p:nvSpPr>
        <p:spPr>
          <a:xfrm>
            <a:off x="365760" y="1645920"/>
            <a:ext cx="3931920" cy="0"/>
          </a:xfrm>
          <a:prstGeom prst="line">
            <a:avLst/>
          </a:prstGeom>
          <a:noFill/>
          <a:ln w="6350">
            <a:solidFill>
              <a:srgbClr val="3D5A8A"/>
            </a:solidFill>
            <a:prstDash val="solid"/>
          </a:ln>
        </p:spPr>
      </p:sp>
      <p:sp>
        <p:nvSpPr>
          <p:cNvPr id="11" name="Text 9"/>
          <p:cNvSpPr/>
          <p:nvPr/>
        </p:nvSpPr>
        <p:spPr>
          <a:xfrm>
            <a:off x="365760" y="1682496"/>
            <a:ext cx="2011680" cy="438912"/>
          </a:xfrm>
          <a:prstGeom prst="rect">
            <a:avLst/>
          </a:prstGeom>
          <a:noFill/>
          <a:ln/>
        </p:spPr>
        <p:txBody>
          <a:bodyPr wrap="square" rtlCol="0" anchor="ctr"/>
          <a:lstStyle/>
          <a:p>
            <a:pPr indent="0" marL="0">
              <a:buNone/>
            </a:pPr>
            <a:r>
              <a:rPr lang="en-US" sz="1050" dirty="0">
                <a:solidFill>
                  <a:srgbClr val="AEC6E8"/>
                </a:solidFill>
                <a:latin typeface="Calibri" pitchFamily="34" charset="0"/>
                <a:ea typeface="Calibri" pitchFamily="34" charset="-122"/>
                <a:cs typeface="Calibri" pitchFamily="34" charset="-120"/>
              </a:rPr>
              <a:t>Terminal Growth</a:t>
            </a:r>
            <a:endParaRPr lang="en-US" sz="1050" dirty="0"/>
          </a:p>
        </p:txBody>
      </p:sp>
      <p:sp>
        <p:nvSpPr>
          <p:cNvPr id="12" name="Text 10"/>
          <p:cNvSpPr/>
          <p:nvPr/>
        </p:nvSpPr>
        <p:spPr>
          <a:xfrm>
            <a:off x="2414016" y="1682496"/>
            <a:ext cx="1920240" cy="438912"/>
          </a:xfrm>
          <a:prstGeom prst="rect">
            <a:avLst/>
          </a:prstGeom>
          <a:noFill/>
          <a:ln/>
        </p:spPr>
        <p:txBody>
          <a:bodyPr wrap="square"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4%</a:t>
            </a:r>
            <a:endParaRPr lang="en-US" sz="1100" dirty="0"/>
          </a:p>
        </p:txBody>
      </p:sp>
      <p:sp>
        <p:nvSpPr>
          <p:cNvPr id="13" name="Shape 11"/>
          <p:cNvSpPr/>
          <p:nvPr/>
        </p:nvSpPr>
        <p:spPr>
          <a:xfrm>
            <a:off x="365760" y="2121408"/>
            <a:ext cx="3931920" cy="0"/>
          </a:xfrm>
          <a:prstGeom prst="line">
            <a:avLst/>
          </a:prstGeom>
          <a:noFill/>
          <a:ln w="6350">
            <a:solidFill>
              <a:srgbClr val="3D5A8A"/>
            </a:solidFill>
            <a:prstDash val="solid"/>
          </a:ln>
        </p:spPr>
      </p:sp>
      <p:sp>
        <p:nvSpPr>
          <p:cNvPr id="14" name="Text 12"/>
          <p:cNvSpPr/>
          <p:nvPr/>
        </p:nvSpPr>
        <p:spPr>
          <a:xfrm>
            <a:off x="365760" y="2157984"/>
            <a:ext cx="2011680" cy="438912"/>
          </a:xfrm>
          <a:prstGeom prst="rect">
            <a:avLst/>
          </a:prstGeom>
          <a:noFill/>
          <a:ln/>
        </p:spPr>
        <p:txBody>
          <a:bodyPr wrap="square" rtlCol="0" anchor="ctr"/>
          <a:lstStyle/>
          <a:p>
            <a:pPr indent="0" marL="0">
              <a:buNone/>
            </a:pPr>
            <a:r>
              <a:rPr lang="en-US" sz="1050" dirty="0">
                <a:solidFill>
                  <a:srgbClr val="AEC6E8"/>
                </a:solidFill>
                <a:latin typeface="Calibri" pitchFamily="34" charset="0"/>
                <a:ea typeface="Calibri" pitchFamily="34" charset="-122"/>
                <a:cs typeface="Calibri" pitchFamily="34" charset="-120"/>
              </a:rPr>
              <a:t>Intrinsic Value</a:t>
            </a:r>
            <a:endParaRPr lang="en-US" sz="1050" dirty="0"/>
          </a:p>
        </p:txBody>
      </p:sp>
      <p:sp>
        <p:nvSpPr>
          <p:cNvPr id="15" name="Text 13"/>
          <p:cNvSpPr/>
          <p:nvPr/>
        </p:nvSpPr>
        <p:spPr>
          <a:xfrm>
            <a:off x="2414016" y="2157984"/>
            <a:ext cx="1920240" cy="438912"/>
          </a:xfrm>
          <a:prstGeom prst="rect">
            <a:avLst/>
          </a:prstGeom>
          <a:noFill/>
          <a:ln/>
        </p:spPr>
        <p:txBody>
          <a:bodyPr wrap="square"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INR 330 / share</a:t>
            </a:r>
            <a:endParaRPr lang="en-US" sz="1100" dirty="0"/>
          </a:p>
        </p:txBody>
      </p:sp>
      <p:sp>
        <p:nvSpPr>
          <p:cNvPr id="16" name="Shape 14"/>
          <p:cNvSpPr/>
          <p:nvPr/>
        </p:nvSpPr>
        <p:spPr>
          <a:xfrm>
            <a:off x="365760" y="2596896"/>
            <a:ext cx="3931920" cy="0"/>
          </a:xfrm>
          <a:prstGeom prst="line">
            <a:avLst/>
          </a:prstGeom>
          <a:noFill/>
          <a:ln w="6350">
            <a:solidFill>
              <a:srgbClr val="3D5A8A"/>
            </a:solidFill>
            <a:prstDash val="solid"/>
          </a:ln>
        </p:spPr>
      </p:sp>
      <p:sp>
        <p:nvSpPr>
          <p:cNvPr id="17" name="Text 15"/>
          <p:cNvSpPr/>
          <p:nvPr/>
        </p:nvSpPr>
        <p:spPr>
          <a:xfrm>
            <a:off x="365760" y="2633472"/>
            <a:ext cx="2011680" cy="438912"/>
          </a:xfrm>
          <a:prstGeom prst="rect">
            <a:avLst/>
          </a:prstGeom>
          <a:noFill/>
          <a:ln/>
        </p:spPr>
        <p:txBody>
          <a:bodyPr wrap="square" rtlCol="0" anchor="ctr"/>
          <a:lstStyle/>
          <a:p>
            <a:pPr indent="0" marL="0">
              <a:buNone/>
            </a:pPr>
            <a:r>
              <a:rPr lang="en-US" sz="1050" dirty="0">
                <a:solidFill>
                  <a:srgbClr val="AEC6E8"/>
                </a:solidFill>
                <a:latin typeface="Calibri" pitchFamily="34" charset="0"/>
                <a:ea typeface="Calibri" pitchFamily="34" charset="-122"/>
                <a:cs typeface="Calibri" pitchFamily="34" charset="-120"/>
              </a:rPr>
              <a:t>Market Price</a:t>
            </a:r>
            <a:endParaRPr lang="en-US" sz="1050" dirty="0"/>
          </a:p>
        </p:txBody>
      </p:sp>
      <p:sp>
        <p:nvSpPr>
          <p:cNvPr id="18" name="Text 16"/>
          <p:cNvSpPr/>
          <p:nvPr/>
        </p:nvSpPr>
        <p:spPr>
          <a:xfrm>
            <a:off x="2414016" y="2633472"/>
            <a:ext cx="1920240" cy="438912"/>
          </a:xfrm>
          <a:prstGeom prst="rect">
            <a:avLst/>
          </a:prstGeom>
          <a:noFill/>
          <a:ln/>
        </p:spPr>
        <p:txBody>
          <a:bodyPr wrap="square"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INR 382</a:t>
            </a:r>
            <a:endParaRPr lang="en-US" sz="1100" dirty="0"/>
          </a:p>
        </p:txBody>
      </p:sp>
      <p:sp>
        <p:nvSpPr>
          <p:cNvPr id="19" name="Shape 17"/>
          <p:cNvSpPr/>
          <p:nvPr/>
        </p:nvSpPr>
        <p:spPr>
          <a:xfrm>
            <a:off x="365760" y="3072384"/>
            <a:ext cx="3931920" cy="0"/>
          </a:xfrm>
          <a:prstGeom prst="line">
            <a:avLst/>
          </a:prstGeom>
          <a:noFill/>
          <a:ln w="6350">
            <a:solidFill>
              <a:srgbClr val="3D5A8A"/>
            </a:solidFill>
            <a:prstDash val="solid"/>
          </a:ln>
        </p:spPr>
      </p:sp>
      <p:sp>
        <p:nvSpPr>
          <p:cNvPr id="20" name="Text 18"/>
          <p:cNvSpPr/>
          <p:nvPr/>
        </p:nvSpPr>
        <p:spPr>
          <a:xfrm>
            <a:off x="365760" y="3108960"/>
            <a:ext cx="2011680" cy="438912"/>
          </a:xfrm>
          <a:prstGeom prst="rect">
            <a:avLst/>
          </a:prstGeom>
          <a:noFill/>
          <a:ln/>
        </p:spPr>
        <p:txBody>
          <a:bodyPr wrap="square" rtlCol="0" anchor="ctr"/>
          <a:lstStyle/>
          <a:p>
            <a:pPr indent="0" marL="0">
              <a:buNone/>
            </a:pPr>
            <a:r>
              <a:rPr lang="en-US" sz="1050" dirty="0">
                <a:solidFill>
                  <a:srgbClr val="AEC6E8"/>
                </a:solidFill>
                <a:latin typeface="Calibri" pitchFamily="34" charset="0"/>
                <a:ea typeface="Calibri" pitchFamily="34" charset="-122"/>
                <a:cs typeface="Calibri" pitchFamily="34" charset="-120"/>
              </a:rPr>
              <a:t>Upside / Downside</a:t>
            </a:r>
            <a:endParaRPr lang="en-US" sz="1050" dirty="0"/>
          </a:p>
        </p:txBody>
      </p:sp>
      <p:sp>
        <p:nvSpPr>
          <p:cNvPr id="21" name="Text 19"/>
          <p:cNvSpPr/>
          <p:nvPr/>
        </p:nvSpPr>
        <p:spPr>
          <a:xfrm>
            <a:off x="2414016" y="3108960"/>
            <a:ext cx="1920240" cy="438912"/>
          </a:xfrm>
          <a:prstGeom prst="rect">
            <a:avLst/>
          </a:prstGeom>
          <a:noFill/>
          <a:ln/>
        </p:spPr>
        <p:txBody>
          <a:bodyPr wrap="square"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−13.6%</a:t>
            </a:r>
            <a:endParaRPr lang="en-US" sz="1100" dirty="0"/>
          </a:p>
        </p:txBody>
      </p:sp>
      <p:sp>
        <p:nvSpPr>
          <p:cNvPr id="22" name="Shape 20"/>
          <p:cNvSpPr/>
          <p:nvPr/>
        </p:nvSpPr>
        <p:spPr>
          <a:xfrm>
            <a:off x="365760" y="3547872"/>
            <a:ext cx="3931920" cy="0"/>
          </a:xfrm>
          <a:prstGeom prst="line">
            <a:avLst/>
          </a:prstGeom>
          <a:noFill/>
          <a:ln w="6350">
            <a:solidFill>
              <a:srgbClr val="3D5A8A"/>
            </a:solidFill>
            <a:prstDash val="solid"/>
          </a:ln>
        </p:spPr>
      </p:sp>
      <p:sp>
        <p:nvSpPr>
          <p:cNvPr id="23" name="Text 21"/>
          <p:cNvSpPr/>
          <p:nvPr/>
        </p:nvSpPr>
        <p:spPr>
          <a:xfrm>
            <a:off x="365760" y="3584448"/>
            <a:ext cx="2011680" cy="438912"/>
          </a:xfrm>
          <a:prstGeom prst="rect">
            <a:avLst/>
          </a:prstGeom>
          <a:noFill/>
          <a:ln/>
        </p:spPr>
        <p:txBody>
          <a:bodyPr wrap="square" rtlCol="0" anchor="ctr"/>
          <a:lstStyle/>
          <a:p>
            <a:pPr indent="0" marL="0">
              <a:buNone/>
            </a:pPr>
            <a:r>
              <a:rPr lang="en-US" sz="1050" dirty="0">
                <a:solidFill>
                  <a:srgbClr val="AEC6E8"/>
                </a:solidFill>
                <a:latin typeface="Calibri" pitchFamily="34" charset="0"/>
                <a:ea typeface="Calibri" pitchFamily="34" charset="-122"/>
                <a:cs typeface="Calibri" pitchFamily="34" charset="-120"/>
              </a:rPr>
              <a:t>Recommendation</a:t>
            </a:r>
            <a:endParaRPr lang="en-US" sz="1050" dirty="0"/>
          </a:p>
        </p:txBody>
      </p:sp>
      <p:sp>
        <p:nvSpPr>
          <p:cNvPr id="24" name="Text 22"/>
          <p:cNvSpPr/>
          <p:nvPr/>
        </p:nvSpPr>
        <p:spPr>
          <a:xfrm>
            <a:off x="2414016" y="3584448"/>
            <a:ext cx="1920240" cy="438912"/>
          </a:xfrm>
          <a:prstGeom prst="rect">
            <a:avLst/>
          </a:prstGeom>
          <a:noFill/>
          <a:ln/>
        </p:spPr>
        <p:txBody>
          <a:bodyPr wrap="square" rtlCol="0" anchor="ctr"/>
          <a:lstStyle/>
          <a:p>
            <a:pPr algn="r" indent="0" marL="0">
              <a:buNone/>
            </a:pPr>
            <a:r>
              <a:rPr lang="en-US" sz="1100" b="1" dirty="0">
                <a:solidFill>
                  <a:srgbClr val="FFDD00"/>
                </a:solidFill>
                <a:latin typeface="Calibri" pitchFamily="34" charset="0"/>
                <a:ea typeface="Calibri" pitchFamily="34" charset="-122"/>
                <a:cs typeface="Calibri" pitchFamily="34" charset="-120"/>
              </a:rPr>
              <a:t>SELL</a:t>
            </a:r>
            <a:endParaRPr lang="en-US" sz="1100" dirty="0"/>
          </a:p>
        </p:txBody>
      </p:sp>
      <p:sp>
        <p:nvSpPr>
          <p:cNvPr id="25" name="Shape 23"/>
          <p:cNvSpPr/>
          <p:nvPr/>
        </p:nvSpPr>
        <p:spPr>
          <a:xfrm>
            <a:off x="4690872" y="777240"/>
            <a:ext cx="4160520" cy="3886200"/>
          </a:xfrm>
          <a:prstGeom prst="rect">
            <a:avLst/>
          </a:prstGeom>
          <a:solidFill>
            <a:srgbClr val="2C3E6B"/>
          </a:solidFill>
          <a:ln w="12700">
            <a:solidFill>
              <a:srgbClr val="3D5A8A"/>
            </a:solidFill>
            <a:prstDash val="solid"/>
          </a:ln>
          <a:effectLst>
            <a:outerShdw sx="100000" sy="100000" kx="0" ky="0" algn="bl" rotWithShape="0" blurRad="50800" dist="25400" dir="8100000">
              <a:srgbClr val="000000">
                <a:alpha val="10000"/>
              </a:srgbClr>
            </a:outerShdw>
          </a:effectLst>
        </p:spPr>
      </p:sp>
      <p:sp>
        <p:nvSpPr>
          <p:cNvPr id="26" name="Shape 24"/>
          <p:cNvSpPr/>
          <p:nvPr/>
        </p:nvSpPr>
        <p:spPr>
          <a:xfrm>
            <a:off x="4690872" y="777240"/>
            <a:ext cx="4160520" cy="384048"/>
          </a:xfrm>
          <a:prstGeom prst="rect">
            <a:avLst/>
          </a:prstGeom>
          <a:solidFill>
            <a:srgbClr val="C0392B"/>
          </a:solidFill>
          <a:ln w="12700">
            <a:solidFill>
              <a:srgbClr val="C0392B"/>
            </a:solidFill>
            <a:prstDash val="solid"/>
          </a:ln>
        </p:spPr>
      </p:sp>
      <p:sp>
        <p:nvSpPr>
          <p:cNvPr id="27" name="Text 25"/>
          <p:cNvSpPr/>
          <p:nvPr/>
        </p:nvSpPr>
        <p:spPr>
          <a:xfrm>
            <a:off x="4745736" y="777240"/>
            <a:ext cx="4050792" cy="38404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Method 2: Comparable (P/E)</a:t>
            </a:r>
            <a:endParaRPr lang="en-US" sz="1200" dirty="0"/>
          </a:p>
        </p:txBody>
      </p:sp>
      <p:sp>
        <p:nvSpPr>
          <p:cNvPr id="28" name="Text 26"/>
          <p:cNvSpPr/>
          <p:nvPr/>
        </p:nvSpPr>
        <p:spPr>
          <a:xfrm>
            <a:off x="4800600" y="1207008"/>
            <a:ext cx="2011680" cy="438912"/>
          </a:xfrm>
          <a:prstGeom prst="rect">
            <a:avLst/>
          </a:prstGeom>
          <a:noFill/>
          <a:ln/>
        </p:spPr>
        <p:txBody>
          <a:bodyPr wrap="square" rtlCol="0" anchor="ctr"/>
          <a:lstStyle/>
          <a:p>
            <a:pPr indent="0" marL="0">
              <a:buNone/>
            </a:pPr>
            <a:r>
              <a:rPr lang="en-US" sz="1050" dirty="0">
                <a:solidFill>
                  <a:srgbClr val="AEC6E8"/>
                </a:solidFill>
                <a:latin typeface="Calibri" pitchFamily="34" charset="0"/>
                <a:ea typeface="Calibri" pitchFamily="34" charset="-122"/>
                <a:cs typeface="Calibri" pitchFamily="34" charset="-120"/>
              </a:rPr>
              <a:t>Peer Avg P/E</a:t>
            </a:r>
            <a:endParaRPr lang="en-US" sz="1050" dirty="0"/>
          </a:p>
        </p:txBody>
      </p:sp>
      <p:sp>
        <p:nvSpPr>
          <p:cNvPr id="29" name="Text 27"/>
          <p:cNvSpPr/>
          <p:nvPr/>
        </p:nvSpPr>
        <p:spPr>
          <a:xfrm>
            <a:off x="6848856" y="1207008"/>
            <a:ext cx="1920240" cy="438912"/>
          </a:xfrm>
          <a:prstGeom prst="rect">
            <a:avLst/>
          </a:prstGeom>
          <a:noFill/>
          <a:ln/>
        </p:spPr>
        <p:txBody>
          <a:bodyPr wrap="square"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37.49x</a:t>
            </a:r>
            <a:endParaRPr lang="en-US" sz="1100" dirty="0"/>
          </a:p>
        </p:txBody>
      </p:sp>
      <p:sp>
        <p:nvSpPr>
          <p:cNvPr id="30" name="Shape 28"/>
          <p:cNvSpPr/>
          <p:nvPr/>
        </p:nvSpPr>
        <p:spPr>
          <a:xfrm>
            <a:off x="4800600" y="1645920"/>
            <a:ext cx="3931920" cy="0"/>
          </a:xfrm>
          <a:prstGeom prst="line">
            <a:avLst/>
          </a:prstGeom>
          <a:noFill/>
          <a:ln w="6350">
            <a:solidFill>
              <a:srgbClr val="3D5A8A"/>
            </a:solidFill>
            <a:prstDash val="solid"/>
          </a:ln>
        </p:spPr>
      </p:sp>
      <p:sp>
        <p:nvSpPr>
          <p:cNvPr id="31" name="Text 29"/>
          <p:cNvSpPr/>
          <p:nvPr/>
        </p:nvSpPr>
        <p:spPr>
          <a:xfrm>
            <a:off x="4800600" y="1682496"/>
            <a:ext cx="2011680" cy="438912"/>
          </a:xfrm>
          <a:prstGeom prst="rect">
            <a:avLst/>
          </a:prstGeom>
          <a:noFill/>
          <a:ln/>
        </p:spPr>
        <p:txBody>
          <a:bodyPr wrap="square" rtlCol="0" anchor="ctr"/>
          <a:lstStyle/>
          <a:p>
            <a:pPr indent="0" marL="0">
              <a:buNone/>
            </a:pPr>
            <a:r>
              <a:rPr lang="en-US" sz="1050" dirty="0">
                <a:solidFill>
                  <a:srgbClr val="AEC6E8"/>
                </a:solidFill>
                <a:latin typeface="Calibri" pitchFamily="34" charset="0"/>
                <a:ea typeface="Calibri" pitchFamily="34" charset="-122"/>
                <a:cs typeface="Calibri" pitchFamily="34" charset="-120"/>
              </a:rPr>
              <a:t>Tata EPS</a:t>
            </a:r>
            <a:endParaRPr lang="en-US" sz="1050" dirty="0"/>
          </a:p>
        </p:txBody>
      </p:sp>
      <p:sp>
        <p:nvSpPr>
          <p:cNvPr id="32" name="Text 30"/>
          <p:cNvSpPr/>
          <p:nvPr/>
        </p:nvSpPr>
        <p:spPr>
          <a:xfrm>
            <a:off x="6848856" y="1682496"/>
            <a:ext cx="1920240" cy="438912"/>
          </a:xfrm>
          <a:prstGeom prst="rect">
            <a:avLst/>
          </a:prstGeom>
          <a:noFill/>
          <a:ln/>
        </p:spPr>
        <p:txBody>
          <a:bodyPr wrap="square"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INR 1.24</a:t>
            </a:r>
            <a:endParaRPr lang="en-US" sz="1100" dirty="0"/>
          </a:p>
        </p:txBody>
      </p:sp>
      <p:sp>
        <p:nvSpPr>
          <p:cNvPr id="33" name="Shape 31"/>
          <p:cNvSpPr/>
          <p:nvPr/>
        </p:nvSpPr>
        <p:spPr>
          <a:xfrm>
            <a:off x="4800600" y="2121408"/>
            <a:ext cx="3931920" cy="0"/>
          </a:xfrm>
          <a:prstGeom prst="line">
            <a:avLst/>
          </a:prstGeom>
          <a:noFill/>
          <a:ln w="6350">
            <a:solidFill>
              <a:srgbClr val="3D5A8A"/>
            </a:solidFill>
            <a:prstDash val="solid"/>
          </a:ln>
        </p:spPr>
      </p:sp>
      <p:sp>
        <p:nvSpPr>
          <p:cNvPr id="34" name="Text 32"/>
          <p:cNvSpPr/>
          <p:nvPr/>
        </p:nvSpPr>
        <p:spPr>
          <a:xfrm>
            <a:off x="4800600" y="2157984"/>
            <a:ext cx="2011680" cy="438912"/>
          </a:xfrm>
          <a:prstGeom prst="rect">
            <a:avLst/>
          </a:prstGeom>
          <a:noFill/>
          <a:ln/>
        </p:spPr>
        <p:txBody>
          <a:bodyPr wrap="square" rtlCol="0" anchor="ctr"/>
          <a:lstStyle/>
          <a:p>
            <a:pPr indent="0" marL="0">
              <a:buNone/>
            </a:pPr>
            <a:r>
              <a:rPr lang="en-US" sz="1050" dirty="0">
                <a:solidFill>
                  <a:srgbClr val="AEC6E8"/>
                </a:solidFill>
                <a:latin typeface="Calibri" pitchFamily="34" charset="0"/>
                <a:ea typeface="Calibri" pitchFamily="34" charset="-122"/>
                <a:cs typeface="Calibri" pitchFamily="34" charset="-120"/>
              </a:rPr>
              <a:t>Intrinsic Value</a:t>
            </a:r>
            <a:endParaRPr lang="en-US" sz="1050" dirty="0"/>
          </a:p>
        </p:txBody>
      </p:sp>
      <p:sp>
        <p:nvSpPr>
          <p:cNvPr id="35" name="Text 33"/>
          <p:cNvSpPr/>
          <p:nvPr/>
        </p:nvSpPr>
        <p:spPr>
          <a:xfrm>
            <a:off x="6848856" y="2157984"/>
            <a:ext cx="1920240" cy="438912"/>
          </a:xfrm>
          <a:prstGeom prst="rect">
            <a:avLst/>
          </a:prstGeom>
          <a:noFill/>
          <a:ln/>
        </p:spPr>
        <p:txBody>
          <a:bodyPr wrap="square"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INR 46.49 / share</a:t>
            </a:r>
            <a:endParaRPr lang="en-US" sz="1100" dirty="0"/>
          </a:p>
        </p:txBody>
      </p:sp>
      <p:sp>
        <p:nvSpPr>
          <p:cNvPr id="36" name="Shape 34"/>
          <p:cNvSpPr/>
          <p:nvPr/>
        </p:nvSpPr>
        <p:spPr>
          <a:xfrm>
            <a:off x="4800600" y="2596896"/>
            <a:ext cx="3931920" cy="0"/>
          </a:xfrm>
          <a:prstGeom prst="line">
            <a:avLst/>
          </a:prstGeom>
          <a:noFill/>
          <a:ln w="6350">
            <a:solidFill>
              <a:srgbClr val="3D5A8A"/>
            </a:solidFill>
            <a:prstDash val="solid"/>
          </a:ln>
        </p:spPr>
      </p:sp>
      <p:sp>
        <p:nvSpPr>
          <p:cNvPr id="37" name="Text 35"/>
          <p:cNvSpPr/>
          <p:nvPr/>
        </p:nvSpPr>
        <p:spPr>
          <a:xfrm>
            <a:off x="4800600" y="2633472"/>
            <a:ext cx="2011680" cy="438912"/>
          </a:xfrm>
          <a:prstGeom prst="rect">
            <a:avLst/>
          </a:prstGeom>
          <a:noFill/>
          <a:ln/>
        </p:spPr>
        <p:txBody>
          <a:bodyPr wrap="square" rtlCol="0" anchor="ctr"/>
          <a:lstStyle/>
          <a:p>
            <a:pPr indent="0" marL="0">
              <a:buNone/>
            </a:pPr>
            <a:r>
              <a:rPr lang="en-US" sz="1050" dirty="0">
                <a:solidFill>
                  <a:srgbClr val="AEC6E8"/>
                </a:solidFill>
                <a:latin typeface="Calibri" pitchFamily="34" charset="0"/>
                <a:ea typeface="Calibri" pitchFamily="34" charset="-122"/>
                <a:cs typeface="Calibri" pitchFamily="34" charset="-120"/>
              </a:rPr>
              <a:t>Market Price</a:t>
            </a:r>
            <a:endParaRPr lang="en-US" sz="1050" dirty="0"/>
          </a:p>
        </p:txBody>
      </p:sp>
      <p:sp>
        <p:nvSpPr>
          <p:cNvPr id="38" name="Text 36"/>
          <p:cNvSpPr/>
          <p:nvPr/>
        </p:nvSpPr>
        <p:spPr>
          <a:xfrm>
            <a:off x="6848856" y="2633472"/>
            <a:ext cx="1920240" cy="438912"/>
          </a:xfrm>
          <a:prstGeom prst="rect">
            <a:avLst/>
          </a:prstGeom>
          <a:noFill/>
          <a:ln/>
        </p:spPr>
        <p:txBody>
          <a:bodyPr wrap="square"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INR 490</a:t>
            </a:r>
            <a:endParaRPr lang="en-US" sz="1100" dirty="0"/>
          </a:p>
        </p:txBody>
      </p:sp>
      <p:sp>
        <p:nvSpPr>
          <p:cNvPr id="39" name="Shape 37"/>
          <p:cNvSpPr/>
          <p:nvPr/>
        </p:nvSpPr>
        <p:spPr>
          <a:xfrm>
            <a:off x="4800600" y="3072384"/>
            <a:ext cx="3931920" cy="0"/>
          </a:xfrm>
          <a:prstGeom prst="line">
            <a:avLst/>
          </a:prstGeom>
          <a:noFill/>
          <a:ln w="6350">
            <a:solidFill>
              <a:srgbClr val="3D5A8A"/>
            </a:solidFill>
            <a:prstDash val="solid"/>
          </a:ln>
        </p:spPr>
      </p:sp>
      <p:sp>
        <p:nvSpPr>
          <p:cNvPr id="40" name="Text 38"/>
          <p:cNvSpPr/>
          <p:nvPr/>
        </p:nvSpPr>
        <p:spPr>
          <a:xfrm>
            <a:off x="4800600" y="3108960"/>
            <a:ext cx="2011680" cy="438912"/>
          </a:xfrm>
          <a:prstGeom prst="rect">
            <a:avLst/>
          </a:prstGeom>
          <a:noFill/>
          <a:ln/>
        </p:spPr>
        <p:txBody>
          <a:bodyPr wrap="square" rtlCol="0" anchor="ctr"/>
          <a:lstStyle/>
          <a:p>
            <a:pPr indent="0" marL="0">
              <a:buNone/>
            </a:pPr>
            <a:r>
              <a:rPr lang="en-US" sz="1050" dirty="0">
                <a:solidFill>
                  <a:srgbClr val="AEC6E8"/>
                </a:solidFill>
                <a:latin typeface="Calibri" pitchFamily="34" charset="0"/>
                <a:ea typeface="Calibri" pitchFamily="34" charset="-122"/>
                <a:cs typeface="Calibri" pitchFamily="34" charset="-120"/>
              </a:rPr>
              <a:t>Upside / Downside</a:t>
            </a:r>
            <a:endParaRPr lang="en-US" sz="1050" dirty="0"/>
          </a:p>
        </p:txBody>
      </p:sp>
      <p:sp>
        <p:nvSpPr>
          <p:cNvPr id="41" name="Text 39"/>
          <p:cNvSpPr/>
          <p:nvPr/>
        </p:nvSpPr>
        <p:spPr>
          <a:xfrm>
            <a:off x="6848856" y="3108960"/>
            <a:ext cx="1920240" cy="438912"/>
          </a:xfrm>
          <a:prstGeom prst="rect">
            <a:avLst/>
          </a:prstGeom>
          <a:noFill/>
          <a:ln/>
        </p:spPr>
        <p:txBody>
          <a:bodyPr wrap="square"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−90.5%</a:t>
            </a:r>
            <a:endParaRPr lang="en-US" sz="1100" dirty="0"/>
          </a:p>
        </p:txBody>
      </p:sp>
      <p:sp>
        <p:nvSpPr>
          <p:cNvPr id="42" name="Shape 40"/>
          <p:cNvSpPr/>
          <p:nvPr/>
        </p:nvSpPr>
        <p:spPr>
          <a:xfrm>
            <a:off x="4800600" y="3547872"/>
            <a:ext cx="3931920" cy="0"/>
          </a:xfrm>
          <a:prstGeom prst="line">
            <a:avLst/>
          </a:prstGeom>
          <a:noFill/>
          <a:ln w="6350">
            <a:solidFill>
              <a:srgbClr val="3D5A8A"/>
            </a:solidFill>
            <a:prstDash val="solid"/>
          </a:ln>
        </p:spPr>
      </p:sp>
      <p:sp>
        <p:nvSpPr>
          <p:cNvPr id="43" name="Text 41"/>
          <p:cNvSpPr/>
          <p:nvPr/>
        </p:nvSpPr>
        <p:spPr>
          <a:xfrm>
            <a:off x="4800600" y="3584448"/>
            <a:ext cx="2011680" cy="438912"/>
          </a:xfrm>
          <a:prstGeom prst="rect">
            <a:avLst/>
          </a:prstGeom>
          <a:noFill/>
          <a:ln/>
        </p:spPr>
        <p:txBody>
          <a:bodyPr wrap="square" rtlCol="0" anchor="ctr"/>
          <a:lstStyle/>
          <a:p>
            <a:pPr indent="0" marL="0">
              <a:buNone/>
            </a:pPr>
            <a:r>
              <a:rPr lang="en-US" sz="1050" dirty="0">
                <a:solidFill>
                  <a:srgbClr val="AEC6E8"/>
                </a:solidFill>
                <a:latin typeface="Calibri" pitchFamily="34" charset="0"/>
                <a:ea typeface="Calibri" pitchFamily="34" charset="-122"/>
                <a:cs typeface="Calibri" pitchFamily="34" charset="-120"/>
              </a:rPr>
              <a:t>Conclusion</a:t>
            </a:r>
            <a:endParaRPr lang="en-US" sz="1050" dirty="0"/>
          </a:p>
        </p:txBody>
      </p:sp>
      <p:sp>
        <p:nvSpPr>
          <p:cNvPr id="44" name="Text 42"/>
          <p:cNvSpPr/>
          <p:nvPr/>
        </p:nvSpPr>
        <p:spPr>
          <a:xfrm>
            <a:off x="6848856" y="3584448"/>
            <a:ext cx="1920240" cy="438912"/>
          </a:xfrm>
          <a:prstGeom prst="rect">
            <a:avLst/>
          </a:prstGeom>
          <a:noFill/>
          <a:ln/>
        </p:spPr>
        <p:txBody>
          <a:bodyPr wrap="square" rtlCol="0" anchor="ctr"/>
          <a:lstStyle/>
          <a:p>
            <a:pPr algn="r" indent="0" marL="0">
              <a:buNone/>
            </a:pPr>
            <a:r>
              <a:rPr lang="en-US" sz="1100" b="1" dirty="0">
                <a:solidFill>
                  <a:srgbClr val="FFDD00"/>
                </a:solidFill>
                <a:latin typeface="Calibri" pitchFamily="34" charset="0"/>
                <a:ea typeface="Calibri" pitchFamily="34" charset="-122"/>
                <a:cs typeface="Calibri" pitchFamily="34" charset="-120"/>
              </a:rPr>
              <a:t>OVERVALUED</a:t>
            </a:r>
            <a:endParaRPr lang="en-US" sz="1100" dirty="0"/>
          </a:p>
        </p:txBody>
      </p:sp>
      <p:sp>
        <p:nvSpPr>
          <p:cNvPr id="45" name="Shape 43"/>
          <p:cNvSpPr/>
          <p:nvPr/>
        </p:nvSpPr>
        <p:spPr>
          <a:xfrm>
            <a:off x="256032" y="4681728"/>
            <a:ext cx="8631936" cy="292608"/>
          </a:xfrm>
          <a:prstGeom prst="rect">
            <a:avLst/>
          </a:prstGeom>
          <a:solidFill>
            <a:srgbClr val="13203A"/>
          </a:solidFill>
          <a:ln w="12700">
            <a:solidFill>
              <a:srgbClr val="13203A"/>
            </a:solidFill>
            <a:prstDash val="solid"/>
          </a:ln>
        </p:spPr>
      </p:sp>
      <p:sp>
        <p:nvSpPr>
          <p:cNvPr id="46" name="Text 44"/>
          <p:cNvSpPr/>
          <p:nvPr/>
        </p:nvSpPr>
        <p:spPr>
          <a:xfrm>
            <a:off x="347472" y="4690872"/>
            <a:ext cx="8449056" cy="256032"/>
          </a:xfrm>
          <a:prstGeom prst="rect">
            <a:avLst/>
          </a:prstGeom>
          <a:noFill/>
          <a:ln/>
        </p:spPr>
        <p:txBody>
          <a:bodyPr wrap="square" rtlCol="0" anchor="ctr"/>
          <a:lstStyle/>
          <a:p>
            <a:pPr indent="0" marL="0">
              <a:buNone/>
            </a:pPr>
            <a:r>
              <a:rPr lang="en-US" sz="1000" dirty="0">
                <a:solidFill>
                  <a:srgbClr val="AEC6E8"/>
                </a:solidFill>
                <a:latin typeface="Calibri" pitchFamily="34" charset="0"/>
                <a:ea typeface="Calibri" pitchFamily="34" charset="-122"/>
                <a:cs typeface="Calibri" pitchFamily="34" charset="-120"/>
              </a:rPr>
              <a:t>Both methods independently point to the same conclusion: </a:t>
            </a:r>
            <a:pPr indent="0" marL="0">
              <a:buNone/>
            </a:pPr>
            <a:r>
              <a:rPr lang="en-US" sz="1000" b="1" dirty="0">
                <a:solidFill>
                  <a:srgbClr val="FFFFFF"/>
                </a:solidFill>
                <a:latin typeface="Calibri" pitchFamily="34" charset="0"/>
                <a:ea typeface="Calibri" pitchFamily="34" charset="-122"/>
                <a:cs typeface="Calibri" pitchFamily="34" charset="-120"/>
              </a:rPr>
              <a:t>Tata Motors was overvalued at the time of this analysis.</a:t>
            </a:r>
            <a:pPr indent="0" marL="0">
              <a:buNone/>
            </a:pPr>
            <a:r>
              <a:rPr lang="en-US" sz="1000" dirty="0">
                <a:solidFill>
                  <a:srgbClr val="AEC6E8"/>
                </a:solidFill>
                <a:latin typeface="Calibri" pitchFamily="34" charset="0"/>
                <a:ea typeface="Calibri" pitchFamily="34" charset="-122"/>
                <a:cs typeface="Calibri" pitchFamily="34" charset="-120"/>
              </a:rPr>
              <a:t>  The gap between DCF (INR 330) and P/E comps (INR 46.49) exists because the P/E is distorted by near-zero earnings — but both are below market price.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Tata Motors — Two-Method Valuation</dc:title>
  <dc:subject>PptxGenJS Presentation</dc:subject>
  <dc:creator>Yash Bagul</dc:creator>
  <cp:lastModifiedBy>Yash Bagul</cp:lastModifiedBy>
  <cp:revision>1</cp:revision>
  <dcterms:created xsi:type="dcterms:W3CDTF">2026-03-12T00:34:37Z</dcterms:created>
  <dcterms:modified xsi:type="dcterms:W3CDTF">2026-03-12T00:34:37Z</dcterms:modified>
</cp:coreProperties>
</file>